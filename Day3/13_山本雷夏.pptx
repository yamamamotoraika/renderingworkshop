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1" r:id="rId3"/>
    <p:sldId id="273" r:id="rId4"/>
    <p:sldId id="258" r:id="rId5"/>
    <p:sldId id="266" r:id="rId6"/>
    <p:sldId id="284" r:id="rId7"/>
    <p:sldId id="275" r:id="rId8"/>
    <p:sldId id="278" r:id="rId9"/>
    <p:sldId id="285" r:id="rId10"/>
    <p:sldId id="279" r:id="rId11"/>
    <p:sldId id="280" r:id="rId12"/>
    <p:sldId id="281" r:id="rId13"/>
    <p:sldId id="282"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2670" autoAdjust="0"/>
  </p:normalViewPr>
  <p:slideViewPr>
    <p:cSldViewPr snapToGrid="0">
      <p:cViewPr varScale="1">
        <p:scale>
          <a:sx n="59" d="100"/>
          <a:sy n="59" d="100"/>
        </p:scale>
        <p:origin x="1570" y="72"/>
      </p:cViewPr>
      <p:guideLst/>
    </p:cSldViewPr>
  </p:slideViewPr>
  <p:notesTextViewPr>
    <p:cViewPr>
      <p:scale>
        <a:sx n="1" d="1"/>
        <a:sy n="1" d="1"/>
      </p:scale>
      <p:origin x="0" y="-29"/>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FFB22-E9B8-4BB2-B185-1521F81AE3F0}"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6BBB-7673-494F-8505-704B89C97274}" type="slidenum">
              <a:rPr kumimoji="1" lang="ja-JP" altLang="en-US" smtClean="0"/>
              <a:t>‹#›</a:t>
            </a:fld>
            <a:endParaRPr kumimoji="1" lang="ja-JP" altLang="en-US"/>
          </a:p>
        </p:txBody>
      </p:sp>
    </p:spTree>
    <p:extLst>
      <p:ext uri="{BB962C8B-B14F-4D97-AF65-F5344CB8AC3E}">
        <p14:creationId xmlns:p14="http://schemas.microsoft.com/office/powerpoint/2010/main" val="22144490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CG</a:t>
            </a:r>
            <a:r>
              <a:rPr kumimoji="1" lang="ja-JP" altLang="en-US" dirty="0"/>
              <a:t>研学部</a:t>
            </a:r>
            <a:r>
              <a:rPr kumimoji="1" lang="en-US" altLang="ja-JP" dirty="0"/>
              <a:t>4</a:t>
            </a:r>
            <a:r>
              <a:rPr kumimoji="1" lang="ja-JP" altLang="en-US" dirty="0"/>
              <a:t>年のヤマモトライカです。</a:t>
            </a:r>
            <a:endParaRPr kumimoji="1" lang="en-US" altLang="ja-JP" dirty="0"/>
          </a:p>
          <a:p>
            <a:r>
              <a:rPr kumimoji="1" lang="ja-JP" altLang="en-US" dirty="0"/>
              <a:t>髭密度マップを用いた</a:t>
            </a:r>
            <a:r>
              <a:rPr kumimoji="1" lang="ja-JP" altLang="en-US" sz="1100" dirty="0"/>
              <a:t>皮膚の不均質性の再現</a:t>
            </a:r>
            <a:r>
              <a:rPr kumimoji="1" lang="ja-JP" altLang="en-US" sz="1200" dirty="0"/>
              <a:t>というタイトルで発表させていただきます。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本日はよろしくお願いします。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a:t>
            </a:fld>
            <a:endParaRPr kumimoji="1" lang="ja-JP" altLang="en-US"/>
          </a:p>
        </p:txBody>
      </p:sp>
    </p:spTree>
    <p:extLst>
      <p:ext uri="{BB962C8B-B14F-4D97-AF65-F5344CB8AC3E}">
        <p14:creationId xmlns:p14="http://schemas.microsoft.com/office/powerpoint/2010/main" val="13974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まず研究動機についてです。</a:t>
            </a:r>
            <a:endParaRPr kumimoji="1" lang="en-US" altLang="ja-JP" dirty="0"/>
          </a:p>
          <a:p>
            <a:endParaRPr kumimoji="1" lang="en-US" altLang="ja-JP" dirty="0"/>
          </a:p>
          <a:p>
            <a:r>
              <a:rPr kumimoji="1" lang="ja-JP" altLang="en-US" dirty="0"/>
              <a:t>人の第一印象のうち、大きな影響を与えるのは視覚です。そして人間というのは大部分が皮膚で覆われており、当然それらの状態は見た目にも大きな影響をあたえます。</a:t>
            </a:r>
            <a:endParaRPr kumimoji="1" lang="en-US" altLang="ja-JP" dirty="0"/>
          </a:p>
          <a:p>
            <a:endParaRPr kumimoji="1" lang="en-US" altLang="ja-JP" dirty="0"/>
          </a:p>
          <a:p>
            <a:endParaRPr kumimoji="1" lang="en-US" altLang="ja-JP" dirty="0"/>
          </a:p>
          <a:p>
            <a:endParaRPr kumimoji="1" lang="en-US" altLang="ja-JP" dirty="0"/>
          </a:p>
          <a:p>
            <a:r>
              <a:rPr kumimoji="1" lang="en-US" altLang="ja-JP" dirty="0"/>
              <a:t>//</a:t>
            </a:r>
            <a:r>
              <a:rPr kumimoji="1" lang="ja-JP" altLang="en-US" dirty="0"/>
              <a:t>皮膚は全身の表面に存在しますが、均質ではなく、場所によってその内部構造が少しずつ異なっており、そして見え方もその影響を受けて変化をします。</a:t>
            </a:r>
            <a:endParaRPr kumimoji="1" lang="en-US" altLang="ja-JP" dirty="0"/>
          </a:p>
          <a:p>
            <a:endParaRPr kumimoji="1" lang="en-US" altLang="ja-JP" dirty="0"/>
          </a:p>
          <a:p>
            <a:r>
              <a:rPr kumimoji="1" lang="ja-JP" altLang="en-US" dirty="0"/>
              <a:t>そこでよりリアルな表現の追求として、レンダリングによる皮膚の不均質性の再現、特に髭に関する影響に関して研究していこうと思っています。</a:t>
            </a:r>
            <a:endParaRPr kumimoji="1" lang="en-US" altLang="ja-JP" dirty="0"/>
          </a:p>
          <a:p>
            <a:endParaRPr kumimoji="1" lang="en-US" altLang="ja-JP" dirty="0"/>
          </a:p>
          <a:p>
            <a:r>
              <a:rPr kumimoji="1" lang="ja-JP" altLang="en-US" dirty="0"/>
              <a:t>修正</a:t>
            </a:r>
            <a:endParaRPr kumimoji="1" lang="en-US" altLang="ja-JP" dirty="0"/>
          </a:p>
          <a:p>
            <a:r>
              <a:rPr kumimoji="1" lang="ja-JP" altLang="en-US" dirty="0"/>
              <a:t>～していきたいなどの願望よりも具体的な方法等を断言する。</a:t>
            </a:r>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2</a:t>
            </a:fld>
            <a:endParaRPr kumimoji="1" lang="ja-JP" altLang="en-US"/>
          </a:p>
        </p:txBody>
      </p:sp>
    </p:spTree>
    <p:extLst>
      <p:ext uri="{BB962C8B-B14F-4D97-AF65-F5344CB8AC3E}">
        <p14:creationId xmlns:p14="http://schemas.microsoft.com/office/powerpoint/2010/main" val="170445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肌は均一な表面ではなく、色素の分布や毛穴、髭の密度など、その内部構造が部位ごとに異なる性質を持っています。</a:t>
            </a:r>
          </a:p>
          <a:p>
            <a:r>
              <a:rPr lang="ja-JP" altLang="en-US" dirty="0"/>
              <a:t>そうした内部構造の違いが、血色の差のように、視覚的な違いとして現れます。。</a:t>
            </a:r>
          </a:p>
          <a:p>
            <a:r>
              <a:rPr lang="ja-JP" altLang="en-US" dirty="0"/>
              <a:t>本研究では、</a:t>
            </a:r>
            <a:r>
              <a:rPr lang="ja-JP" altLang="en-US" b="1" dirty="0"/>
              <a:t>レンダリングにて</a:t>
            </a:r>
            <a:r>
              <a:rPr lang="ja-JP" altLang="en-US" dirty="0"/>
              <a:t>そうした</a:t>
            </a:r>
            <a:r>
              <a:rPr lang="ja-JP" altLang="en-US" b="1" dirty="0"/>
              <a:t>内部構造の違いによって生まれる皮膚の不均質性を、</a:t>
            </a:r>
            <a:r>
              <a:rPr lang="ja-JP" altLang="en-US" dirty="0"/>
              <a:t>特に髭に着目して取り組んでいます。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3</a:t>
            </a:fld>
            <a:endParaRPr kumimoji="1" lang="ja-JP" altLang="en-US"/>
          </a:p>
        </p:txBody>
      </p:sp>
    </p:spTree>
    <p:extLst>
      <p:ext uri="{BB962C8B-B14F-4D97-AF65-F5344CB8AC3E}">
        <p14:creationId xmlns:p14="http://schemas.microsoft.com/office/powerpoint/2010/main" val="139827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体表面の光の振る舞いの中でも、実際の皮膚で見られる現象として表面下散乱というものがあります。</a:t>
            </a:r>
          </a:p>
          <a:p>
            <a:pPr>
              <a:buNone/>
            </a:pPr>
            <a:r>
              <a:rPr lang="ja-JP" altLang="en-US" dirty="0"/>
              <a:t>表面下散乱とは、スライド右の図にあるように、</a:t>
            </a:r>
            <a:r>
              <a:rPr lang="ja-JP" altLang="en-US" b="1" dirty="0"/>
              <a:t>物体の表面から入射した光が、内部で散乱を繰り返したのち、異なる位置から出射してくる</a:t>
            </a:r>
            <a:r>
              <a:rPr lang="ja-JP" altLang="en-US" dirty="0"/>
              <a:t>という現象を指します。</a:t>
            </a:r>
          </a:p>
          <a:p>
            <a:pPr>
              <a:buNone/>
            </a:pPr>
            <a:r>
              <a:rPr lang="ja-JP" altLang="en-US" dirty="0"/>
              <a:t>このような光の振る舞いは、私たちの身の回りのさまざまな物体で見られます。</a:t>
            </a:r>
          </a:p>
          <a:p>
            <a:pPr>
              <a:buNone/>
            </a:pPr>
            <a:r>
              <a:rPr lang="ja-JP" altLang="en-US" dirty="0"/>
              <a:t>しかし、こうした</a:t>
            </a:r>
            <a:r>
              <a:rPr lang="ja-JP" altLang="en-US" b="1" dirty="0"/>
              <a:t>入射点と出射点が異なる</a:t>
            </a:r>
            <a:r>
              <a:rPr lang="ja-JP" altLang="en-US" dirty="0"/>
              <a:t>性質は、従来の</a:t>
            </a:r>
            <a:r>
              <a:rPr lang="en-US" altLang="ja-JP" dirty="0"/>
              <a:t>BRDF</a:t>
            </a:r>
            <a:r>
              <a:rPr lang="ja-JP" altLang="en-US" dirty="0"/>
              <a:t>（</a:t>
            </a:r>
            <a:r>
              <a:rPr lang="en-US" altLang="ja-JP" dirty="0"/>
              <a:t>Bidirectional Reflectance Distribution Function</a:t>
            </a:r>
            <a:r>
              <a:rPr lang="ja-JP" altLang="en-US" dirty="0"/>
              <a:t>）では扱うことができません。</a:t>
            </a:r>
            <a:br>
              <a:rPr lang="ja-JP" altLang="en-US" dirty="0"/>
            </a:br>
            <a:r>
              <a:rPr lang="ja-JP" altLang="en-US" dirty="0"/>
              <a:t>そこで、このような物理的現象を正しく扱うために必要となるのが、**</a:t>
            </a:r>
            <a:r>
              <a:rPr lang="en-US" altLang="ja-JP" dirty="0"/>
              <a:t>BSSRDF</a:t>
            </a:r>
            <a:r>
              <a:rPr lang="ja-JP" altLang="en-US" dirty="0"/>
              <a:t>（後ほど詳しく紹介します）**というより高度な反射モデルです。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4</a:t>
            </a:fld>
            <a:endParaRPr kumimoji="1" lang="ja-JP" altLang="en-US"/>
          </a:p>
        </p:txBody>
      </p:sp>
    </p:spTree>
    <p:extLst>
      <p:ext uri="{BB962C8B-B14F-4D97-AF65-F5344CB8AC3E}">
        <p14:creationId xmlns:p14="http://schemas.microsoft.com/office/powerpoint/2010/main" val="1301031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en-US" altLang="ja-JP" b="1" dirty="0"/>
              <a:t>BSSRDF</a:t>
            </a:r>
            <a:br>
              <a:rPr lang="en-US" altLang="ja-JP" b="1" dirty="0"/>
            </a:br>
            <a:r>
              <a:rPr lang="ja-JP" altLang="en-US" dirty="0"/>
              <a:t>表面下散乱を取り扱える反射モデルです。</a:t>
            </a:r>
            <a:endParaRPr lang="en-US" altLang="ja-JP" b="1" dirty="0"/>
          </a:p>
          <a:p>
            <a:pPr>
              <a:buNone/>
            </a:pPr>
            <a:r>
              <a:rPr lang="ja-JP" altLang="en-US" dirty="0"/>
              <a:t>通常の</a:t>
            </a:r>
            <a:r>
              <a:rPr lang="en-US" altLang="ja-JP" dirty="0"/>
              <a:t>BRDF</a:t>
            </a:r>
            <a:r>
              <a:rPr lang="ja-JP" altLang="en-US" dirty="0"/>
              <a:t>では、光が入ってきた点と出ていく点が同一であることを前提としていますが、</a:t>
            </a:r>
            <a:br>
              <a:rPr lang="ja-JP" altLang="en-US" dirty="0"/>
            </a:br>
            <a:r>
              <a:rPr lang="en-US" altLang="ja-JP" dirty="0"/>
              <a:t>BSSRDF</a:t>
            </a:r>
            <a:r>
              <a:rPr lang="ja-JP" altLang="en-US" dirty="0"/>
              <a:t>は、</a:t>
            </a:r>
            <a:r>
              <a:rPr lang="ja-JP" altLang="en-US" u="sng" dirty="0"/>
              <a:t>異なる位置間の光のやり取り</a:t>
            </a:r>
            <a:r>
              <a:rPr lang="ja-JP" altLang="en-US" dirty="0"/>
              <a:t>を扱えます。</a:t>
            </a:r>
            <a:endParaRPr lang="en-US" altLang="ja-JP" dirty="0"/>
          </a:p>
          <a:p>
            <a:pPr>
              <a:buNone/>
            </a:pPr>
            <a:endParaRPr lang="ja-JP" altLang="en-US" dirty="0"/>
          </a:p>
          <a:p>
            <a:pPr>
              <a:buNone/>
            </a:pPr>
            <a:r>
              <a:rPr lang="ja-JP" altLang="en-US" dirty="0"/>
              <a:t>画面下の比較画像をご覧いただくと、左の</a:t>
            </a:r>
            <a:r>
              <a:rPr lang="en-US" altLang="ja-JP" dirty="0"/>
              <a:t>BRDF</a:t>
            </a:r>
            <a:r>
              <a:rPr lang="ja-JP" altLang="en-US" dirty="0"/>
              <a:t>では硬くのっぺりしていますが、</a:t>
            </a:r>
            <a:br>
              <a:rPr lang="ja-JP" altLang="en-US" dirty="0"/>
            </a:br>
            <a:r>
              <a:rPr lang="ja-JP" altLang="en-US" dirty="0"/>
              <a:t>右の</a:t>
            </a:r>
            <a:r>
              <a:rPr lang="en-US" altLang="ja-JP" dirty="0"/>
              <a:t>BSSRDF</a:t>
            </a:r>
            <a:r>
              <a:rPr lang="ja-JP" altLang="en-US" dirty="0"/>
              <a:t>では光が柔らかく肌の内部に広がるような表現がされています。</a:t>
            </a:r>
          </a:p>
          <a:p>
            <a:r>
              <a:rPr lang="ja-JP" altLang="en-US" dirty="0"/>
              <a:t>★ 本研究でも、この </a:t>
            </a:r>
            <a:r>
              <a:rPr lang="en-US" altLang="ja-JP" dirty="0"/>
              <a:t>BSSRDF </a:t>
            </a:r>
            <a:r>
              <a:rPr lang="ja-JP" altLang="en-US" dirty="0"/>
              <a:t>を皮膚のベースのモデルとして用います。</a:t>
            </a:r>
            <a:br>
              <a:rPr lang="ja-JP" altLang="en-US" dirty="0"/>
            </a:br>
            <a:r>
              <a:rPr lang="ja-JP" altLang="en-US" dirty="0"/>
              <a:t>★ ただし、人の顔では皮膚が一様ではなく、特に顎まわりなど、</a:t>
            </a:r>
            <a:br>
              <a:rPr lang="ja-JP" altLang="en-US" dirty="0"/>
            </a:br>
            <a:r>
              <a:rPr lang="ja-JP" altLang="en-US" dirty="0"/>
              <a:t>★ 「髭が生えている領域だけ見え方が大きく変わる」という不均質性に注目します。</a:t>
            </a:r>
            <a:br>
              <a:rPr lang="ja-JP" altLang="en-US" dirty="0"/>
            </a:br>
            <a:r>
              <a:rPr lang="ja-JP" altLang="en-US" dirty="0"/>
              <a:t>★ そこで </a:t>
            </a:r>
            <a:r>
              <a:rPr lang="en-US" altLang="ja-JP" dirty="0"/>
              <a:t>BSSRDF </a:t>
            </a:r>
            <a:r>
              <a:rPr lang="ja-JP" altLang="en-US" dirty="0"/>
              <a:t>の枠組みを保ったまま、髭の有無や濃さを位置ごとのパラメータとして組み込むことを考えました。</a:t>
            </a:r>
            <a:br>
              <a:rPr lang="en-US" altLang="ja-JP" dirty="0"/>
            </a:br>
            <a:br>
              <a:rPr lang="en-US" altLang="ja-JP" dirty="0"/>
            </a:br>
            <a:br>
              <a:rPr lang="en-US" altLang="ja-JP" dirty="0"/>
            </a:br>
            <a:r>
              <a:rPr lang="en-US" altLang="ja-JP" dirty="0" err="1"/>
              <a:t>kann</a:t>
            </a:r>
            <a:endParaRPr kumimoji="1" lang="ja-JP" altLang="en-US" dirty="0"/>
          </a:p>
        </p:txBody>
      </p:sp>
      <p:sp>
        <p:nvSpPr>
          <p:cNvPr id="4" name="スライド番号プレースホルダー 3"/>
          <p:cNvSpPr>
            <a:spLocks noGrp="1"/>
          </p:cNvSpPr>
          <p:nvPr>
            <p:ph type="sldNum" sz="quarter" idx="5"/>
          </p:nvPr>
        </p:nvSpPr>
        <p:spPr/>
        <p:txBody>
          <a:bodyPr/>
          <a:lstStyle/>
          <a:p>
            <a:fld id="{6F018766-D927-423C-997B-33B886F71A70}" type="slidenum">
              <a:rPr kumimoji="1" lang="ja-JP" altLang="en-US" smtClean="0"/>
              <a:t>5</a:t>
            </a:fld>
            <a:endParaRPr kumimoji="1" lang="ja-JP" altLang="en-US"/>
          </a:p>
        </p:txBody>
      </p:sp>
    </p:spTree>
    <p:extLst>
      <p:ext uri="{BB962C8B-B14F-4D97-AF65-F5344CB8AC3E}">
        <p14:creationId xmlns:p14="http://schemas.microsoft.com/office/powerpoint/2010/main" val="3923446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皮膚の不均質性そのものについては、</a:t>
            </a:r>
            <a:br>
              <a:rPr lang="ja-JP" altLang="en-US" dirty="0"/>
            </a:br>
            <a:r>
              <a:rPr lang="ja-JP" altLang="en-US" dirty="0"/>
              <a:t>これまでにもいくつかの研究が行われています。</a:t>
            </a:r>
          </a:p>
          <a:p>
            <a:r>
              <a:rPr lang="ja-JP" altLang="en-US" dirty="0"/>
              <a:t>例えば </a:t>
            </a:r>
            <a:r>
              <a:rPr lang="en-US" altLang="ja-JP" dirty="0"/>
              <a:t>2008 </a:t>
            </a:r>
            <a:r>
              <a:rPr lang="ja-JP" altLang="en-US" dirty="0"/>
              <a:t>年の </a:t>
            </a:r>
            <a:r>
              <a:rPr lang="en-US" altLang="ja-JP" dirty="0"/>
              <a:t>Donner </a:t>
            </a:r>
            <a:r>
              <a:rPr lang="ja-JP" altLang="en-US" dirty="0"/>
              <a:t>らの研究では、</a:t>
            </a:r>
            <a:br>
              <a:rPr lang="ja-JP" altLang="en-US" dirty="0"/>
            </a:br>
            <a:r>
              <a:rPr lang="ja-JP" altLang="en-US" dirty="0"/>
              <a:t>皮膚を複数の層としてモデル化し、</a:t>
            </a:r>
            <a:br>
              <a:rPr lang="ja-JP" altLang="en-US" dirty="0"/>
            </a:br>
            <a:r>
              <a:rPr lang="ja-JP" altLang="en-US" dirty="0"/>
              <a:t>層ごとの特性差によって不均質性を表現しています。</a:t>
            </a:r>
          </a:p>
          <a:p>
            <a:r>
              <a:rPr lang="ja-JP" altLang="en-US" dirty="0"/>
              <a:t>また、</a:t>
            </a:r>
            <a:r>
              <a:rPr lang="en-US" altLang="ja-JP" dirty="0"/>
              <a:t>2009 </a:t>
            </a:r>
            <a:r>
              <a:rPr lang="ja-JP" altLang="en-US" dirty="0"/>
              <a:t>年の研究では、</a:t>
            </a:r>
            <a:br>
              <a:rPr lang="ja-JP" altLang="en-US" dirty="0"/>
            </a:br>
            <a:r>
              <a:rPr lang="ja-JP" altLang="en-US" dirty="0"/>
              <a:t>多層構造を用いて皮膚内部の異方性散乱や</a:t>
            </a:r>
            <a:br>
              <a:rPr lang="ja-JP" altLang="en-US" dirty="0"/>
            </a:br>
            <a:r>
              <a:rPr lang="ja-JP" altLang="en-US" dirty="0"/>
              <a:t>不均一性を表現しています。</a:t>
            </a:r>
          </a:p>
          <a:p>
            <a:r>
              <a:rPr lang="ja-JP" altLang="en-US" dirty="0"/>
              <a:t>ただし、これらはいずれも</a:t>
            </a:r>
            <a:br>
              <a:rPr lang="ja-JP" altLang="en-US" dirty="0"/>
            </a:br>
            <a:r>
              <a:rPr lang="ja-JP" altLang="en-US" dirty="0"/>
              <a:t>髭のような局所的で高密度な要素が</a:t>
            </a:r>
            <a:br>
              <a:rPr lang="ja-JP" altLang="en-US" dirty="0"/>
            </a:br>
            <a:r>
              <a:rPr lang="ja-JP" altLang="en-US" dirty="0"/>
              <a:t>表面下散乱に与える影響を</a:t>
            </a:r>
            <a:br>
              <a:rPr lang="ja-JP" altLang="en-US" dirty="0"/>
            </a:br>
            <a:r>
              <a:rPr lang="ja-JP" altLang="en-US" dirty="0"/>
              <a:t>明示的に扱ったものではありません。</a:t>
            </a:r>
          </a:p>
          <a:p>
            <a:r>
              <a:rPr lang="ja-JP" altLang="en-US" dirty="0"/>
              <a:t>本研究では、そうした髭の影響に着目し、</a:t>
            </a:r>
            <a:br>
              <a:rPr lang="ja-JP" altLang="en-US" dirty="0"/>
            </a:br>
            <a:r>
              <a:rPr lang="ja-JP" altLang="en-US" dirty="0"/>
              <a:t>密度マップとして </a:t>
            </a:r>
            <a:r>
              <a:rPr lang="en-US" altLang="ja-JP" dirty="0"/>
              <a:t>BSSRDF </a:t>
            </a:r>
            <a:r>
              <a:rPr lang="ja-JP" altLang="en-US" dirty="0"/>
              <a:t>に組み込む点に特徴があります。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6</a:t>
            </a:fld>
            <a:endParaRPr kumimoji="1" lang="ja-JP" altLang="en-US"/>
          </a:p>
        </p:txBody>
      </p:sp>
    </p:spTree>
    <p:extLst>
      <p:ext uri="{BB962C8B-B14F-4D97-AF65-F5344CB8AC3E}">
        <p14:creationId xmlns:p14="http://schemas.microsoft.com/office/powerpoint/2010/main" val="3732031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p:cNvSpPr>
                <a:spLocks noGrp="1"/>
              </p:cNvSpPr>
              <p:nvPr>
                <p:ph type="body" idx="1"/>
              </p:nvPr>
            </p:nvSpPr>
            <p:spPr/>
            <p:txBody>
              <a:bodyPr/>
              <a:lstStyle/>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14:m>
                  <m:oMath xmlns:m="http://schemas.openxmlformats.org/officeDocument/2006/math">
                    <m:r>
                      <a:rPr kumimoji="1" lang="ja-JP" altLang="en-US" sz="1200" i="1" kern="1200">
                        <a:solidFill>
                          <a:schemeClr val="tx1"/>
                        </a:solidFill>
                        <a:latin typeface="+mn-lt"/>
                        <a:ea typeface="+mn-ea"/>
                        <a:cs typeface="+mn-cs"/>
                      </a:rPr>
                      <m:t>𝑥</m:t>
                    </m:r>
                  </m:oMath>
                </a14:m>
                <a:r>
                  <a:rPr lang="ja-JP" altLang="en-US" dirty="0"/>
                  <a:t>に対して</a:t>
                </a:r>
                <a:br>
                  <a:rPr lang="ja-JP" altLang="en-US" dirty="0"/>
                </a:b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mn-lt"/>
                            <a:ea typeface="+mn-ea"/>
                            <a:cs typeface="+mn-cs"/>
                          </a:rPr>
                        </m:ctrlPr>
                      </m:dPr>
                      <m:e>
                        <m:r>
                          <a:rPr kumimoji="1" lang="ja-JP" altLang="en-US" sz="1200" b="0" i="1" kern="1200">
                            <a:solidFill>
                              <a:schemeClr val="tx1"/>
                            </a:solidFill>
                            <a:latin typeface="+mn-lt"/>
                            <a:ea typeface="+mn-ea"/>
                            <a:cs typeface="+mn-cs"/>
                          </a:rPr>
                          <m:t>𝑥</m:t>
                        </m:r>
                      </m:e>
                    </m:d>
                  </m:oMath>
                </a14:m>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Choice>
        <mc:Fallback>
          <p:sp>
            <p:nvSpPr>
              <p:cNvPr id="3" name="ノート プレースホルダー 2"/>
              <p:cNvSpPr>
                <a:spLocks noGrp="1"/>
              </p:cNvSpPr>
              <p:nvPr>
                <p:ph type="body" idx="1"/>
              </p:nvPr>
            </p:nvSpPr>
            <p:spPr/>
            <p:txBody>
              <a:bodyPr/>
              <a:lstStyle/>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r>
                  <a:rPr kumimoji="1" lang="ja-JP" altLang="en-US" sz="1200" i="0" kern="1200">
                    <a:solidFill>
                      <a:schemeClr val="tx1"/>
                    </a:solidFill>
                    <a:latin typeface="+mn-lt"/>
                    <a:ea typeface="+mn-ea"/>
                    <a:cs typeface="+mn-cs"/>
                  </a:rPr>
                  <a:t>𝑥</a:t>
                </a:r>
                <a:r>
                  <a:rPr lang="ja-JP" altLang="en-US" dirty="0"/>
                  <a:t>に対して</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Fallback>
      </mc:AlternateContent>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7</a:t>
            </a:fld>
            <a:endParaRPr kumimoji="1" lang="ja-JP" altLang="en-US"/>
          </a:p>
        </p:txBody>
      </p:sp>
    </p:spTree>
    <p:extLst>
      <p:ext uri="{BB962C8B-B14F-4D97-AF65-F5344CB8AC3E}">
        <p14:creationId xmlns:p14="http://schemas.microsoft.com/office/powerpoint/2010/main" val="410951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E9FF-76D4-C150-254D-0A2CA7D4E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FF6FE2-12A0-9207-03A6-7A3A4BE4F07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pPr/>
                <a:r>
                  <a:rPr lang="ja-JP" altLang="en-US" dirty="0"/>
                  <a:t>数式で書くと、まず「髭がない素の皮膚」の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と、</a:t>
                </a:r>
                <a:br>
                  <a:rPr lang="ja-JP" altLang="en-US" dirty="0"/>
                </a:br>
                <a:r>
                  <a:rPr lang="ja-JP" altLang="en-US" dirty="0"/>
                  <a:t>「髭がとても濃いとき」の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を用意しておきます。</a:t>
                </a:r>
                <a:br>
                  <a:rPr lang="ja-JP" altLang="en-US" dirty="0"/>
                </a:br>
                <a:r>
                  <a:rPr lang="ja-JP" altLang="en-US" dirty="0"/>
                  <a:t>そして、実際の位置 </a:t>
                </a:r>
                <a14:m>
                  <m:oMath xmlns:m="http://schemas.openxmlformats.org/officeDocument/2006/math">
                    <m:r>
                      <a:rPr kumimoji="1" lang="ja-JP" altLang="en-US" sz="1200" i="1" kern="1200">
                        <a:solidFill>
                          <a:schemeClr val="tx1"/>
                        </a:solidFill>
                        <a:latin typeface="Cambria Math" panose="02040503050406030204" pitchFamily="18" charset="0"/>
                        <a:ea typeface="+mn-ea"/>
                        <a:cs typeface="+mn-cs"/>
                      </a:rPr>
                      <m:t>𝑥</m:t>
                    </m:r>
                  </m:oMath>
                </a14:m>
                <a:r>
                  <a:rPr lang="ja-JP" altLang="en-US" dirty="0"/>
                  <a:t>での見え方は、髭密度 </a:t>
                </a: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oMath>
                </a14:m>
                <a:r>
                  <a:rPr lang="ja-JP" altLang="en-US" dirty="0"/>
                  <a:t>に応じて</a:t>
                </a:r>
                <a:br>
                  <a:rPr lang="ja-JP" altLang="en-US" dirty="0"/>
                </a:br>
                <a14:m>
                  <m:oMathPara xmlns:m="http://schemas.openxmlformats.org/officeDocument/2006/math">
                    <m:oMathParaPr>
                      <m:jc m:val="centerGroup"/>
                    </m:oMathParaPr>
                    <m:oMath xmlns:m="http://schemas.openxmlformats.org/officeDocument/2006/math">
                      <m:d>
                        <m:dPr>
                          <m:ctrlPr>
                            <a:rPr kumimoji="1" lang="ja-JP" altLang="en-US" sz="1200" i="1" kern="1200">
                              <a:solidFill>
                                <a:schemeClr val="tx1"/>
                              </a:solidFill>
                              <a:latin typeface="Cambria Math" panose="02040503050406030204" pitchFamily="18" charset="0"/>
                              <a:ea typeface="+mn-ea"/>
                              <a:cs typeface="+mn-cs"/>
                            </a:rPr>
                          </m:ctrlPr>
                        </m:dPr>
                        <m:e>
                          <m:r>
                            <a:rPr kumimoji="1" lang="en-US" altLang="ja-JP" sz="1200" kern="1200">
                              <a:solidFill>
                                <a:schemeClr val="tx1"/>
                              </a:solidFill>
                              <a:latin typeface="Cambria Math" panose="02040503050406030204" pitchFamily="18" charset="0"/>
                              <a:ea typeface="+mn-ea"/>
                              <a:cs typeface="+mn-cs"/>
                            </a:rPr>
                            <m:t>1</m:t>
                          </m:r>
                          <m:r>
                            <a:rPr kumimoji="1" lang="ja-JP" altLang="en-US" sz="1200" i="0" kern="1200">
                              <a:solidFill>
                                <a:schemeClr val="tx1"/>
                              </a:solidFill>
                              <a:latin typeface="Cambria Math" panose="02040503050406030204" pitchFamily="18" charset="0"/>
                              <a:ea typeface="+mn-ea"/>
                              <a:cs typeface="+mn-cs"/>
                            </a:rPr>
                            <m:t>−</m:t>
                          </m:r>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r>
                        <a:rPr kumimoji="1" lang="en-US" altLang="ja-JP" sz="1200" b="0" i="0" kern="1200">
                          <a:solidFill>
                            <a:schemeClr val="tx1"/>
                          </a:solidFill>
                          <a:latin typeface="Cambria Math" panose="02040503050406030204" pitchFamily="18" charset="0"/>
                          <a:ea typeface="+mn-ea"/>
                          <a:cs typeface="+mn-cs"/>
                        </a:rPr>
                        <m:t>+</m:t>
                      </m:r>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m:oMathPara>
                </a14:m>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oMath>
                </a14:m>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br>
                  <a:rPr lang="en-US" altLang="ja-JP" dirty="0"/>
                </a:br>
                <a:br>
                  <a:rPr lang="en-US" altLang="ja-JP" dirty="0"/>
                </a:br>
                <a:r>
                  <a:rPr lang="ja-JP" altLang="en-US" dirty="0"/>
                  <a:t>：</a:t>
                </a:r>
                <a:endParaRPr kumimoji="1" lang="ja-JP" altLang="en-US" dirty="0"/>
              </a:p>
            </p:txBody>
          </p:sp>
        </mc:Choice>
        <mc:Fallback xmlns="">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r>
                  <a:rPr lang="ja-JP" altLang="en-US" dirty="0"/>
                  <a:t>数式で書くと、まず「髭がない素の皮膚」の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lang="ja-JP" altLang="en-US" dirty="0"/>
                  <a:t>と、</a:t>
                </a:r>
                <a:br>
                  <a:rPr lang="ja-JP" altLang="en-US" dirty="0"/>
                </a:br>
                <a:r>
                  <a:rPr lang="ja-JP" altLang="en-US" dirty="0"/>
                  <a:t>「髭がとても濃いとき」の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r>
                  <a:rPr lang="ja-JP" altLang="en-US" dirty="0"/>
                  <a:t>を用意しておきます。</a:t>
                </a:r>
                <a:br>
                  <a:rPr lang="ja-JP" altLang="en-US" dirty="0"/>
                </a:br>
                <a:r>
                  <a:rPr lang="ja-JP" altLang="en-US" dirty="0"/>
                  <a:t>そして、実際の位置 </a:t>
                </a:r>
                <a:r>
                  <a:rPr kumimoji="1" lang="ja-JP" altLang="en-US" sz="1200" i="0" kern="1200">
                    <a:solidFill>
                      <a:schemeClr val="tx1"/>
                    </a:solidFill>
                    <a:latin typeface="+mn-lt"/>
                    <a:ea typeface="+mn-ea"/>
                    <a:cs typeface="+mn-cs"/>
                  </a:rPr>
                  <a:t>𝑥</a:t>
                </a:r>
                <a:r>
                  <a:rPr lang="ja-JP" altLang="en-US" dirty="0"/>
                  <a:t>での見え方は、髭密度 </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に応じて</a:t>
                </a:r>
                <a:br>
                  <a:rPr lang="ja-JP" altLang="en-US" dirty="0"/>
                </a:br>
                <a:r>
                  <a:rPr kumimoji="1" lang="ja-JP" altLang="en-US" sz="1200" i="0" kern="1200">
                    <a:solidFill>
                      <a:schemeClr val="tx1"/>
                    </a:solidFill>
                    <a:latin typeface="+mn-lt"/>
                    <a:ea typeface="+mn-ea"/>
                    <a:cs typeface="+mn-cs"/>
                  </a:rPr>
                  <a:t>(</a:t>
                </a:r>
                <a:r>
                  <a:rPr kumimoji="1" lang="en-US" altLang="ja-JP" sz="1200" i="0" kern="1200">
                    <a:solidFill>
                      <a:schemeClr val="tx1"/>
                    </a:solidFill>
                    <a:latin typeface="+mn-lt"/>
                    <a:ea typeface="+mn-ea"/>
                    <a:cs typeface="+mn-cs"/>
                  </a:rPr>
                  <a:t>1</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kumimoji="1" lang="en-US" altLang="ja-JP" sz="1200" b="0" i="0" kern="1200">
                    <a:solidFill>
                      <a:schemeClr val="tx1"/>
                    </a:solidFill>
                    <a:latin typeface="+mn-lt"/>
                    <a:ea typeface="+mn-ea"/>
                    <a:cs typeface="+mn-cs"/>
                  </a:rPr>
                  <a:t>+</a:t>
                </a:r>
                <a:r>
                  <a:rPr kumimoji="1" lang="ja-JP" altLang="en-US" sz="1200" b="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a:t>
                </a:r>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5304BC8D-173F-9B08-C608-EBCB53824503}"/>
              </a:ext>
            </a:extLst>
          </p:cNvPr>
          <p:cNvSpPr>
            <a:spLocks noGrp="1"/>
          </p:cNvSpPr>
          <p:nvPr>
            <p:ph type="sldNum" sz="quarter" idx="5"/>
          </p:nvPr>
        </p:nvSpPr>
        <p:spPr/>
        <p:txBody>
          <a:bodyPr/>
          <a:lstStyle/>
          <a:p>
            <a:fld id="{6F018766-D927-423C-997B-33B886F71A70}" type="slidenum">
              <a:rPr kumimoji="1" lang="ja-JP" altLang="en-US" smtClean="0"/>
              <a:t>8</a:t>
            </a:fld>
            <a:endParaRPr kumimoji="1" lang="ja-JP" altLang="en-US"/>
          </a:p>
        </p:txBody>
      </p:sp>
    </p:spTree>
    <p:extLst>
      <p:ext uri="{BB962C8B-B14F-4D97-AF65-F5344CB8AC3E}">
        <p14:creationId xmlns:p14="http://schemas.microsoft.com/office/powerpoint/2010/main" val="3730414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a:t>
            </a:r>
            <a:r>
              <a:rPr lang="ja-JP" altLang="en-US" dirty="0"/>
              <a:t>ちらは、</a:t>
            </a:r>
            <a:br>
              <a:rPr lang="ja-JP" altLang="en-US" dirty="0"/>
            </a:br>
            <a:r>
              <a:rPr lang="ja-JP" altLang="en-US" dirty="0"/>
              <a:t>髭密度モデルを適用した場合と、</a:t>
            </a:r>
            <a:br>
              <a:rPr lang="ja-JP" altLang="en-US" dirty="0"/>
            </a:br>
            <a:r>
              <a:rPr lang="ja-JP" altLang="en-US" dirty="0"/>
              <a:t>適用していない場合の</a:t>
            </a:r>
            <a:br>
              <a:rPr lang="ja-JP" altLang="en-US" dirty="0"/>
            </a:br>
            <a:r>
              <a:rPr lang="ja-JP" altLang="en-US" dirty="0"/>
              <a:t>レンダリング結果の比較です。</a:t>
            </a:r>
          </a:p>
          <a:p>
            <a:r>
              <a:rPr lang="ja-JP" altLang="en-US" dirty="0"/>
              <a:t>左は髭密度を考慮しない均質な皮膚モデル、</a:t>
            </a:r>
            <a:br>
              <a:rPr lang="ja-JP" altLang="en-US" dirty="0"/>
            </a:br>
            <a:r>
              <a:rPr lang="ja-JP" altLang="en-US" dirty="0"/>
              <a:t>右は髭密度マップを適用した結果になります。</a:t>
            </a:r>
          </a:p>
          <a:p>
            <a:r>
              <a:rPr lang="ja-JP" altLang="en-US" dirty="0"/>
              <a:t>顎や口周りといった</a:t>
            </a:r>
            <a:br>
              <a:rPr lang="ja-JP" altLang="en-US" dirty="0"/>
            </a:br>
            <a:r>
              <a:rPr lang="ja-JP" altLang="en-US" dirty="0"/>
              <a:t>髭密度の高い領域において、</a:t>
            </a:r>
            <a:br>
              <a:rPr lang="ja-JP" altLang="en-US" dirty="0"/>
            </a:br>
            <a:r>
              <a:rPr lang="ja-JP" altLang="en-US" dirty="0"/>
              <a:t>暗さの増加や、</a:t>
            </a:r>
            <a:br>
              <a:rPr lang="ja-JP" altLang="en-US" dirty="0"/>
            </a:br>
            <a:r>
              <a:rPr lang="ja-JP" altLang="en-US" dirty="0"/>
              <a:t>表面下散乱のにじみが抑制されていることが確認できます。</a:t>
            </a:r>
          </a:p>
          <a:p>
            <a:r>
              <a:rPr lang="ja-JP" altLang="en-US"/>
              <a:t>このように、</a:t>
            </a:r>
            <a:br>
              <a:rPr lang="ja-JP" altLang="en-US"/>
            </a:br>
            <a:r>
              <a:rPr lang="ja-JP" altLang="en-US"/>
              <a:t>髭密度に応じて</a:t>
            </a:r>
            <a:br>
              <a:rPr lang="ja-JP" altLang="en-US"/>
            </a:br>
            <a:r>
              <a:rPr lang="ja-JP" altLang="en-US"/>
              <a:t>見えが局所的に変化していることが</a:t>
            </a:r>
            <a:br>
              <a:rPr lang="ja-JP" altLang="en-US"/>
            </a:br>
            <a:r>
              <a:rPr lang="ja-JP" altLang="en-US"/>
              <a:t>視覚的にも確認できます。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9</a:t>
            </a:fld>
            <a:endParaRPr kumimoji="1" lang="ja-JP" altLang="en-US"/>
          </a:p>
        </p:txBody>
      </p:sp>
    </p:spTree>
    <p:extLst>
      <p:ext uri="{BB962C8B-B14F-4D97-AF65-F5344CB8AC3E}">
        <p14:creationId xmlns:p14="http://schemas.microsoft.com/office/powerpoint/2010/main" val="45911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本研究では、髭が存在する皮膚表面における光のにじみを、</a:t>
            </a:r>
            <a:br>
              <a:rPr lang="ja-JP" altLang="en-US" dirty="0"/>
            </a:br>
            <a:r>
              <a:rPr lang="ja-JP" altLang="en-US" dirty="0"/>
              <a:t>皮膚内部の光輸送モデルのみで再現できるかを検証することを目的としています。</a:t>
            </a:r>
          </a:p>
          <a:p>
            <a:r>
              <a:rPr lang="ja-JP" altLang="en-US" dirty="0"/>
              <a:t>８枚目（検証方針）</a:t>
            </a:r>
          </a:p>
          <a:p>
            <a:r>
              <a:rPr lang="ja-JP" altLang="en-US" dirty="0"/>
              <a:t>本研究では、髭密度を用いた線形混合モデルが、</a:t>
            </a:r>
            <a:br>
              <a:rPr lang="ja-JP" altLang="en-US" dirty="0"/>
            </a:br>
            <a:r>
              <a:rPr lang="ja-JP" altLang="en-US" dirty="0"/>
              <a:t>表面下散乱分布を不自然に破綻させず、</a:t>
            </a:r>
            <a:br>
              <a:rPr lang="ja-JP" altLang="en-US" dirty="0"/>
            </a:br>
            <a:r>
              <a:rPr lang="ja-JP" altLang="en-US" dirty="0"/>
              <a:t>密度変化に対して連続的・安定に応答するかを検証します。</a:t>
            </a:r>
          </a:p>
          <a:p>
            <a:r>
              <a:rPr lang="ja-JP" altLang="en-US" dirty="0"/>
              <a:t>また、髭を幾何的にモデル化した場合に観測される挙動と比べて、</a:t>
            </a:r>
            <a:br>
              <a:rPr lang="ja-JP" altLang="en-US" dirty="0"/>
            </a:br>
            <a:r>
              <a:rPr lang="ja-JP" altLang="en-US" dirty="0"/>
              <a:t>髭密度モデルが妥当な抽象化として機能しているかも確認します。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10</a:t>
            </a:fld>
            <a:endParaRPr kumimoji="1" lang="ja-JP" altLang="en-US"/>
          </a:p>
        </p:txBody>
      </p:sp>
    </p:spTree>
    <p:extLst>
      <p:ext uri="{BB962C8B-B14F-4D97-AF65-F5344CB8AC3E}">
        <p14:creationId xmlns:p14="http://schemas.microsoft.com/office/powerpoint/2010/main" val="629256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EB4E-9F38-6D3A-B37E-4CD2D62D36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08E90B-3663-7CEB-FEDA-3FAE815419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endParaRPr lang="ja-JP" altLang="en-US" dirty="0"/>
          </a:p>
          <a:p>
            <a:r>
              <a:rPr lang="ja-JP" altLang="en-US" dirty="0"/>
              <a:t>評価は定量評価で行います。</a:t>
            </a:r>
            <a:br>
              <a:rPr lang="ja-JP" altLang="en-US" dirty="0"/>
            </a:br>
            <a:r>
              <a:rPr lang="ja-JP" altLang="en-US" dirty="0"/>
              <a:t>無限平面上に皮膚モデルを配置し、</a:t>
            </a:r>
            <a:br>
              <a:rPr lang="ja-JP" altLang="en-US" dirty="0"/>
            </a:br>
            <a:r>
              <a:rPr lang="ja-JP" altLang="en-US" dirty="0"/>
              <a:t>点光源を垂直入射させ、入射点から距離 </a:t>
            </a:r>
            <a:r>
              <a:rPr lang="en-US" altLang="ja-JP" dirty="0"/>
              <a:t>r </a:t>
            </a:r>
            <a:r>
              <a:rPr lang="ja-JP" altLang="en-US" dirty="0"/>
              <a:t>のリング上で放射束分布 </a:t>
            </a:r>
            <a:r>
              <a:rPr lang="en-US" altLang="ja-JP" dirty="0" err="1"/>
              <a:t>R_d</a:t>
            </a:r>
            <a:r>
              <a:rPr lang="en-US" altLang="ja-JP" dirty="0"/>
              <a:t>(r) </a:t>
            </a:r>
            <a:r>
              <a:rPr lang="ja-JP" altLang="en-US" dirty="0"/>
              <a:t>を計測します。</a:t>
            </a:r>
            <a:br>
              <a:rPr lang="ja-JP" altLang="en-US" dirty="0"/>
            </a:br>
            <a:r>
              <a:rPr lang="ja-JP" altLang="en-US" dirty="0"/>
              <a:t>分布は面積積分が </a:t>
            </a:r>
            <a:r>
              <a:rPr lang="en-US" altLang="ja-JP" dirty="0"/>
              <a:t>1 </a:t>
            </a:r>
            <a:r>
              <a:rPr lang="ja-JP" altLang="en-US" dirty="0"/>
              <a:t>になるよう正規化し、距離方向の減衰特性を比較します。</a:t>
            </a:r>
          </a:p>
          <a:p>
            <a:endParaRPr lang="ja-JP" altLang="en-US" dirty="0"/>
          </a:p>
          <a:p>
            <a:r>
              <a:rPr lang="ja-JP" altLang="en-US" dirty="0"/>
              <a:t>まず基礎検証として、</a:t>
            </a:r>
            <a:r>
              <a:rPr lang="en-US" altLang="ja-JP" dirty="0"/>
              <a:t>Mitsuba </a:t>
            </a:r>
            <a:r>
              <a:rPr lang="ja-JP" altLang="en-US" dirty="0"/>
              <a:t>で髭を円柱ジオメトリとして埋め込んだシーンを計測し、</a:t>
            </a:r>
            <a:br>
              <a:rPr lang="ja-JP" altLang="en-US" dirty="0"/>
            </a:br>
            <a:r>
              <a:rPr lang="ja-JP" altLang="en-US" dirty="0"/>
              <a:t>髭なし条件との </a:t>
            </a:r>
            <a:r>
              <a:rPr lang="en-US" altLang="ja-JP" dirty="0" err="1"/>
              <a:t>R_d</a:t>
            </a:r>
            <a:r>
              <a:rPr lang="en-US" altLang="ja-JP" dirty="0"/>
              <a:t>(r) </a:t>
            </a:r>
            <a:r>
              <a:rPr lang="ja-JP" altLang="en-US" dirty="0"/>
              <a:t>の差分を観測します</a:t>
            </a:r>
            <a:endParaRPr kumimoji="1" lang="ja-JP" altLang="en-US" dirty="0"/>
          </a:p>
        </p:txBody>
      </p:sp>
      <p:sp>
        <p:nvSpPr>
          <p:cNvPr id="4" name="スライド番号プレースホルダー 3">
            <a:extLst>
              <a:ext uri="{FF2B5EF4-FFF2-40B4-BE49-F238E27FC236}">
                <a16:creationId xmlns:a16="http://schemas.microsoft.com/office/drawing/2014/main" id="{9F476A1D-8688-5623-B3B3-D320C1310F04}"/>
              </a:ext>
            </a:extLst>
          </p:cNvPr>
          <p:cNvSpPr>
            <a:spLocks noGrp="1"/>
          </p:cNvSpPr>
          <p:nvPr>
            <p:ph type="sldNum" sz="quarter" idx="5"/>
          </p:nvPr>
        </p:nvSpPr>
        <p:spPr/>
        <p:txBody>
          <a:bodyPr/>
          <a:lstStyle/>
          <a:p>
            <a:fld id="{7E6F6BBB-7673-494F-8505-704B89C97274}" type="slidenum">
              <a:rPr kumimoji="1" lang="ja-JP" altLang="en-US" smtClean="0"/>
              <a:t>11</a:t>
            </a:fld>
            <a:endParaRPr kumimoji="1" lang="ja-JP" altLang="en-US"/>
          </a:p>
        </p:txBody>
      </p:sp>
    </p:spTree>
    <p:extLst>
      <p:ext uri="{BB962C8B-B14F-4D97-AF65-F5344CB8AC3E}">
        <p14:creationId xmlns:p14="http://schemas.microsoft.com/office/powerpoint/2010/main" val="4057820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髭なし・髭ありの </a:t>
            </a:r>
            <a:r>
              <a:rPr kumimoji="1" lang="en-US" altLang="ja-JP" dirty="0" err="1"/>
              <a:t>R_d</a:t>
            </a:r>
            <a:r>
              <a:rPr kumimoji="1" lang="en-US" altLang="ja-JP" dirty="0"/>
              <a:t>(r) </a:t>
            </a:r>
            <a:r>
              <a:rPr kumimoji="1" lang="ja-JP" altLang="en-US" dirty="0"/>
              <a:t>を正規化して比較した結果です。</a:t>
            </a:r>
            <a:br>
              <a:rPr kumimoji="1" lang="ja-JP" altLang="en-US" dirty="0"/>
            </a:br>
            <a:r>
              <a:rPr kumimoji="1" lang="ja-JP" altLang="en-US" dirty="0"/>
              <a:t>全体の分布形状は概ね近く、両条件とも滑らかに変化しており、</a:t>
            </a:r>
            <a:br>
              <a:rPr kumimoji="1" lang="ja-JP" altLang="en-US" dirty="0"/>
            </a:br>
            <a:r>
              <a:rPr kumimoji="1" lang="ja-JP" altLang="en-US" dirty="0"/>
              <a:t>計測がノイズや発散に支配されていないことが分かります。</a:t>
            </a:r>
          </a:p>
          <a:p>
            <a:r>
              <a:rPr kumimoji="1" lang="ja-JP" altLang="en-US" dirty="0"/>
              <a:t>一方で、入射点近傍の </a:t>
            </a:r>
            <a:r>
              <a:rPr kumimoji="1" lang="en-US" altLang="ja-JP" dirty="0"/>
              <a:t>r &lt; 0.05 </a:t>
            </a:r>
            <a:r>
              <a:rPr kumimoji="1" lang="ja-JP" altLang="en-US" dirty="0"/>
              <a:t>付近では、髭ありの分布がわずかに低く、</a:t>
            </a:r>
            <a:br>
              <a:rPr kumimoji="1" lang="ja-JP" altLang="en-US" dirty="0"/>
            </a:br>
            <a:r>
              <a:rPr kumimoji="1" lang="ja-JP" altLang="en-US" dirty="0"/>
              <a:t>局所的に表面下散乱が抑制されている傾向が見られます。</a:t>
            </a:r>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12</a:t>
            </a:fld>
            <a:endParaRPr kumimoji="1" lang="ja-JP" altLang="en-US"/>
          </a:p>
        </p:txBody>
      </p:sp>
    </p:spTree>
    <p:extLst>
      <p:ext uri="{BB962C8B-B14F-4D97-AF65-F5344CB8AC3E}">
        <p14:creationId xmlns:p14="http://schemas.microsoft.com/office/powerpoint/2010/main" val="3078788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１１枚目（考察・結論）</a:t>
            </a:r>
          </a:p>
          <a:p>
            <a:r>
              <a:rPr kumimoji="1" lang="ja-JP" altLang="en-US" dirty="0"/>
              <a:t>近傍で差が出るのは、髭を模した円柱の密度が高く、</a:t>
            </a:r>
            <a:br>
              <a:rPr kumimoji="1" lang="ja-JP" altLang="en-US" dirty="0"/>
            </a:br>
            <a:r>
              <a:rPr kumimoji="1" lang="ja-JP" altLang="en-US" dirty="0"/>
              <a:t>遮蔽や吸収の影響が強く表れるためだと考えられます。</a:t>
            </a:r>
            <a:br>
              <a:rPr kumimoji="1" lang="ja-JP" altLang="en-US" dirty="0"/>
            </a:br>
            <a:r>
              <a:rPr kumimoji="1" lang="ja-JP" altLang="en-US" dirty="0"/>
              <a:t>半径が大きくなるにつれて密度が下がり、円周平均で影響が希薄化するため、</a:t>
            </a:r>
            <a:br>
              <a:rPr kumimoji="1" lang="ja-JP" altLang="en-US" dirty="0"/>
            </a:br>
            <a:r>
              <a:rPr kumimoji="1" lang="ja-JP" altLang="en-US" dirty="0"/>
              <a:t>全体としてはほぼ同じ形になります。</a:t>
            </a:r>
          </a:p>
          <a:p>
            <a:r>
              <a:rPr kumimoji="1" lang="ja-JP" altLang="en-US" dirty="0"/>
              <a:t>幾何的な髭モデルは影響の存在を確認できる一方、配置や太さの違いで分布が大きく変動し、</a:t>
            </a:r>
            <a:br>
              <a:rPr kumimoji="1" lang="ja-JP" altLang="en-US" dirty="0"/>
            </a:br>
            <a:r>
              <a:rPr kumimoji="1" lang="ja-JP" altLang="en-US" dirty="0"/>
              <a:t>再現性が不安定で計算コストも高いという限界があります。</a:t>
            </a:r>
          </a:p>
          <a:p>
            <a:r>
              <a:rPr kumimoji="1" lang="ja-JP" altLang="en-US" dirty="0"/>
              <a:t>一方、髭密度モデルでは拡散特性を連続的に制御でき、</a:t>
            </a:r>
            <a:br>
              <a:rPr kumimoji="1" lang="ja-JP" altLang="en-US" dirty="0"/>
            </a:br>
            <a:r>
              <a:rPr kumimoji="1" lang="ja-JP" altLang="en-US" dirty="0"/>
              <a:t>髭の影響を安定かつ実用的に表現できると結論づけます。</a:t>
            </a:r>
            <a:br>
              <a:rPr kumimoji="1" lang="ja-JP" altLang="en-US" dirty="0"/>
            </a:br>
            <a:r>
              <a:rPr kumimoji="1" lang="ja-JP" altLang="en-US" dirty="0"/>
              <a:t>今後は影や遮蔽など高周波な効果の取り込みを検討します。</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13</a:t>
            </a:fld>
            <a:endParaRPr kumimoji="1" lang="ja-JP" altLang="en-US"/>
          </a:p>
        </p:txBody>
      </p:sp>
    </p:spTree>
    <p:extLst>
      <p:ext uri="{BB962C8B-B14F-4D97-AF65-F5344CB8AC3E}">
        <p14:creationId xmlns:p14="http://schemas.microsoft.com/office/powerpoint/2010/main" val="338556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6AD12-92FF-912F-1329-2B721696D9B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383E1A-3016-BAFD-4E7F-E009474C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26DA65-52DB-A609-4CFF-2C059F2A06F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A9B91057-0AFF-CEED-AB2E-7DD6D4253C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44477F-A14F-9CC8-5EBF-262B04A7040B}"/>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8246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4629D-DCE6-2CB6-E1ED-348CDBB8DE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85D49A-15DA-A783-E7EC-E4667542908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29249-C1E3-E122-F969-3FE24B19C4C7}"/>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EBA5F524-4D0C-70E6-95B9-835BCC195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D93FAD-8B9C-F4F3-60E6-87B62E4159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896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65418C-F3BA-13CD-3D30-CBD2CBC7E8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3AEE4B-02F9-722B-7452-8DE7B1ABA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A03D0B-4FBA-04B6-2977-2F0B2C234E0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C99E6E70-4267-96D1-1E74-EB282AF1A5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79A10C-95F9-6701-03F6-E266B5A9F0EC}"/>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84377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0E67F-51C1-00F7-5D9A-5D5277D76B6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C95B5E-4059-14C7-6AC1-7C3FAB88FB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C6F1ED6-5724-46C8-9BDA-41DBF2EC9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81CCEA-4CBA-4318-E722-515E45563B4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00DE48F6-CEA3-BA96-10C6-936302202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F6B7A2-453B-5FB0-9FD1-00AC7B66375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07687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0AE4C-CEA7-C256-C898-82A068AB72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9F9F1-3887-84C7-0DB3-03E93A200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A954-9C0F-C26B-56BD-933EC84796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5C81DFB-D969-363A-9CC1-C2CABBFE9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78D5716-E34B-048F-F1EC-2FE68DDB3E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13A45-B226-8544-E713-4C2C40C5760C}"/>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8" name="フッター プレースホルダー 7">
            <a:extLst>
              <a:ext uri="{FF2B5EF4-FFF2-40B4-BE49-F238E27FC236}">
                <a16:creationId xmlns:a16="http://schemas.microsoft.com/office/drawing/2014/main" id="{C50981FA-72C8-8B39-A19C-81D30CC2C7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200FFF-F8BB-DF19-F2B9-661E5B5A0C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2883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158A0D-BB9A-4E5F-FF91-0A1BF6CD10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0DCFDF-565F-B25C-24A9-331EF8C916F8}"/>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4" name="フッター プレースホルダー 3">
            <a:extLst>
              <a:ext uri="{FF2B5EF4-FFF2-40B4-BE49-F238E27FC236}">
                <a16:creationId xmlns:a16="http://schemas.microsoft.com/office/drawing/2014/main" id="{3D8E2DBF-4BBC-384E-023E-9DD8CFFD4B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DB1147-C2BB-69BF-37F8-ADDC3680C728}"/>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32721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49C5D7-8717-687F-959B-0982A94CFDE0}"/>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3" name="フッター プレースホルダー 2">
            <a:extLst>
              <a:ext uri="{FF2B5EF4-FFF2-40B4-BE49-F238E27FC236}">
                <a16:creationId xmlns:a16="http://schemas.microsoft.com/office/drawing/2014/main" id="{1A27AEAD-A318-18DE-39C0-035882B90E2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1DA8EF-111C-A9DD-0C62-245688E1AD7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63019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890AC-639B-071D-5A2F-DFB7BD2280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53DA71-C45A-8202-0D96-512066241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138C5A-194F-F5DC-F349-7FF56DB70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5D8594-C607-352E-3CC5-E0AB20E1C47D}"/>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ACC6B998-7282-FA40-9A14-156617A9DF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2FECF-7F47-15A3-C535-C1BBFB64739D}"/>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17107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F54C2-158C-1070-1F7F-623485F94B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C076A01-7457-FF0C-2426-566664F43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6BE6B64-64DC-1318-A222-238265979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224C0-8083-6C42-D1BB-25E4D1965FA2}"/>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3AA2069F-CB27-9E9F-5CE8-7274B22A5F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2E21DE-83D1-90F5-2507-7B6ECDB63041}"/>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942275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C19012-E8D7-1BB1-7514-74220E662C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2796E-FB47-CA5B-AE74-BC627ADA24C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D65D5-89C5-ABDD-4999-30A47076EEF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74E13BE3-D3A9-34A5-96D6-D54E9ADC17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69A259-00D6-3B46-434F-22DA37A57A49}"/>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99158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2A6BBF-6C4A-A1DC-EA5C-6F4FB7B991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4A7BBD-8FAD-99E1-1742-804364027C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985176-C0F1-3E41-01A5-B16B89A850D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1392980-0C8E-D29D-C87A-98347E7C59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1E0AB5-69DE-ED74-19C4-DC5341CC251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068954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7AA5AD9-7844-87E5-F0CB-9D1401ECD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562D5D-3E2B-F593-BA46-0495D4ECA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F42ED9-93C1-27AF-FA12-BF2CD1C04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741D8D8-4235-AA39-6E89-54B7EE50B4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2F48B3E-773E-4B4F-4A7E-A0B25B0EB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202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4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54781-2985-41CA-7BE1-644EB8E9FBD4}"/>
              </a:ext>
            </a:extLst>
          </p:cNvPr>
          <p:cNvSpPr>
            <a:spLocks noGrp="1"/>
          </p:cNvSpPr>
          <p:nvPr>
            <p:ph type="ctrTitle"/>
          </p:nvPr>
        </p:nvSpPr>
        <p:spPr>
          <a:xfrm>
            <a:off x="1873045" y="1122363"/>
            <a:ext cx="8214852" cy="2387600"/>
          </a:xfrm>
        </p:spPr>
        <p:txBody>
          <a:bodyPr>
            <a:normAutofit/>
          </a:bodyPr>
          <a:lstStyle/>
          <a:p>
            <a:r>
              <a:rPr lang="ja-JP" altLang="en-US" sz="5400" dirty="0"/>
              <a:t>髭密度マップを用いた</a:t>
            </a:r>
            <a:br>
              <a:rPr lang="en-US" altLang="ja-JP" sz="5400" dirty="0"/>
            </a:br>
            <a:r>
              <a:rPr lang="ja-JP" altLang="en-US" sz="4800" dirty="0"/>
              <a:t>皮膚の不均質性の再現</a:t>
            </a:r>
            <a:endParaRPr kumimoji="1" lang="ja-JP" altLang="en-US" sz="5400" dirty="0"/>
          </a:p>
        </p:txBody>
      </p:sp>
      <p:sp>
        <p:nvSpPr>
          <p:cNvPr id="3" name="字幕 2">
            <a:extLst>
              <a:ext uri="{FF2B5EF4-FFF2-40B4-BE49-F238E27FC236}">
                <a16:creationId xmlns:a16="http://schemas.microsoft.com/office/drawing/2014/main" id="{803113DA-E244-62CC-0080-64ABC9E2CFC6}"/>
              </a:ext>
            </a:extLst>
          </p:cNvPr>
          <p:cNvSpPr>
            <a:spLocks noGrp="1"/>
          </p:cNvSpPr>
          <p:nvPr>
            <p:ph type="subTitle" idx="1"/>
          </p:nvPr>
        </p:nvSpPr>
        <p:spPr/>
        <p:txBody>
          <a:bodyPr/>
          <a:lstStyle/>
          <a:p>
            <a:r>
              <a:rPr lang="en-US" altLang="ja-JP" dirty="0"/>
              <a:t>CG</a:t>
            </a:r>
            <a:r>
              <a:rPr lang="ja-JP" altLang="en-US" dirty="0"/>
              <a:t>研　学部</a:t>
            </a:r>
            <a:r>
              <a:rPr lang="en-US" altLang="ja-JP" dirty="0"/>
              <a:t>4</a:t>
            </a:r>
            <a:r>
              <a:rPr lang="ja-JP" altLang="en-US" dirty="0"/>
              <a:t>年</a:t>
            </a:r>
            <a:br>
              <a:rPr lang="en-US" altLang="ja-JP" dirty="0"/>
            </a:br>
            <a:r>
              <a:rPr lang="en-US" altLang="ja-JP" dirty="0"/>
              <a:t>15822133</a:t>
            </a:r>
            <a:br>
              <a:rPr lang="en-US" altLang="ja-JP" dirty="0"/>
            </a:br>
            <a:r>
              <a:rPr lang="ja-JP" altLang="en-US" dirty="0"/>
              <a:t>山本雷夏</a:t>
            </a:r>
          </a:p>
        </p:txBody>
      </p:sp>
    </p:spTree>
    <p:extLst>
      <p:ext uri="{BB962C8B-B14F-4D97-AF65-F5344CB8AC3E}">
        <p14:creationId xmlns:p14="http://schemas.microsoft.com/office/powerpoint/2010/main" val="169221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E1AF9-D82C-2A59-CD0E-DC03996C9450}"/>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81DBCE1E-1BDA-F97F-6A73-B29C018B9360}"/>
              </a:ext>
            </a:extLst>
          </p:cNvPr>
          <p:cNvSpPr>
            <a:spLocks noGrp="1"/>
          </p:cNvSpPr>
          <p:nvPr>
            <p:ph idx="1"/>
          </p:nvPr>
        </p:nvSpPr>
        <p:spPr>
          <a:xfrm>
            <a:off x="838200" y="1629824"/>
            <a:ext cx="11777663" cy="5122597"/>
          </a:xfrm>
        </p:spPr>
        <p:txBody>
          <a:bodyPr>
            <a:normAutofit/>
          </a:bodyPr>
          <a:lstStyle/>
          <a:p>
            <a:pPr marL="0" indent="0">
              <a:buNone/>
            </a:pPr>
            <a:r>
              <a:rPr kumimoji="1" lang="ja-JP" altLang="en-US" dirty="0"/>
              <a:t>皮膚は身体全体を覆う部位</a:t>
            </a:r>
            <a:endParaRPr kumimoji="1" lang="en-US" altLang="ja-JP" dirty="0"/>
          </a:p>
          <a:p>
            <a:pPr marL="0" indent="0">
              <a:buNone/>
            </a:pPr>
            <a:endParaRPr lang="en-US" altLang="ja-JP" dirty="0"/>
          </a:p>
          <a:p>
            <a:pPr marL="0" indent="0">
              <a:buNone/>
            </a:pPr>
            <a:r>
              <a:rPr kumimoji="1" lang="ja-JP" altLang="en-US" dirty="0"/>
              <a:t>→</a:t>
            </a:r>
            <a:r>
              <a:rPr kumimoji="1" lang="ja-JP" altLang="en-US" sz="3200" b="1" u="sng" dirty="0"/>
              <a:t>皮膚の状態が見た目にも大きな影響</a:t>
            </a:r>
            <a:r>
              <a:rPr kumimoji="1" lang="ja-JP" altLang="en-US" sz="3200" dirty="0"/>
              <a:t>を与える</a:t>
            </a:r>
            <a:r>
              <a:rPr kumimoji="1" lang="en-US" altLang="ja-JP" dirty="0"/>
              <a:t>				</a:t>
            </a:r>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p:txBody>
      </p:sp>
      <p:sp>
        <p:nvSpPr>
          <p:cNvPr id="4" name="テキスト ボックス 3">
            <a:extLst>
              <a:ext uri="{FF2B5EF4-FFF2-40B4-BE49-F238E27FC236}">
                <a16:creationId xmlns:a16="http://schemas.microsoft.com/office/drawing/2014/main" id="{1267D926-CDF2-6817-62AB-CDEE4EB04A4E}"/>
              </a:ext>
            </a:extLst>
          </p:cNvPr>
          <p:cNvSpPr txBox="1"/>
          <p:nvPr/>
        </p:nvSpPr>
        <p:spPr>
          <a:xfrm>
            <a:off x="1395413" y="4858844"/>
            <a:ext cx="2492990" cy="369332"/>
          </a:xfrm>
          <a:prstGeom prst="rect">
            <a:avLst/>
          </a:prstGeom>
          <a:noFill/>
        </p:spPr>
        <p:txBody>
          <a:bodyPr wrap="none" rtlCol="0">
            <a:spAutoFit/>
          </a:bodyPr>
          <a:lstStyle/>
          <a:p>
            <a:r>
              <a:rPr lang="ja-JP" altLang="en-US" dirty="0"/>
              <a:t>大谷</a:t>
            </a:r>
            <a:r>
              <a:rPr kumimoji="1" lang="ja-JP" altLang="en-US" dirty="0"/>
              <a:t>（高校生の画像）</a:t>
            </a:r>
          </a:p>
        </p:txBody>
      </p:sp>
      <p:pic>
        <p:nvPicPr>
          <p:cNvPr id="7" name="図 6">
            <a:extLst>
              <a:ext uri="{FF2B5EF4-FFF2-40B4-BE49-F238E27FC236}">
                <a16:creationId xmlns:a16="http://schemas.microsoft.com/office/drawing/2014/main" id="{E1DAE32A-0AAA-BB97-0445-803B0B6C5B04}"/>
              </a:ext>
            </a:extLst>
          </p:cNvPr>
          <p:cNvPicPr>
            <a:picLocks noChangeAspect="1"/>
          </p:cNvPicPr>
          <p:nvPr/>
        </p:nvPicPr>
        <p:blipFill>
          <a:blip r:embed="rId3"/>
          <a:srcRect t="1169" r="21387" b="28457"/>
          <a:stretch>
            <a:fillRect/>
          </a:stretch>
        </p:blipFill>
        <p:spPr>
          <a:xfrm>
            <a:off x="1059582" y="3484023"/>
            <a:ext cx="3164651" cy="3118973"/>
          </a:xfrm>
          <a:prstGeom prst="rect">
            <a:avLst/>
          </a:prstGeom>
        </p:spPr>
      </p:pic>
      <p:pic>
        <p:nvPicPr>
          <p:cNvPr id="13" name="図 12">
            <a:extLst>
              <a:ext uri="{FF2B5EF4-FFF2-40B4-BE49-F238E27FC236}">
                <a16:creationId xmlns:a16="http://schemas.microsoft.com/office/drawing/2014/main" id="{6354BB0E-28EB-5FB3-1B49-0DA1A6A73DA4}"/>
              </a:ext>
            </a:extLst>
          </p:cNvPr>
          <p:cNvPicPr>
            <a:picLocks noChangeAspect="1"/>
          </p:cNvPicPr>
          <p:nvPr/>
        </p:nvPicPr>
        <p:blipFill>
          <a:blip r:embed="rId4"/>
          <a:stretch>
            <a:fillRect/>
          </a:stretch>
        </p:blipFill>
        <p:spPr>
          <a:xfrm>
            <a:off x="4224233" y="4496707"/>
            <a:ext cx="4657725" cy="1996168"/>
          </a:xfrm>
          <a:prstGeom prst="rect">
            <a:avLst/>
          </a:prstGeom>
        </p:spPr>
      </p:pic>
    </p:spTree>
    <p:extLst>
      <p:ext uri="{BB962C8B-B14F-4D97-AF65-F5344CB8AC3E}">
        <p14:creationId xmlns:p14="http://schemas.microsoft.com/office/powerpoint/2010/main" val="2672428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6F1D5-1DF8-FDA4-6BAF-22D8167EE47C}"/>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1E40E27B-9D36-7A3E-6E75-251A5679A445}"/>
              </a:ext>
            </a:extLst>
          </p:cNvPr>
          <p:cNvSpPr>
            <a:spLocks noGrp="1"/>
          </p:cNvSpPr>
          <p:nvPr>
            <p:ph idx="1"/>
          </p:nvPr>
        </p:nvSpPr>
        <p:spPr>
          <a:xfrm>
            <a:off x="838200" y="1825624"/>
            <a:ext cx="10515600" cy="4918075"/>
          </a:xfrm>
        </p:spPr>
        <p:txBody>
          <a:bodyPr>
            <a:normAutofit lnSpcReduction="10000"/>
          </a:bodyPr>
          <a:lstStyle/>
          <a:p>
            <a:pPr marL="0" indent="0">
              <a:buNone/>
            </a:pPr>
            <a:r>
              <a:rPr kumimoji="1" lang="ja-JP" altLang="en-US" b="1" u="sng" dirty="0"/>
              <a:t>皮膚内部の構造</a:t>
            </a:r>
            <a:r>
              <a:rPr kumimoji="1" lang="ja-JP" altLang="en-US" dirty="0"/>
              <a:t>も見た目に影響を与える。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endParaRPr kumimoji="1" lang="en-US" altLang="ja-JP" dirty="0"/>
          </a:p>
          <a:p>
            <a:pPr marL="0" indent="0">
              <a:buNone/>
            </a:pPr>
            <a:r>
              <a:rPr lang="ja-JP" altLang="en-US" u="sng" dirty="0"/>
              <a:t>皮膚の不均質性の再現、主に</a:t>
            </a:r>
            <a:r>
              <a:rPr lang="ja-JP" altLang="en-US" b="1" u="sng" dirty="0"/>
              <a:t>髭に関する影響</a:t>
            </a:r>
            <a:r>
              <a:rPr lang="ja-JP" altLang="en-US" dirty="0"/>
              <a:t>について取り組む</a:t>
            </a:r>
            <a:endParaRPr lang="en-US" altLang="ja-JP" dirty="0">
              <a:effectLst>
                <a:outerShdw blurRad="38100" dist="38100" dir="2700000" algn="tl">
                  <a:srgbClr val="000000">
                    <a:alpha val="43137"/>
                  </a:srgbClr>
                </a:outerShdw>
              </a:effectLst>
            </a:endParaRPr>
          </a:p>
        </p:txBody>
      </p:sp>
      <p:pic>
        <p:nvPicPr>
          <p:cNvPr id="4" name="図 3" descr="口に手を当てている男性&#10;&#10;AI 生成コンテンツは誤りを含む可能性があります。">
            <a:extLst>
              <a:ext uri="{FF2B5EF4-FFF2-40B4-BE49-F238E27FC236}">
                <a16:creationId xmlns:a16="http://schemas.microsoft.com/office/drawing/2014/main" id="{3D13E78A-9AAB-0AD9-C996-E4FCBCDC524D}"/>
              </a:ext>
            </a:extLst>
          </p:cNvPr>
          <p:cNvPicPr>
            <a:picLocks noChangeAspect="1"/>
          </p:cNvPicPr>
          <p:nvPr/>
        </p:nvPicPr>
        <p:blipFill>
          <a:blip r:embed="rId3">
            <a:extLst>
              <a:ext uri="{28A0092B-C50C-407E-A947-70E740481C1C}">
                <a14:useLocalDpi xmlns:a14="http://schemas.microsoft.com/office/drawing/2010/main" val="0"/>
              </a:ext>
            </a:extLst>
          </a:blip>
          <a:srcRect l="28329" t="-876" r="10615" b="37114"/>
          <a:stretch>
            <a:fillRect/>
          </a:stretch>
        </p:blipFill>
        <p:spPr>
          <a:xfrm>
            <a:off x="6647234" y="2578096"/>
            <a:ext cx="3792166" cy="2554287"/>
          </a:xfrm>
          <a:prstGeom prst="rect">
            <a:avLst/>
          </a:prstGeom>
        </p:spPr>
      </p:pic>
      <p:pic>
        <p:nvPicPr>
          <p:cNvPr id="6" name="図 5">
            <a:extLst>
              <a:ext uri="{FF2B5EF4-FFF2-40B4-BE49-F238E27FC236}">
                <a16:creationId xmlns:a16="http://schemas.microsoft.com/office/drawing/2014/main" id="{F91CCCAC-D66A-E5F9-AE1E-61941455074D}"/>
              </a:ext>
            </a:extLst>
          </p:cNvPr>
          <p:cNvPicPr>
            <a:picLocks noChangeAspect="1"/>
          </p:cNvPicPr>
          <p:nvPr/>
        </p:nvPicPr>
        <p:blipFill>
          <a:blip r:embed="rId4"/>
          <a:stretch>
            <a:fillRect/>
          </a:stretch>
        </p:blipFill>
        <p:spPr>
          <a:xfrm>
            <a:off x="1138237" y="2578096"/>
            <a:ext cx="4191000" cy="2962688"/>
          </a:xfrm>
          <a:prstGeom prst="rect">
            <a:avLst/>
          </a:prstGeom>
        </p:spPr>
      </p:pic>
      <p:sp>
        <p:nvSpPr>
          <p:cNvPr id="7" name="テキスト ボックス 6">
            <a:extLst>
              <a:ext uri="{FF2B5EF4-FFF2-40B4-BE49-F238E27FC236}">
                <a16:creationId xmlns:a16="http://schemas.microsoft.com/office/drawing/2014/main" id="{FFDBA275-202E-48FD-ACBA-6DD7505D09A5}"/>
              </a:ext>
            </a:extLst>
          </p:cNvPr>
          <p:cNvSpPr txBox="1"/>
          <p:nvPr/>
        </p:nvSpPr>
        <p:spPr>
          <a:xfrm>
            <a:off x="1974418" y="5386895"/>
            <a:ext cx="2518638" cy="307777"/>
          </a:xfrm>
          <a:prstGeom prst="rect">
            <a:avLst/>
          </a:prstGeom>
          <a:noFill/>
        </p:spPr>
        <p:txBody>
          <a:bodyPr wrap="none" rtlCol="0">
            <a:spAutoFit/>
          </a:bodyPr>
          <a:lstStyle/>
          <a:p>
            <a:r>
              <a:rPr kumimoji="1" lang="ja-JP" altLang="en-US" sz="1400" dirty="0"/>
              <a:t>（第一三共ヘルスケアより）</a:t>
            </a:r>
          </a:p>
        </p:txBody>
      </p:sp>
    </p:spTree>
    <p:extLst>
      <p:ext uri="{BB962C8B-B14F-4D97-AF65-F5344CB8AC3E}">
        <p14:creationId xmlns:p14="http://schemas.microsoft.com/office/powerpoint/2010/main" val="169225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E530F-5A49-69EF-AACC-33424B400F8A}"/>
              </a:ext>
            </a:extLst>
          </p:cNvPr>
          <p:cNvSpPr>
            <a:spLocks noGrp="1"/>
          </p:cNvSpPr>
          <p:nvPr>
            <p:ph type="title"/>
          </p:nvPr>
        </p:nvSpPr>
        <p:spPr/>
        <p:txBody>
          <a:bodyPr>
            <a:normAutofit/>
          </a:bodyPr>
          <a:lstStyle/>
          <a:p>
            <a:r>
              <a:rPr lang="ja-JP" altLang="en-US" b="1" dirty="0"/>
              <a:t>表面下散乱</a:t>
            </a:r>
            <a:br>
              <a:rPr lang="en-US" altLang="ja-JP" b="1" dirty="0"/>
            </a:br>
            <a:r>
              <a:rPr lang="ja-JP" altLang="en-US" b="1" dirty="0"/>
              <a:t>（</a:t>
            </a:r>
            <a:r>
              <a:rPr lang="en-US" altLang="ja-JP" b="1" dirty="0"/>
              <a:t>Sub Surface</a:t>
            </a:r>
            <a:r>
              <a:rPr lang="ja-JP" altLang="en-US" b="1" dirty="0"/>
              <a:t> </a:t>
            </a:r>
            <a:r>
              <a:rPr lang="en-US" altLang="ja-JP" b="1" dirty="0"/>
              <a:t>Scattering ,SSS</a:t>
            </a:r>
            <a:r>
              <a:rPr lang="ja-JP" altLang="en-US" b="1" dirty="0"/>
              <a:t>）</a:t>
            </a:r>
            <a:endParaRPr kumimoji="1" lang="ja-JP" altLang="en-US" dirty="0"/>
          </a:p>
        </p:txBody>
      </p:sp>
      <p:sp>
        <p:nvSpPr>
          <p:cNvPr id="3" name="コンテンツ プレースホルダー 2">
            <a:extLst>
              <a:ext uri="{FF2B5EF4-FFF2-40B4-BE49-F238E27FC236}">
                <a16:creationId xmlns:a16="http://schemas.microsoft.com/office/drawing/2014/main" id="{86A47FDD-4854-D9B7-C169-CFE980443512}"/>
              </a:ext>
            </a:extLst>
          </p:cNvPr>
          <p:cNvSpPr>
            <a:spLocks noGrp="1"/>
          </p:cNvSpPr>
          <p:nvPr>
            <p:ph idx="1"/>
          </p:nvPr>
        </p:nvSpPr>
        <p:spPr>
          <a:xfrm>
            <a:off x="838200" y="2028825"/>
            <a:ext cx="10515600" cy="4148138"/>
          </a:xfrm>
        </p:spPr>
        <p:txBody>
          <a:bodyPr/>
          <a:lstStyle/>
          <a:p>
            <a:pPr marL="0" indent="0">
              <a:buNone/>
            </a:pPr>
            <a:r>
              <a:rPr lang="ja-JP" altLang="en-US" dirty="0"/>
              <a:t>物体に入射した光が、内部で散乱したのちに</a:t>
            </a:r>
            <a:endParaRPr lang="en-US" altLang="ja-JP" dirty="0"/>
          </a:p>
          <a:p>
            <a:pPr marL="0" indent="0">
              <a:buNone/>
            </a:pPr>
            <a:r>
              <a:rPr lang="ja-JP" altLang="en-US" dirty="0"/>
              <a:t>違う点から出てくる現象</a:t>
            </a:r>
            <a:br>
              <a:rPr lang="en-US" altLang="ja-JP" dirty="0"/>
            </a:br>
            <a:endParaRPr lang="en-US" altLang="ja-JP" dirty="0"/>
          </a:p>
          <a:p>
            <a:pPr marL="0" indent="0">
              <a:buNone/>
            </a:pPr>
            <a:r>
              <a:rPr lang="ja-JP" altLang="en-US" dirty="0"/>
              <a:t>⇒</a:t>
            </a:r>
            <a:r>
              <a:rPr lang="en-US" altLang="ja-JP" b="1" u="sng" dirty="0"/>
              <a:t>BRDF</a:t>
            </a:r>
            <a:r>
              <a:rPr lang="ja-JP" altLang="en-US" b="1" u="sng" dirty="0"/>
              <a:t>では取り扱うことができない</a:t>
            </a:r>
            <a:endParaRPr kumimoji="1" lang="ja-JP" altLang="en-US" b="1" u="sng" dirty="0"/>
          </a:p>
        </p:txBody>
      </p:sp>
      <p:grpSp>
        <p:nvGrpSpPr>
          <p:cNvPr id="12" name="グループ化 11">
            <a:extLst>
              <a:ext uri="{FF2B5EF4-FFF2-40B4-BE49-F238E27FC236}">
                <a16:creationId xmlns:a16="http://schemas.microsoft.com/office/drawing/2014/main" id="{B04BBC7A-2DBF-A3A3-9F74-E70DD62BA910}"/>
              </a:ext>
            </a:extLst>
          </p:cNvPr>
          <p:cNvGrpSpPr/>
          <p:nvPr/>
        </p:nvGrpSpPr>
        <p:grpSpPr>
          <a:xfrm>
            <a:off x="7706044" y="2533474"/>
            <a:ext cx="4038599" cy="1791052"/>
            <a:chOff x="3276600" y="3429000"/>
            <a:chExt cx="3285067" cy="2031999"/>
          </a:xfrm>
        </p:grpSpPr>
        <p:sp>
          <p:nvSpPr>
            <p:cNvPr id="13" name="正方形/長方形 12">
              <a:extLst>
                <a:ext uri="{FF2B5EF4-FFF2-40B4-BE49-F238E27FC236}">
                  <a16:creationId xmlns:a16="http://schemas.microsoft.com/office/drawing/2014/main" id="{845631D2-646A-A3E1-75AB-0B334B1909D6}"/>
                </a:ext>
              </a:extLst>
            </p:cNvPr>
            <p:cNvSpPr/>
            <p:nvPr/>
          </p:nvSpPr>
          <p:spPr>
            <a:xfrm>
              <a:off x="3276600" y="4614332"/>
              <a:ext cx="3166533" cy="846667"/>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cxnSp>
          <p:nvCxnSpPr>
            <p:cNvPr id="14" name="直線矢印コネクタ 13">
              <a:extLst>
                <a:ext uri="{FF2B5EF4-FFF2-40B4-BE49-F238E27FC236}">
                  <a16:creationId xmlns:a16="http://schemas.microsoft.com/office/drawing/2014/main" id="{F598D6AA-DA67-F7BE-D6F1-C9372154FF13}"/>
                </a:ext>
              </a:extLst>
            </p:cNvPr>
            <p:cNvCxnSpPr/>
            <p:nvPr/>
          </p:nvCxnSpPr>
          <p:spPr>
            <a:xfrm flipH="1">
              <a:off x="5520267" y="3429000"/>
              <a:ext cx="1041400" cy="1168400"/>
            </a:xfrm>
            <a:prstGeom prst="straightConnector1">
              <a:avLst/>
            </a:prstGeom>
            <a:ln>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15" name="直線コネクタ 14">
              <a:extLst>
                <a:ext uri="{FF2B5EF4-FFF2-40B4-BE49-F238E27FC236}">
                  <a16:creationId xmlns:a16="http://schemas.microsoft.com/office/drawing/2014/main" id="{5B7F7657-1D78-0C4F-E9F0-910FB9A121EE}"/>
                </a:ext>
              </a:extLst>
            </p:cNvPr>
            <p:cNvCxnSpPr/>
            <p:nvPr/>
          </p:nvCxnSpPr>
          <p:spPr>
            <a:xfrm flipH="1">
              <a:off x="5334000" y="4614332"/>
              <a:ext cx="194733" cy="406401"/>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D2437AB1-CDDF-E8D2-405E-B72A9AAA1DC9}"/>
                </a:ext>
              </a:extLst>
            </p:cNvPr>
            <p:cNvCxnSpPr/>
            <p:nvPr/>
          </p:nvCxnSpPr>
          <p:spPr>
            <a:xfrm>
              <a:off x="4944533" y="4792133"/>
              <a:ext cx="381000" cy="245534"/>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D786C07-4A49-C7B7-F3BC-8ED231B83412}"/>
                </a:ext>
              </a:extLst>
            </p:cNvPr>
            <p:cNvCxnSpPr/>
            <p:nvPr/>
          </p:nvCxnSpPr>
          <p:spPr>
            <a:xfrm flipH="1">
              <a:off x="4546600" y="4783667"/>
              <a:ext cx="381000" cy="23706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30E7E39-BA3D-CBC9-E525-82CEA4B73C97}"/>
                </a:ext>
              </a:extLst>
            </p:cNvPr>
            <p:cNvCxnSpPr/>
            <p:nvPr/>
          </p:nvCxnSpPr>
          <p:spPr>
            <a:xfrm>
              <a:off x="4419600" y="4597400"/>
              <a:ext cx="135467" cy="440267"/>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BC888EB-AE7F-DCBC-47ED-F6C4CFBB3AF6}"/>
                </a:ext>
              </a:extLst>
            </p:cNvPr>
            <p:cNvCxnSpPr/>
            <p:nvPr/>
          </p:nvCxnSpPr>
          <p:spPr>
            <a:xfrm flipH="1" flipV="1">
              <a:off x="3378200" y="3784600"/>
              <a:ext cx="1041400" cy="829732"/>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pic>
        <p:nvPicPr>
          <p:cNvPr id="21" name="図 20" descr="手の指&#10;&#10;AI 生成コンテンツは誤りを含む可能性があります。">
            <a:extLst>
              <a:ext uri="{FF2B5EF4-FFF2-40B4-BE49-F238E27FC236}">
                <a16:creationId xmlns:a16="http://schemas.microsoft.com/office/drawing/2014/main" id="{EAD9EEA0-1ED0-0DF3-C82A-89977D291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89327"/>
            <a:ext cx="1776513" cy="2662689"/>
          </a:xfrm>
          <a:prstGeom prst="rect">
            <a:avLst/>
          </a:prstGeom>
        </p:spPr>
      </p:pic>
      <p:pic>
        <p:nvPicPr>
          <p:cNvPr id="23" name="図 22" descr="木の枝で植えている植物&#10;&#10;AI 生成コンテンツは誤りを含む可能性があります。">
            <a:extLst>
              <a:ext uri="{FF2B5EF4-FFF2-40B4-BE49-F238E27FC236}">
                <a16:creationId xmlns:a16="http://schemas.microsoft.com/office/drawing/2014/main" id="{E379CF84-1FB3-561A-D466-7A2819CA3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6400" y="4102894"/>
            <a:ext cx="3970580" cy="2649122"/>
          </a:xfrm>
          <a:prstGeom prst="rect">
            <a:avLst/>
          </a:prstGeom>
        </p:spPr>
      </p:pic>
      <p:sp>
        <p:nvSpPr>
          <p:cNvPr id="4" name="円: 塗りつぶしなし 3">
            <a:extLst>
              <a:ext uri="{FF2B5EF4-FFF2-40B4-BE49-F238E27FC236}">
                <a16:creationId xmlns:a16="http://schemas.microsoft.com/office/drawing/2014/main" id="{3DA1E43E-2833-735E-CB6D-98F3F2ADAB7F}"/>
              </a:ext>
            </a:extLst>
          </p:cNvPr>
          <p:cNvSpPr/>
          <p:nvPr/>
        </p:nvSpPr>
        <p:spPr>
          <a:xfrm rot="20274091">
            <a:off x="1089505" y="5387599"/>
            <a:ext cx="1235703" cy="640514"/>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円: 塗りつぶしなし 4">
            <a:extLst>
              <a:ext uri="{FF2B5EF4-FFF2-40B4-BE49-F238E27FC236}">
                <a16:creationId xmlns:a16="http://schemas.microsoft.com/office/drawing/2014/main" id="{CA66F650-6D7B-C5A2-D936-554CE2939A4C}"/>
              </a:ext>
            </a:extLst>
          </p:cNvPr>
          <p:cNvSpPr/>
          <p:nvPr/>
        </p:nvSpPr>
        <p:spPr>
          <a:xfrm rot="20274091">
            <a:off x="4925953" y="4664216"/>
            <a:ext cx="1914398" cy="1634909"/>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707612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258B790-D828-DAB9-236A-16783571E457}"/>
              </a:ext>
            </a:extLst>
          </p:cNvPr>
          <p:cNvSpPr/>
          <p:nvPr/>
        </p:nvSpPr>
        <p:spPr>
          <a:xfrm>
            <a:off x="838200" y="3068320"/>
            <a:ext cx="10144760" cy="1069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8496F439-E139-5F76-6165-5790FDE3BC73}"/>
              </a:ext>
            </a:extLst>
          </p:cNvPr>
          <p:cNvSpPr>
            <a:spLocks noGrp="1"/>
          </p:cNvSpPr>
          <p:nvPr>
            <p:ph type="title"/>
          </p:nvPr>
        </p:nvSpPr>
        <p:spPr/>
        <p:txBody>
          <a:bodyPr/>
          <a:lstStyle/>
          <a:p>
            <a:r>
              <a:rPr lang="en-US" altLang="ja-JP" b="1" dirty="0"/>
              <a:t>BSSRDF</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693B7CE6-D258-79EE-EC78-0EF9938EE5C7}"/>
                  </a:ext>
                </a:extLst>
              </p:cNvPr>
              <p:cNvSpPr>
                <a:spLocks noGrp="1"/>
              </p:cNvSpPr>
              <p:nvPr>
                <p:ph idx="1"/>
              </p:nvPr>
            </p:nvSpPr>
            <p:spPr>
              <a:xfrm>
                <a:off x="838200" y="1862423"/>
                <a:ext cx="10515600" cy="4351338"/>
              </a:xfrm>
            </p:spPr>
            <p:txBody>
              <a:bodyPr/>
              <a:lstStyle/>
              <a:p>
                <a:pPr marL="0" indent="0">
                  <a:buNone/>
                </a:pPr>
                <a:r>
                  <a:rPr lang="ja-JP" altLang="en-US" dirty="0"/>
                  <a:t>表面下散乱を取り扱える反射モデル。</a:t>
                </a:r>
                <a:endParaRPr lang="en-US" altLang="ja-JP" dirty="0"/>
              </a:p>
              <a:p>
                <a:pPr marL="0" indent="0">
                  <a:buNone/>
                </a:pPr>
                <a:r>
                  <a:rPr lang="ja-JP" altLang="en-US" dirty="0"/>
                  <a:t>通常の</a:t>
                </a:r>
                <a:r>
                  <a:rPr lang="en-US" altLang="ja-JP" dirty="0"/>
                  <a:t>BRDF</a:t>
                </a:r>
                <a:r>
                  <a:rPr lang="ja-JP" altLang="en-US" dirty="0"/>
                  <a:t>と異なり、</a:t>
                </a:r>
                <a:r>
                  <a:rPr lang="ja-JP" altLang="en-US" u="sng" dirty="0"/>
                  <a:t>異なる位置間の光のやり取り</a:t>
                </a:r>
                <a:r>
                  <a:rPr lang="ja-JP" altLang="en-US" dirty="0"/>
                  <a:t>を扱える。</a:t>
                </a:r>
                <a:br>
                  <a:rPr lang="en-US" altLang="ja-JP" dirty="0"/>
                </a:br>
                <a:br>
                  <a:rPr lang="en-US" altLang="ja-JP" dirty="0"/>
                </a:br>
                <a14:m>
                  <m:oMathPara xmlns:m="http://schemas.openxmlformats.org/officeDocument/2006/math">
                    <m:oMathParaPr>
                      <m:jc m:val="left"/>
                    </m:oMathParaPr>
                    <m:oMath xmlns:m="http://schemas.openxmlformats.org/officeDocument/2006/math">
                      <m:r>
                        <a:rPr lang="en-US" altLang="ja-JP" b="0" i="1" smtClean="0">
                          <a:latin typeface="Cambria Math" panose="02040503050406030204" pitchFamily="18" charset="0"/>
                        </a:rPr>
                        <m:t>𝑆</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𝜔</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𝑑𝐿</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0</m:t>
                              </m:r>
                            </m:sub>
                          </m:sSub>
                          <m:r>
                            <a:rPr lang="en-US" altLang="ja-JP" b="0" i="1" smtClean="0">
                              <a:latin typeface="Cambria Math" panose="02040503050406030204" pitchFamily="18" charset="0"/>
                            </a:rPr>
                            <m:t>)</m:t>
                          </m:r>
                        </m:num>
                        <m:den>
                          <m:r>
                            <a:rPr lang="en-US" altLang="ja-JP" b="0" i="1" smtClean="0">
                              <a:latin typeface="Cambria Math" panose="02040503050406030204" pitchFamily="18" charset="0"/>
                            </a:rPr>
                            <m:t>𝑑</m:t>
                          </m:r>
                          <m:r>
                            <m:rPr>
                              <m:sty m:val="p"/>
                            </m:rPr>
                            <a:rPr lang="en-US" altLang="ja-JP" i="1">
                              <a:latin typeface="Cambria Math" panose="02040503050406030204" pitchFamily="18" charset="0"/>
                            </a:rPr>
                            <m:t>Φ</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𝑖</m:t>
                              </m:r>
                            </m:sub>
                          </m:sSub>
                          <m:r>
                            <a:rPr lang="en-US" altLang="ja-JP" b="0" i="1" smtClean="0">
                              <a:latin typeface="Cambria Math" panose="02040503050406030204" pitchFamily="18" charset="0"/>
                            </a:rPr>
                            <m:t>)</m:t>
                          </m:r>
                        </m:den>
                      </m:f>
                    </m:oMath>
                  </m:oMathPara>
                </a14:m>
                <a:endParaRPr lang="ja-JP" altLang="en-US"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693B7CE6-D258-79EE-EC78-0EF9938EE5C7}"/>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9A4DAF0D-FBB5-A7CD-0F27-60FC59C753DE}"/>
              </a:ext>
            </a:extLst>
          </p:cNvPr>
          <p:cNvPicPr>
            <a:picLocks noChangeAspect="1"/>
          </p:cNvPicPr>
          <p:nvPr/>
        </p:nvPicPr>
        <p:blipFill>
          <a:blip r:embed="rId4"/>
          <a:stretch>
            <a:fillRect/>
          </a:stretch>
        </p:blipFill>
        <p:spPr>
          <a:xfrm>
            <a:off x="838199" y="4137580"/>
            <a:ext cx="3164840" cy="2489015"/>
          </a:xfrm>
          <a:prstGeom prst="rect">
            <a:avLst/>
          </a:prstGeom>
        </p:spPr>
      </p:pic>
      <p:pic>
        <p:nvPicPr>
          <p:cNvPr id="8" name="図 7">
            <a:extLst>
              <a:ext uri="{FF2B5EF4-FFF2-40B4-BE49-F238E27FC236}">
                <a16:creationId xmlns:a16="http://schemas.microsoft.com/office/drawing/2014/main" id="{8598482D-30AF-3750-2CBF-567B35A8FF58}"/>
              </a:ext>
            </a:extLst>
          </p:cNvPr>
          <p:cNvPicPr>
            <a:picLocks noChangeAspect="1"/>
          </p:cNvPicPr>
          <p:nvPr/>
        </p:nvPicPr>
        <p:blipFill>
          <a:blip r:embed="rId5"/>
          <a:stretch>
            <a:fillRect/>
          </a:stretch>
        </p:blipFill>
        <p:spPr>
          <a:xfrm>
            <a:off x="4513580" y="4137581"/>
            <a:ext cx="3164839" cy="2489014"/>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5C9D29C-20FD-9E00-DDFD-8CAAD0162378}"/>
                  </a:ext>
                </a:extLst>
              </p:cNvPr>
              <p:cNvSpPr txBox="1"/>
              <p:nvPr/>
            </p:nvSpPr>
            <p:spPr>
              <a:xfrm>
                <a:off x="6969760" y="3244334"/>
                <a:ext cx="4990410" cy="830997"/>
              </a:xfrm>
              <a:prstGeom prst="rect">
                <a:avLst/>
              </a:prstGeom>
              <a:noFill/>
            </p:spPr>
            <p:txBody>
              <a:bodyPr wrap="square" rtlCol="0">
                <a:spAutoFit/>
              </a:bodyPr>
              <a:lstStyle/>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en-US" altLang="ja-JP" sz="2400" dirty="0"/>
                  <a:t>=</a:t>
                </a:r>
                <a:r>
                  <a:rPr kumimoji="1" lang="ja-JP" altLang="en-US" sz="2400" dirty="0"/>
                  <a:t>出射点　</a:t>
                </a:r>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0</m:t>
                        </m:r>
                      </m:sub>
                    </m:sSub>
                  </m:oMath>
                </a14:m>
                <a:r>
                  <a:rPr kumimoji="1" lang="en-US" altLang="ja-JP" sz="2400" dirty="0"/>
                  <a:t>=</a:t>
                </a:r>
                <a:r>
                  <a:rPr kumimoji="1" lang="ja-JP" altLang="en-US" sz="2400" dirty="0"/>
                  <a:t>出射方向</a:t>
                </a:r>
                <a:endParaRPr kumimoji="1"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𝑖</m:t>
                        </m:r>
                      </m:sub>
                    </m:sSub>
                  </m:oMath>
                </a14:m>
                <a:r>
                  <a:rPr lang="en-US" altLang="ja-JP" sz="2400" dirty="0"/>
                  <a:t>=</a:t>
                </a:r>
                <a:r>
                  <a:rPr lang="ja-JP" altLang="en-US" sz="2400" dirty="0"/>
                  <a:t>入射点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𝑖</m:t>
                        </m:r>
                      </m:sub>
                    </m:sSub>
                  </m:oMath>
                </a14:m>
                <a:r>
                  <a:rPr kumimoji="1" lang="en-US" altLang="ja-JP" sz="2400" dirty="0"/>
                  <a:t>=</a:t>
                </a:r>
                <a:r>
                  <a:rPr kumimoji="1" lang="ja-JP" altLang="en-US" sz="2400" dirty="0"/>
                  <a:t>入射方向</a:t>
                </a:r>
                <a:endParaRPr kumimoji="1" lang="en-US" altLang="ja-JP" sz="2400" dirty="0"/>
              </a:p>
            </p:txBody>
          </p:sp>
        </mc:Choice>
        <mc:Fallback xmlns="">
          <p:sp>
            <p:nvSpPr>
              <p:cNvPr id="9" name="テキスト ボックス 8">
                <a:extLst>
                  <a:ext uri="{FF2B5EF4-FFF2-40B4-BE49-F238E27FC236}">
                    <a16:creationId xmlns:a16="http://schemas.microsoft.com/office/drawing/2014/main" id="{45C9D29C-20FD-9E00-DDFD-8CAAD0162378}"/>
                  </a:ext>
                </a:extLst>
              </p:cNvPr>
              <p:cNvSpPr txBox="1">
                <a:spLocks noRot="1" noChangeAspect="1" noMove="1" noResize="1" noEditPoints="1" noAdjustHandles="1" noChangeArrowheads="1" noChangeShapeType="1" noTextEdit="1"/>
              </p:cNvSpPr>
              <p:nvPr/>
            </p:nvSpPr>
            <p:spPr>
              <a:xfrm>
                <a:off x="6969760" y="3244334"/>
                <a:ext cx="4990410" cy="830997"/>
              </a:xfrm>
              <a:prstGeom prst="rect">
                <a:avLst/>
              </a:prstGeom>
              <a:blipFill>
                <a:blip r:embed="rId6"/>
                <a:stretch>
                  <a:fillRect t="-5839" b="-1532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7CE50F2-DCDC-B4E1-1155-3B09D380BA90}"/>
              </a:ext>
            </a:extLst>
          </p:cNvPr>
          <p:cNvSpPr txBox="1"/>
          <p:nvPr/>
        </p:nvSpPr>
        <p:spPr>
          <a:xfrm>
            <a:off x="3085147" y="6584472"/>
            <a:ext cx="3500967" cy="369332"/>
          </a:xfrm>
          <a:prstGeom prst="rect">
            <a:avLst/>
          </a:prstGeom>
          <a:noFill/>
        </p:spPr>
        <p:txBody>
          <a:bodyPr wrap="square" rtlCol="0">
            <a:spAutoFit/>
          </a:bodyPr>
          <a:lstStyle/>
          <a:p>
            <a:r>
              <a:rPr kumimoji="1" lang="ja-JP" altLang="en-US" dirty="0"/>
              <a:t>（</a:t>
            </a:r>
            <a:r>
              <a:rPr kumimoji="1" lang="en-US" altLang="ja-JP" dirty="0"/>
              <a:t>Jensen</a:t>
            </a:r>
            <a:r>
              <a:rPr kumimoji="1" lang="ja-JP" altLang="en-US" dirty="0"/>
              <a:t>　</a:t>
            </a:r>
            <a:r>
              <a:rPr kumimoji="1" lang="en-US" altLang="ja-JP" dirty="0"/>
              <a:t>2001</a:t>
            </a:r>
            <a:r>
              <a:rPr kumimoji="1" lang="ja-JP" altLang="en-US" dirty="0"/>
              <a:t>）</a:t>
            </a:r>
          </a:p>
        </p:txBody>
      </p:sp>
    </p:spTree>
    <p:extLst>
      <p:ext uri="{BB962C8B-B14F-4D97-AF65-F5344CB8AC3E}">
        <p14:creationId xmlns:p14="http://schemas.microsoft.com/office/powerpoint/2010/main" val="3349332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17C24-DD8E-D201-3088-094AF0D9A1B0}"/>
              </a:ext>
            </a:extLst>
          </p:cNvPr>
          <p:cNvSpPr>
            <a:spLocks noGrp="1"/>
          </p:cNvSpPr>
          <p:nvPr>
            <p:ph type="title"/>
          </p:nvPr>
        </p:nvSpPr>
        <p:spPr/>
        <p:txBody>
          <a:bodyPr/>
          <a:lstStyle/>
          <a:p>
            <a:r>
              <a:rPr lang="ja-JP" altLang="en-US" dirty="0"/>
              <a:t>関連研究</a:t>
            </a:r>
            <a:endParaRPr kumimoji="1" lang="ja-JP" altLang="en-US" dirty="0"/>
          </a:p>
        </p:txBody>
      </p:sp>
      <p:sp>
        <p:nvSpPr>
          <p:cNvPr id="3" name="コンテンツ プレースホルダー 2">
            <a:extLst>
              <a:ext uri="{FF2B5EF4-FFF2-40B4-BE49-F238E27FC236}">
                <a16:creationId xmlns:a16="http://schemas.microsoft.com/office/drawing/2014/main" id="{E9C13D29-D218-3D62-2131-93DA6DC63D08}"/>
              </a:ext>
            </a:extLst>
          </p:cNvPr>
          <p:cNvSpPr>
            <a:spLocks noGrp="1"/>
          </p:cNvSpPr>
          <p:nvPr>
            <p:ph idx="1"/>
          </p:nvPr>
        </p:nvSpPr>
        <p:spPr>
          <a:xfrm>
            <a:off x="838200" y="1825625"/>
            <a:ext cx="10515600" cy="4667250"/>
          </a:xfrm>
        </p:spPr>
        <p:txBody>
          <a:bodyPr>
            <a:normAutofit/>
          </a:bodyPr>
          <a:lstStyle/>
          <a:p>
            <a:pPr marL="0" indent="0">
              <a:buNone/>
            </a:pPr>
            <a:r>
              <a:rPr kumimoji="1" lang="ja-JP" altLang="en-US" dirty="0"/>
              <a:t>皮膚の不均質性を扱う研究はこれまでにも存在してきた。</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r>
              <a:rPr kumimoji="1" lang="ja-JP" altLang="en-US" b="1" dirty="0"/>
              <a:t>髭そのもの</a:t>
            </a:r>
            <a:r>
              <a:rPr kumimoji="1" lang="ja-JP" altLang="en-US" dirty="0"/>
              <a:t>を明示的に扱っているものは存在しない</a:t>
            </a:r>
          </a:p>
        </p:txBody>
      </p:sp>
      <p:pic>
        <p:nvPicPr>
          <p:cNvPr id="4" name="コンテンツ プレースホルダー 3">
            <a:extLst>
              <a:ext uri="{FF2B5EF4-FFF2-40B4-BE49-F238E27FC236}">
                <a16:creationId xmlns:a16="http://schemas.microsoft.com/office/drawing/2014/main" id="{A944F24C-F840-D80B-E7DF-76252804DF32}"/>
              </a:ext>
            </a:extLst>
          </p:cNvPr>
          <p:cNvPicPr>
            <a:picLocks noChangeAspect="1"/>
          </p:cNvPicPr>
          <p:nvPr/>
        </p:nvPicPr>
        <p:blipFill>
          <a:blip r:embed="rId3"/>
          <a:stretch>
            <a:fillRect/>
          </a:stretch>
        </p:blipFill>
        <p:spPr>
          <a:xfrm>
            <a:off x="1579231" y="2407151"/>
            <a:ext cx="3031958" cy="2564475"/>
          </a:xfrm>
          <a:prstGeom prst="rect">
            <a:avLst/>
          </a:prstGeom>
        </p:spPr>
      </p:pic>
      <p:pic>
        <p:nvPicPr>
          <p:cNvPr id="5" name="図 4">
            <a:extLst>
              <a:ext uri="{FF2B5EF4-FFF2-40B4-BE49-F238E27FC236}">
                <a16:creationId xmlns:a16="http://schemas.microsoft.com/office/drawing/2014/main" id="{8DC72D72-67C2-79FF-D74F-76099C9D827F}"/>
              </a:ext>
            </a:extLst>
          </p:cNvPr>
          <p:cNvPicPr>
            <a:picLocks noChangeAspect="1"/>
          </p:cNvPicPr>
          <p:nvPr/>
        </p:nvPicPr>
        <p:blipFill>
          <a:blip r:embed="rId4"/>
          <a:stretch>
            <a:fillRect/>
          </a:stretch>
        </p:blipFill>
        <p:spPr>
          <a:xfrm>
            <a:off x="7580813" y="2633577"/>
            <a:ext cx="3389641" cy="2270582"/>
          </a:xfrm>
          <a:prstGeom prst="rect">
            <a:avLst/>
          </a:prstGeom>
        </p:spPr>
      </p:pic>
      <p:sp>
        <p:nvSpPr>
          <p:cNvPr id="6" name="テキスト ボックス 5">
            <a:extLst>
              <a:ext uri="{FF2B5EF4-FFF2-40B4-BE49-F238E27FC236}">
                <a16:creationId xmlns:a16="http://schemas.microsoft.com/office/drawing/2014/main" id="{03B141D6-CAEE-30D4-D4F2-F3BB415F1D3E}"/>
              </a:ext>
            </a:extLst>
          </p:cNvPr>
          <p:cNvSpPr txBox="1"/>
          <p:nvPr/>
        </p:nvSpPr>
        <p:spPr>
          <a:xfrm>
            <a:off x="646782" y="4971626"/>
            <a:ext cx="6087292" cy="646331"/>
          </a:xfrm>
          <a:prstGeom prst="rect">
            <a:avLst/>
          </a:prstGeom>
          <a:noFill/>
        </p:spPr>
        <p:txBody>
          <a:bodyPr wrap="square" rtlCol="0">
            <a:spAutoFit/>
          </a:bodyPr>
          <a:lstStyle/>
          <a:p>
            <a:r>
              <a:rPr lang="en-US" altLang="ja-JP" dirty="0"/>
              <a:t>A Layered, Heterogeneous Reflectance Model for Acquiring and Rendering Human Skin (2008)</a:t>
            </a:r>
            <a:endParaRPr kumimoji="1" lang="ja-JP" altLang="en-US" dirty="0"/>
          </a:p>
        </p:txBody>
      </p:sp>
      <p:sp>
        <p:nvSpPr>
          <p:cNvPr id="7" name="テキスト ボックス 6">
            <a:extLst>
              <a:ext uri="{FF2B5EF4-FFF2-40B4-BE49-F238E27FC236}">
                <a16:creationId xmlns:a16="http://schemas.microsoft.com/office/drawing/2014/main" id="{17EDA9DF-5005-46AC-B7B2-C17FA6B2FC53}"/>
              </a:ext>
            </a:extLst>
          </p:cNvPr>
          <p:cNvSpPr txBox="1"/>
          <p:nvPr/>
        </p:nvSpPr>
        <p:spPr>
          <a:xfrm>
            <a:off x="7038703" y="4971627"/>
            <a:ext cx="5153297" cy="646331"/>
          </a:xfrm>
          <a:prstGeom prst="rect">
            <a:avLst/>
          </a:prstGeom>
          <a:noFill/>
        </p:spPr>
        <p:txBody>
          <a:bodyPr wrap="square" rtlCol="0">
            <a:spAutoFit/>
          </a:bodyPr>
          <a:lstStyle/>
          <a:p>
            <a:r>
              <a:rPr lang="ja-JP" altLang="en-US" dirty="0"/>
              <a:t>多層表面下散乱モデルによる皮膚の異方性散乱と不均一性の表現（</a:t>
            </a:r>
            <a:r>
              <a:rPr lang="en-US" altLang="ja-JP" dirty="0"/>
              <a:t>2009</a:t>
            </a:r>
            <a:r>
              <a:rPr lang="ja-JP" altLang="en-US" dirty="0"/>
              <a:t>）</a:t>
            </a:r>
            <a:endParaRPr kumimoji="1" lang="ja-JP" altLang="en-US" dirty="0"/>
          </a:p>
        </p:txBody>
      </p:sp>
    </p:spTree>
    <p:extLst>
      <p:ext uri="{BB962C8B-B14F-4D97-AF65-F5344CB8AC3E}">
        <p14:creationId xmlns:p14="http://schemas.microsoft.com/office/powerpoint/2010/main" val="2287404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984F3-4234-E43D-0D2E-88EAED093B45}"/>
              </a:ext>
            </a:extLst>
          </p:cNvPr>
          <p:cNvSpPr>
            <a:spLocks noGrp="1"/>
          </p:cNvSpPr>
          <p:nvPr>
            <p:ph type="title"/>
          </p:nvPr>
        </p:nvSpPr>
        <p:spPr/>
        <p:txBody>
          <a:bodyPr/>
          <a:lstStyle/>
          <a:p>
            <a:r>
              <a:rPr kumimoji="1" lang="ja-JP" altLang="en-US" dirty="0"/>
              <a:t>提案手法</a:t>
            </a:r>
          </a:p>
        </p:txBody>
      </p:sp>
      <p:sp>
        <p:nvSpPr>
          <p:cNvPr id="3" name="コンテンツ プレースホルダー 2">
            <a:extLst>
              <a:ext uri="{FF2B5EF4-FFF2-40B4-BE49-F238E27FC236}">
                <a16:creationId xmlns:a16="http://schemas.microsoft.com/office/drawing/2014/main" id="{FD264116-E1A5-1C27-A5BA-3A480D7CEC60}"/>
              </a:ext>
            </a:extLst>
          </p:cNvPr>
          <p:cNvSpPr>
            <a:spLocks noGrp="1"/>
          </p:cNvSpPr>
          <p:nvPr>
            <p:ph idx="1"/>
          </p:nvPr>
        </p:nvSpPr>
        <p:spPr>
          <a:xfrm>
            <a:off x="838200" y="1567543"/>
            <a:ext cx="10515600" cy="4609420"/>
          </a:xfrm>
        </p:spPr>
        <p:txBody>
          <a:bodyPr/>
          <a:lstStyle/>
          <a:p>
            <a:pPr marL="0" indent="0">
              <a:buNone/>
            </a:pPr>
            <a:r>
              <a:rPr kumimoji="1" lang="ja-JP" altLang="en-US" dirty="0"/>
              <a:t>ジオメトリ表面に対して「髭密度マップ」を定義</a:t>
            </a:r>
            <a:endParaRPr kumimoji="1" lang="en-US" altLang="ja-JP" dirty="0"/>
          </a:p>
          <a:p>
            <a:pPr marL="0" indent="0">
              <a:buNone/>
            </a:pPr>
            <a:r>
              <a:rPr lang="ja-JP" altLang="en-US" dirty="0"/>
              <a:t>左の</a:t>
            </a:r>
            <a:r>
              <a:rPr lang="en-US" altLang="ja-JP" dirty="0"/>
              <a:t>2</a:t>
            </a:r>
            <a:r>
              <a:rPr lang="ja-JP" altLang="en-US" dirty="0"/>
              <a:t>枚（髭密度</a:t>
            </a:r>
            <a:r>
              <a:rPr lang="en-US" altLang="ja-JP" dirty="0"/>
              <a:t>0</a:t>
            </a:r>
            <a:r>
              <a:rPr lang="ja-JP" altLang="en-US" dirty="0"/>
              <a:t>と</a:t>
            </a:r>
            <a:r>
              <a:rPr lang="en-US" altLang="ja-JP" dirty="0"/>
              <a:t>1</a:t>
            </a:r>
            <a:r>
              <a:rPr lang="ja-JP" altLang="en-US" dirty="0"/>
              <a:t>）を基準として，中央の髭密度マップで両者を位置ごとに混合し，右のような不均質な皮膚の見えを得る</a:t>
            </a:r>
            <a:endParaRPr kumimoji="1" lang="en-US" altLang="ja-JP" dirty="0"/>
          </a:p>
          <a:p>
            <a:endParaRPr kumimoji="1" lang="ja-JP" altLang="en-US" dirty="0"/>
          </a:p>
        </p:txBody>
      </p:sp>
      <p:pic>
        <p:nvPicPr>
          <p:cNvPr id="7" name="図 6" descr="アイコン&#10;&#10;AI 生成コンテンツは誤りを含む可能性があります。">
            <a:extLst>
              <a:ext uri="{FF2B5EF4-FFF2-40B4-BE49-F238E27FC236}">
                <a16:creationId xmlns:a16="http://schemas.microsoft.com/office/drawing/2014/main" id="{43848720-1E7E-EA6A-9C06-A8B5BA7C15FF}"/>
              </a:ext>
            </a:extLst>
          </p:cNvPr>
          <p:cNvPicPr>
            <a:picLocks noChangeAspect="1"/>
          </p:cNvPicPr>
          <p:nvPr/>
        </p:nvPicPr>
        <p:blipFill>
          <a:blip r:embed="rId3"/>
          <a:stretch>
            <a:fillRect/>
          </a:stretch>
        </p:blipFill>
        <p:spPr>
          <a:xfrm>
            <a:off x="426391" y="3153660"/>
            <a:ext cx="2211734" cy="1658801"/>
          </a:xfrm>
          <a:prstGeom prst="rect">
            <a:avLst/>
          </a:prstGeom>
        </p:spPr>
      </p:pic>
      <p:cxnSp>
        <p:nvCxnSpPr>
          <p:cNvPr id="9" name="直線矢印コネクタ 8">
            <a:extLst>
              <a:ext uri="{FF2B5EF4-FFF2-40B4-BE49-F238E27FC236}">
                <a16:creationId xmlns:a16="http://schemas.microsoft.com/office/drawing/2014/main" id="{7FA41B77-8187-4D95-8006-C001A5A2C8B8}"/>
              </a:ext>
            </a:extLst>
          </p:cNvPr>
          <p:cNvCxnSpPr/>
          <p:nvPr/>
        </p:nvCxnSpPr>
        <p:spPr>
          <a:xfrm>
            <a:off x="6487491" y="4849977"/>
            <a:ext cx="87521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AutoShape 2" descr="画像をアップロードしました">
            <a:extLst>
              <a:ext uri="{FF2B5EF4-FFF2-40B4-BE49-F238E27FC236}">
                <a16:creationId xmlns:a16="http://schemas.microsoft.com/office/drawing/2014/main" id="{5142CE5B-7094-1844-1A5D-5C3366BCBDCF}"/>
              </a:ext>
            </a:extLst>
          </p:cNvPr>
          <p:cNvSpPr>
            <a:spLocks noChangeAspect="1" noChangeArrowheads="1"/>
          </p:cNvSpPr>
          <p:nvPr/>
        </p:nvSpPr>
        <p:spPr bwMode="auto">
          <a:xfrm>
            <a:off x="7053943" y="27821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 name="AutoShape 4" descr="画像をアップロードしました">
            <a:extLst>
              <a:ext uri="{FF2B5EF4-FFF2-40B4-BE49-F238E27FC236}">
                <a16:creationId xmlns:a16="http://schemas.microsoft.com/office/drawing/2014/main" id="{C2B167C4-0FD3-2D18-5640-28D051CDDF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3" name="図 12" descr="アイコン が含まれている画像&#10;&#10;AI 生成コンテンツは誤りを含む可能性があります。">
            <a:extLst>
              <a:ext uri="{FF2B5EF4-FFF2-40B4-BE49-F238E27FC236}">
                <a16:creationId xmlns:a16="http://schemas.microsoft.com/office/drawing/2014/main" id="{77DEDEF1-1C41-457C-70A5-8215EA7EF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040" y="5096885"/>
            <a:ext cx="2211734" cy="1585051"/>
          </a:xfrm>
          <a:prstGeom prst="rect">
            <a:avLst/>
          </a:prstGeom>
        </p:spPr>
      </p:pic>
      <p:sp>
        <p:nvSpPr>
          <p:cNvPr id="16" name="テキスト ボックス 15">
            <a:extLst>
              <a:ext uri="{FF2B5EF4-FFF2-40B4-BE49-F238E27FC236}">
                <a16:creationId xmlns:a16="http://schemas.microsoft.com/office/drawing/2014/main" id="{5F8EC302-BA2F-1C8D-8C46-53E5BAAF91BA}"/>
              </a:ext>
            </a:extLst>
          </p:cNvPr>
          <p:cNvSpPr txBox="1"/>
          <p:nvPr/>
        </p:nvSpPr>
        <p:spPr>
          <a:xfrm>
            <a:off x="3851999" y="6257303"/>
            <a:ext cx="1735002" cy="369332"/>
          </a:xfrm>
          <a:prstGeom prst="rect">
            <a:avLst/>
          </a:prstGeom>
          <a:noFill/>
        </p:spPr>
        <p:txBody>
          <a:bodyPr wrap="square" rtlCol="0">
            <a:spAutoFit/>
          </a:bodyPr>
          <a:lstStyle/>
          <a:p>
            <a:r>
              <a:rPr kumimoji="1" lang="ja-JP" altLang="en-US" dirty="0"/>
              <a:t>髭密度マップ</a:t>
            </a:r>
          </a:p>
        </p:txBody>
      </p:sp>
      <p:pic>
        <p:nvPicPr>
          <p:cNvPr id="6" name="図 5" descr="レンガの壁&#10;&#10;AI 生成コンテンツは誤りを含む可能性があります。">
            <a:extLst>
              <a:ext uri="{FF2B5EF4-FFF2-40B4-BE49-F238E27FC236}">
                <a16:creationId xmlns:a16="http://schemas.microsoft.com/office/drawing/2014/main" id="{ACF61D80-E14E-91D1-8D4A-BBC243FCBFE6}"/>
              </a:ext>
            </a:extLst>
          </p:cNvPr>
          <p:cNvPicPr>
            <a:picLocks noChangeAspect="1"/>
          </p:cNvPicPr>
          <p:nvPr/>
        </p:nvPicPr>
        <p:blipFill>
          <a:blip r:embed="rId5"/>
          <a:stretch>
            <a:fillRect/>
          </a:stretch>
        </p:blipFill>
        <p:spPr>
          <a:xfrm>
            <a:off x="7839268" y="3621405"/>
            <a:ext cx="3514531" cy="2635898"/>
          </a:xfrm>
          <a:prstGeom prst="rect">
            <a:avLst/>
          </a:prstGeom>
        </p:spPr>
      </p:pic>
      <p:pic>
        <p:nvPicPr>
          <p:cNvPr id="12" name="図 11" descr="テーブル, コンピュータ, ノートパソコン が含まれている画像&#10;&#10;AI 生成コンテンツは誤りを含む可能性があります。">
            <a:extLst>
              <a:ext uri="{FF2B5EF4-FFF2-40B4-BE49-F238E27FC236}">
                <a16:creationId xmlns:a16="http://schemas.microsoft.com/office/drawing/2014/main" id="{775C77DB-395F-3CB7-F2EB-1A2DC769834B}"/>
              </a:ext>
            </a:extLst>
          </p:cNvPr>
          <p:cNvPicPr>
            <a:picLocks noChangeAspect="1"/>
          </p:cNvPicPr>
          <p:nvPr/>
        </p:nvPicPr>
        <p:blipFill>
          <a:blip r:embed="rId6"/>
          <a:stretch>
            <a:fillRect/>
          </a:stretch>
        </p:blipFill>
        <p:spPr>
          <a:xfrm>
            <a:off x="7724037" y="3534982"/>
            <a:ext cx="3744992" cy="2808744"/>
          </a:xfrm>
          <a:prstGeom prst="rect">
            <a:avLst/>
          </a:prstGeom>
        </p:spPr>
      </p:pic>
      <p:pic>
        <p:nvPicPr>
          <p:cNvPr id="15" name="図 14" descr="食品, キーボード が含まれている画像&#10;&#10;AI 生成コンテンツは誤りを含む可能性があります。">
            <a:extLst>
              <a:ext uri="{FF2B5EF4-FFF2-40B4-BE49-F238E27FC236}">
                <a16:creationId xmlns:a16="http://schemas.microsoft.com/office/drawing/2014/main" id="{01F10880-8DA5-C030-EB60-2AC45669F9D0}"/>
              </a:ext>
            </a:extLst>
          </p:cNvPr>
          <p:cNvPicPr>
            <a:picLocks noChangeAspect="1"/>
          </p:cNvPicPr>
          <p:nvPr/>
        </p:nvPicPr>
        <p:blipFill>
          <a:blip r:embed="rId7"/>
          <a:stretch>
            <a:fillRect/>
          </a:stretch>
        </p:blipFill>
        <p:spPr>
          <a:xfrm>
            <a:off x="3311273" y="3455493"/>
            <a:ext cx="2438400" cy="2438400"/>
          </a:xfrm>
          <a:prstGeom prst="rect">
            <a:avLst/>
          </a:prstGeom>
        </p:spPr>
      </p:pic>
    </p:spTree>
    <p:extLst>
      <p:ext uri="{BB962C8B-B14F-4D97-AF65-F5344CB8AC3E}">
        <p14:creationId xmlns:p14="http://schemas.microsoft.com/office/powerpoint/2010/main" val="590409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EFBF-C10C-9E96-08EF-F22B303D0E16}"/>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19574E-4585-80DE-B348-8C2D659B86A6}"/>
              </a:ext>
            </a:extLst>
          </p:cNvPr>
          <p:cNvSpPr/>
          <p:nvPr/>
        </p:nvSpPr>
        <p:spPr>
          <a:xfrm>
            <a:off x="838200" y="3068320"/>
            <a:ext cx="10395857" cy="177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F2575F5E-4819-0AD0-4466-7B8091F47BAD}"/>
              </a:ext>
            </a:extLst>
          </p:cNvPr>
          <p:cNvSpPr>
            <a:spLocks noGrp="1"/>
          </p:cNvSpPr>
          <p:nvPr>
            <p:ph type="title"/>
          </p:nvPr>
        </p:nvSpPr>
        <p:spPr>
          <a:xfrm>
            <a:off x="838200" y="992777"/>
            <a:ext cx="10515600" cy="697911"/>
          </a:xfrm>
        </p:spPr>
        <p:txBody>
          <a:bodyPr>
            <a:normAutofit fontScale="90000"/>
          </a:bodyPr>
          <a:lstStyle/>
          <a:p>
            <a:r>
              <a:rPr lang="ja-JP" altLang="en-US" sz="4900" b="1" dirty="0"/>
              <a:t>定式化</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FBE3ABC-C439-5BB1-9735-154E893E116B}"/>
                  </a:ext>
                </a:extLst>
              </p:cNvPr>
              <p:cNvSpPr>
                <a:spLocks noGrp="1"/>
              </p:cNvSpPr>
              <p:nvPr>
                <p:ph idx="1"/>
              </p:nvPr>
            </p:nvSpPr>
            <p:spPr>
              <a:xfrm>
                <a:off x="838200" y="1862423"/>
                <a:ext cx="10515600" cy="4351338"/>
              </a:xfrm>
            </p:spPr>
            <p:txBody>
              <a:bodyPr>
                <a:normAutofit/>
              </a:bodyPr>
              <a:lstStyle/>
              <a:p>
                <a:pPr marL="0" indent="0">
                  <a:buNone/>
                </a:pPr>
                <a:r>
                  <a:rPr lang="ja-JP" altLang="en-US" dirty="0"/>
                  <a:t>「素の皮膚」と「髭ありの皮膚」の</a:t>
                </a:r>
                <a:r>
                  <a:rPr lang="en-US" altLang="ja-JP" dirty="0"/>
                  <a:t>BSSRDF</a:t>
                </a:r>
                <a:r>
                  <a:rPr lang="ja-JP" altLang="en-US" dirty="0"/>
                  <a:t>２つを使い、</a:t>
                </a:r>
                <a:endParaRPr lang="en-US" altLang="ja-JP" dirty="0"/>
              </a:p>
              <a:p>
                <a:pPr marL="0" indent="0">
                  <a:buNone/>
                </a:pPr>
                <a:r>
                  <a:rPr lang="ja-JP" altLang="en-US" dirty="0"/>
                  <a:t>髭密度によってその点での放射輝度</a:t>
                </a:r>
                <a14:m>
                  <m:oMath xmlns:m="http://schemas.openxmlformats.org/officeDocument/2006/math">
                    <m:r>
                      <a:rPr lang="en-US" altLang="ja-JP" b="0" i="1" smtClean="0">
                        <a:latin typeface="Cambria Math" panose="02040503050406030204" pitchFamily="18" charset="0"/>
                      </a:rPr>
                      <m:t>𝑅𝑑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ja-JP" altLang="en-US" dirty="0"/>
                  <a:t>を決定する。</a:t>
                </a:r>
                <a:br>
                  <a:rPr lang="en-US" altLang="ja-JP" dirty="0"/>
                </a:br>
                <a:br>
                  <a:rPr lang="en-US" altLang="ja-JP" dirty="0"/>
                </a:br>
                <a14:m>
                  <m:oMath xmlns:m="http://schemas.openxmlformats.org/officeDocument/2006/math">
                    <m:r>
                      <a:rPr lang="ja-JP" altLang="en-US" sz="3600" i="1" dirty="0">
                        <a:latin typeface="Cambria Math" panose="02040503050406030204" pitchFamily="18" charset="0"/>
                      </a:rPr>
                      <m:t>　　　</m:t>
                    </m:r>
                    <m:r>
                      <a:rPr lang="en-US" altLang="ja-JP" sz="3600" b="0" i="1" dirty="0" smtClean="0">
                        <a:latin typeface="Cambria Math" panose="02040503050406030204" pitchFamily="18" charset="0"/>
                      </a:rPr>
                      <m:t>𝑅𝑑</m:t>
                    </m:r>
                    <m:r>
                      <a:rPr lang="en-US" altLang="ja-JP" sz="3600" i="1" dirty="0" smtClean="0">
                        <a:latin typeface="Cambria Math" panose="02040503050406030204" pitchFamily="18" charset="0"/>
                      </a:rPr>
                      <m:t> </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)=(1−</m:t>
                    </m:r>
                    <m:r>
                      <a:rPr lang="ja-JP" altLang="en-US" sz="3600" b="0" i="1" smtClean="0">
                        <a:latin typeface="Cambria Math" panose="02040503050406030204" pitchFamily="18" charset="0"/>
                      </a:rPr>
                      <m:t>𝜌</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m:t>
                    </m:r>
                    <m:sSub>
                      <m:sSubPr>
                        <m:ctrlPr>
                          <a:rPr lang="en-US" altLang="ja-JP" sz="3600" i="1" smtClean="0">
                            <a:latin typeface="Cambria Math" panose="02040503050406030204" pitchFamily="18" charset="0"/>
                          </a:rPr>
                        </m:ctrlPr>
                      </m:sSubPr>
                      <m:e>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𝑠𝑘𝑖𝑛</m:t>
                        </m:r>
                      </m:sub>
                    </m:sSub>
                    <m:r>
                      <a:rPr lang="en-US" altLang="ja-JP" sz="3600" b="0" i="1" smtClean="0">
                        <a:latin typeface="Cambria Math" panose="02040503050406030204" pitchFamily="18" charset="0"/>
                      </a:rPr>
                      <m:t>+</m:t>
                    </m:r>
                  </m:oMath>
                </a14:m>
                <a:r>
                  <a:rPr lang="en-US" altLang="ja-JP" sz="3600" dirty="0"/>
                  <a:t> </a:t>
                </a:r>
                <a14:m>
                  <m:oMath xmlns:m="http://schemas.openxmlformats.org/officeDocument/2006/math">
                    <m:sSub>
                      <m:sSubPr>
                        <m:ctrlPr>
                          <a:rPr lang="en-US" altLang="ja-JP" sz="3600" i="1">
                            <a:latin typeface="Cambria Math" panose="02040503050406030204" pitchFamily="18" charset="0"/>
                          </a:rPr>
                        </m:ctrlPr>
                      </m:sSubPr>
                      <m:e>
                        <m:r>
                          <a:rPr lang="ja-JP" altLang="en-US" sz="3600" i="1">
                            <a:latin typeface="Cambria Math" panose="02040503050406030204" pitchFamily="18" charset="0"/>
                          </a:rPr>
                          <m:t>𝜌</m:t>
                        </m:r>
                        <m:d>
                          <m:dPr>
                            <m:ctrlPr>
                              <a:rPr lang="en-US" altLang="ja-JP" sz="3600" i="1">
                                <a:latin typeface="Cambria Math" panose="02040503050406030204" pitchFamily="18" charset="0"/>
                              </a:rPr>
                            </m:ctrlPr>
                          </m:dPr>
                          <m:e>
                            <m:r>
                              <a:rPr lang="en-US" altLang="ja-JP" sz="3600" i="1">
                                <a:latin typeface="Cambria Math" panose="02040503050406030204" pitchFamily="18" charset="0"/>
                              </a:rPr>
                              <m:t>𝑥</m:t>
                            </m:r>
                          </m:e>
                        </m:d>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𝑏𝑒𝑎𝑟𝑑</m:t>
                        </m:r>
                      </m:sub>
                    </m:sSub>
                  </m:oMath>
                </a14:m>
                <a:endParaRPr lang="ja-JP" altLang="en-US" sz="3600"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EFBE3ABC-C439-5BB1-9735-154E893E116B}"/>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7759989-BA29-E2CF-7C54-47276C95502A}"/>
                  </a:ext>
                </a:extLst>
              </p:cNvPr>
              <p:cNvSpPr txBox="1"/>
              <p:nvPr/>
            </p:nvSpPr>
            <p:spPr>
              <a:xfrm>
                <a:off x="838200" y="3957320"/>
                <a:ext cx="4844143" cy="830997"/>
              </a:xfrm>
              <a:prstGeom prst="rect">
                <a:avLst/>
              </a:prstGeom>
              <a:noFill/>
            </p:spPr>
            <p:txBody>
              <a:bodyPr wrap="square" rtlCol="0">
                <a:spAutoFit/>
              </a:bodyPr>
              <a:lstStyle/>
              <a:p>
                <a14:m>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𝑅𝑑</m:t>
                        </m:r>
                      </m:e>
                      <m:sub>
                        <m:r>
                          <a:rPr kumimoji="1" lang="en-US" altLang="ja-JP" sz="2400" b="0" i="1" smtClean="0">
                            <a:latin typeface="Cambria Math" panose="02040503050406030204" pitchFamily="18" charset="0"/>
                          </a:rPr>
                          <m:t>𝑠𝑘𝑖𝑛</m:t>
                        </m:r>
                      </m:sub>
                    </m:sSub>
                    <m:r>
                      <a:rPr kumimoji="1" lang="en-US" altLang="ja-JP" sz="2400" b="0" i="1" smtClean="0">
                        <a:latin typeface="Cambria Math" panose="02040503050406030204" pitchFamily="18" charset="0"/>
                      </a:rPr>
                      <m:t>   = </m:t>
                    </m:r>
                  </m:oMath>
                </a14:m>
                <a:r>
                  <a:rPr kumimoji="1" lang="ja-JP" altLang="en-US" sz="2400" dirty="0"/>
                  <a:t>素肌での</a:t>
                </a:r>
                <a:r>
                  <a:rPr lang="ja-JP" altLang="en-US" sz="2400" dirty="0"/>
                  <a:t>放射輝度</a:t>
                </a:r>
                <a:r>
                  <a:rPr kumimoji="1"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𝑅𝑑</m:t>
                        </m:r>
                      </m:e>
                      <m:sub>
                        <m:r>
                          <a:rPr lang="en-US" altLang="ja-JP" sz="2400" b="0" i="1" smtClean="0">
                            <a:latin typeface="Cambria Math" panose="02040503050406030204" pitchFamily="18" charset="0"/>
                          </a:rPr>
                          <m:t>𝑏𝑒𝑎𝑟𝑑</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髭込みでの</m:t>
                    </m:r>
                  </m:oMath>
                </a14:m>
                <a:r>
                  <a:rPr kumimoji="1" lang="ja-JP" altLang="en-US" sz="2400" dirty="0"/>
                  <a:t>放射輝度</a:t>
                </a:r>
                <a:endParaRPr kumimoji="1" lang="en-US" altLang="ja-JP" sz="2400" dirty="0"/>
              </a:p>
            </p:txBody>
          </p:sp>
        </mc:Choice>
        <mc:Fallback xmlns="">
          <p:sp>
            <p:nvSpPr>
              <p:cNvPr id="9" name="テキスト ボックス 8">
                <a:extLst>
                  <a:ext uri="{FF2B5EF4-FFF2-40B4-BE49-F238E27FC236}">
                    <a16:creationId xmlns:a16="http://schemas.microsoft.com/office/drawing/2014/main" id="{47759989-BA29-E2CF-7C54-47276C95502A}"/>
                  </a:ext>
                </a:extLst>
              </p:cNvPr>
              <p:cNvSpPr txBox="1">
                <a:spLocks noRot="1" noChangeAspect="1" noMove="1" noResize="1" noEditPoints="1" noAdjustHandles="1" noChangeArrowheads="1" noChangeShapeType="1" noTextEdit="1"/>
              </p:cNvSpPr>
              <p:nvPr/>
            </p:nvSpPr>
            <p:spPr>
              <a:xfrm>
                <a:off x="838200" y="3957320"/>
                <a:ext cx="4844143" cy="830997"/>
              </a:xfrm>
              <a:prstGeom prst="rect">
                <a:avLst/>
              </a:prstGeom>
              <a:blipFill>
                <a:blip r:embed="rId4"/>
                <a:stretch>
                  <a:fillRect l="-378" t="-5882"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4E2EA6A8-9CC5-6253-7551-811156CBAFFC}"/>
                  </a:ext>
                </a:extLst>
              </p:cNvPr>
              <p:cNvSpPr txBox="1"/>
              <p:nvPr/>
            </p:nvSpPr>
            <p:spPr>
              <a:xfrm>
                <a:off x="6509659" y="3957319"/>
                <a:ext cx="4844143" cy="474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ja-JP" altLang="en-US" sz="2400" i="1" smtClean="0">
                          <a:latin typeface="Cambria Math" panose="02040503050406030204" pitchFamily="18" charset="0"/>
                        </a:rPr>
                        <m:t>𝜌</m:t>
                      </m:r>
                      <m:r>
                        <a:rPr lang="en-US" altLang="ja-JP" sz="2400" i="1">
                          <a:latin typeface="Cambria Math" panose="02040503050406030204" pitchFamily="18" charset="0"/>
                        </a:rPr>
                        <m:t>(</m:t>
                      </m:r>
                      <m:r>
                        <a:rPr lang="en-US" altLang="ja-JP" sz="2400" i="1">
                          <a:latin typeface="Cambria Math" panose="02040503050406030204" pitchFamily="18" charset="0"/>
                        </a:rPr>
                        <m:t>𝑥</m:t>
                      </m:r>
                      <m:r>
                        <a:rPr lang="en-US" altLang="ja-JP" sz="2400" i="1">
                          <a:latin typeface="Cambria Math" panose="02040503050406030204" pitchFamily="18" charset="0"/>
                        </a:rPr>
                        <m:t>)=</m:t>
                      </m:r>
                      <m:r>
                        <a:rPr lang="ja-JP" altLang="en-US" sz="2400" i="1">
                          <a:latin typeface="Cambria Math" panose="02040503050406030204" pitchFamily="18" charset="0"/>
                        </a:rPr>
                        <m:t>髭密度</m:t>
                      </m:r>
                    </m:oMath>
                  </m:oMathPara>
                </a14:m>
                <a:endParaRPr kumimoji="1" lang="en-US" altLang="ja-JP" sz="2400" dirty="0"/>
              </a:p>
            </p:txBody>
          </p:sp>
        </mc:Choice>
        <mc:Fallback xmlns="">
          <p:sp>
            <p:nvSpPr>
              <p:cNvPr id="2" name="テキスト ボックス 1">
                <a:extLst>
                  <a:ext uri="{FF2B5EF4-FFF2-40B4-BE49-F238E27FC236}">
                    <a16:creationId xmlns:a16="http://schemas.microsoft.com/office/drawing/2014/main" id="{4E2EA6A8-9CC5-6253-7551-811156CBAFFC}"/>
                  </a:ext>
                </a:extLst>
              </p:cNvPr>
              <p:cNvSpPr txBox="1">
                <a:spLocks noRot="1" noChangeAspect="1" noMove="1" noResize="1" noEditPoints="1" noAdjustHandles="1" noChangeArrowheads="1" noChangeShapeType="1" noTextEdit="1"/>
              </p:cNvSpPr>
              <p:nvPr/>
            </p:nvSpPr>
            <p:spPr>
              <a:xfrm>
                <a:off x="6509659" y="3957319"/>
                <a:ext cx="4844143" cy="474938"/>
              </a:xfrm>
              <a:prstGeom prst="rect">
                <a:avLst/>
              </a:prstGeom>
              <a:blipFill>
                <a:blip r:embed="rId5"/>
                <a:stretch>
                  <a:fillRect b="-141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26304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B4BA0-1C00-7F10-91E6-D5C930052748}"/>
              </a:ext>
            </a:extLst>
          </p:cNvPr>
          <p:cNvSpPr>
            <a:spLocks noGrp="1"/>
          </p:cNvSpPr>
          <p:nvPr>
            <p:ph type="title"/>
          </p:nvPr>
        </p:nvSpPr>
        <p:spPr/>
        <p:txBody>
          <a:bodyPr/>
          <a:lstStyle/>
          <a:p>
            <a:r>
              <a:rPr kumimoji="1" lang="ja-JP" altLang="en-US" dirty="0"/>
              <a:t>結果比較</a:t>
            </a:r>
          </a:p>
        </p:txBody>
      </p:sp>
      <p:sp>
        <p:nvSpPr>
          <p:cNvPr id="3" name="コンテンツ プレースホルダー 2">
            <a:extLst>
              <a:ext uri="{FF2B5EF4-FFF2-40B4-BE49-F238E27FC236}">
                <a16:creationId xmlns:a16="http://schemas.microsoft.com/office/drawing/2014/main" id="{39F51016-98C0-7C45-EB95-6CAEA14A752D}"/>
              </a:ext>
            </a:extLst>
          </p:cNvPr>
          <p:cNvSpPr>
            <a:spLocks noGrp="1"/>
          </p:cNvSpPr>
          <p:nvPr>
            <p:ph idx="1"/>
          </p:nvPr>
        </p:nvSpPr>
        <p:spPr/>
        <p:txBody>
          <a:bodyPr/>
          <a:lstStyle/>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髭の濃い領域で暗さの増加が確認できる</a:t>
            </a:r>
            <a:endParaRPr lang="en-US" altLang="ja-JP" dirty="0"/>
          </a:p>
        </p:txBody>
      </p:sp>
      <p:sp>
        <p:nvSpPr>
          <p:cNvPr id="8" name="テキスト ボックス 7">
            <a:extLst>
              <a:ext uri="{FF2B5EF4-FFF2-40B4-BE49-F238E27FC236}">
                <a16:creationId xmlns:a16="http://schemas.microsoft.com/office/drawing/2014/main" id="{CCE3865F-8CEA-568A-C150-D9176C02A8A7}"/>
              </a:ext>
            </a:extLst>
          </p:cNvPr>
          <p:cNvSpPr txBox="1"/>
          <p:nvPr/>
        </p:nvSpPr>
        <p:spPr>
          <a:xfrm>
            <a:off x="2665913" y="1863289"/>
            <a:ext cx="2612571" cy="369332"/>
          </a:xfrm>
          <a:prstGeom prst="rect">
            <a:avLst/>
          </a:prstGeom>
          <a:noFill/>
        </p:spPr>
        <p:txBody>
          <a:bodyPr wrap="square" rtlCol="0">
            <a:spAutoFit/>
          </a:bodyPr>
          <a:lstStyle/>
          <a:p>
            <a:r>
              <a:rPr kumimoji="1" lang="ja-JP" altLang="en-US" dirty="0"/>
              <a:t>髭密度マップ適用無し</a:t>
            </a:r>
          </a:p>
        </p:txBody>
      </p:sp>
      <p:sp>
        <p:nvSpPr>
          <p:cNvPr id="9" name="正方形/長方形 8">
            <a:extLst>
              <a:ext uri="{FF2B5EF4-FFF2-40B4-BE49-F238E27FC236}">
                <a16:creationId xmlns:a16="http://schemas.microsoft.com/office/drawing/2014/main" id="{F1DFF7B5-F619-C4ED-6C54-A689196B83C9}"/>
              </a:ext>
            </a:extLst>
          </p:cNvPr>
          <p:cNvSpPr/>
          <p:nvPr/>
        </p:nvSpPr>
        <p:spPr>
          <a:xfrm>
            <a:off x="2342606" y="2209670"/>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45C7D7C-BD2F-D812-7F82-C3B7B61641A5}"/>
              </a:ext>
            </a:extLst>
          </p:cNvPr>
          <p:cNvSpPr/>
          <p:nvPr/>
        </p:nvSpPr>
        <p:spPr>
          <a:xfrm>
            <a:off x="7824652" y="2209670"/>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8C5D65D-49FE-A23E-BA4C-98B09E9E05DB}"/>
              </a:ext>
            </a:extLst>
          </p:cNvPr>
          <p:cNvSpPr txBox="1"/>
          <p:nvPr/>
        </p:nvSpPr>
        <p:spPr>
          <a:xfrm>
            <a:off x="8019506" y="1840338"/>
            <a:ext cx="2612571" cy="369332"/>
          </a:xfrm>
          <a:prstGeom prst="rect">
            <a:avLst/>
          </a:prstGeom>
          <a:noFill/>
        </p:spPr>
        <p:txBody>
          <a:bodyPr wrap="square" rtlCol="0">
            <a:spAutoFit/>
          </a:bodyPr>
          <a:lstStyle/>
          <a:p>
            <a:r>
              <a:rPr kumimoji="1" lang="ja-JP" altLang="en-US" dirty="0"/>
              <a:t>髭密度マップ適用あり</a:t>
            </a:r>
          </a:p>
        </p:txBody>
      </p:sp>
    </p:spTree>
    <p:extLst>
      <p:ext uri="{BB962C8B-B14F-4D97-AF65-F5344CB8AC3E}">
        <p14:creationId xmlns:p14="http://schemas.microsoft.com/office/powerpoint/2010/main" val="3164571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B0D8-7AC1-0F5B-DCD3-748E6FED36D3}"/>
              </a:ext>
            </a:extLst>
          </p:cNvPr>
          <p:cNvSpPr>
            <a:spLocks noGrp="1"/>
          </p:cNvSpPr>
          <p:nvPr>
            <p:ph type="title"/>
          </p:nvPr>
        </p:nvSpPr>
        <p:spPr/>
        <p:txBody>
          <a:bodyPr/>
          <a:lstStyle/>
          <a:p>
            <a:r>
              <a:rPr kumimoji="1" lang="ja-JP" altLang="en-US" dirty="0"/>
              <a:t>検証方針</a:t>
            </a:r>
          </a:p>
        </p:txBody>
      </p:sp>
      <p:sp>
        <p:nvSpPr>
          <p:cNvPr id="3" name="コンテンツ プレースホルダー 2">
            <a:extLst>
              <a:ext uri="{FF2B5EF4-FFF2-40B4-BE49-F238E27FC236}">
                <a16:creationId xmlns:a16="http://schemas.microsoft.com/office/drawing/2014/main" id="{E158FE7C-40F8-B37F-3B3B-186A442B3853}"/>
              </a:ext>
            </a:extLst>
          </p:cNvPr>
          <p:cNvSpPr>
            <a:spLocks noGrp="1"/>
          </p:cNvSpPr>
          <p:nvPr>
            <p:ph idx="1"/>
          </p:nvPr>
        </p:nvSpPr>
        <p:spPr/>
        <p:txBody>
          <a:bodyPr/>
          <a:lstStyle/>
          <a:p>
            <a:r>
              <a:rPr kumimoji="1" lang="en-US" altLang="ja-JP" dirty="0"/>
              <a:t>Mitsuba</a:t>
            </a:r>
            <a:r>
              <a:rPr kumimoji="1" lang="ja-JP" altLang="en-US" dirty="0"/>
              <a:t>を用いて髭ジオメトリを含むシーンを構築し、</a:t>
            </a:r>
            <a:endParaRPr kumimoji="1" lang="en-US" altLang="ja-JP" dirty="0"/>
          </a:p>
          <a:p>
            <a:pPr marL="0" indent="0">
              <a:buNone/>
            </a:pPr>
            <a:r>
              <a:rPr lang="ja-JP" altLang="en-US" dirty="0"/>
              <a:t>参照解　を生成する</a:t>
            </a:r>
            <a:endParaRPr lang="en-US" altLang="ja-JP" dirty="0"/>
          </a:p>
          <a:p>
            <a:r>
              <a:rPr kumimoji="1" lang="ja-JP" altLang="en-US" dirty="0"/>
              <a:t>参照解を基に、生成画像およびエネルギー分布を比較する</a:t>
            </a:r>
          </a:p>
        </p:txBody>
      </p:sp>
      <p:pic>
        <p:nvPicPr>
          <p:cNvPr id="5" name="図 4" descr="テーブルに置かれたリンゴのロゴマーク&#10;&#10;AI 生成コンテンツは誤りを含む可能性があります。">
            <a:extLst>
              <a:ext uri="{FF2B5EF4-FFF2-40B4-BE49-F238E27FC236}">
                <a16:creationId xmlns:a16="http://schemas.microsoft.com/office/drawing/2014/main" id="{A6B97F52-E9F5-B92F-E42A-C34CE5173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6976" y="3429000"/>
            <a:ext cx="3402875" cy="3402875"/>
          </a:xfrm>
          <a:prstGeom prst="rect">
            <a:avLst/>
          </a:prstGeom>
        </p:spPr>
      </p:pic>
    </p:spTree>
    <p:extLst>
      <p:ext uri="{BB962C8B-B14F-4D97-AF65-F5344CB8AC3E}">
        <p14:creationId xmlns:p14="http://schemas.microsoft.com/office/powerpoint/2010/main" val="2967381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4121-660E-74A6-FF75-F241020E7B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FA6143-54A7-B525-674B-C8C16DC56176}"/>
              </a:ext>
            </a:extLst>
          </p:cNvPr>
          <p:cNvSpPr>
            <a:spLocks noGrp="1"/>
          </p:cNvSpPr>
          <p:nvPr>
            <p:ph type="title"/>
          </p:nvPr>
        </p:nvSpPr>
        <p:spPr/>
        <p:txBody>
          <a:bodyPr/>
          <a:lstStyle/>
          <a:p>
            <a:r>
              <a:rPr kumimoji="1" lang="ja-JP" altLang="en-US" dirty="0"/>
              <a:t>評価方法　（</a:t>
            </a:r>
            <a:r>
              <a:rPr lang="en-US" altLang="ja-JP" dirty="0" err="1"/>
              <a:t>R_d</a:t>
            </a:r>
            <a:r>
              <a:rPr lang="en-US" altLang="ja-JP" dirty="0"/>
              <a:t>(r) </a:t>
            </a:r>
            <a:r>
              <a:rPr lang="ja-JP" altLang="en-US" dirty="0"/>
              <a:t>計測）</a:t>
            </a:r>
            <a:endParaRPr kumimoji="1" lang="ja-JP" altLang="en-US" dirty="0"/>
          </a:p>
        </p:txBody>
      </p:sp>
      <p:sp>
        <p:nvSpPr>
          <p:cNvPr id="3" name="コンテンツ プレースホルダー 2">
            <a:extLst>
              <a:ext uri="{FF2B5EF4-FFF2-40B4-BE49-F238E27FC236}">
                <a16:creationId xmlns:a16="http://schemas.microsoft.com/office/drawing/2014/main" id="{448169F5-6FDD-F109-CF94-34855F85FB8A}"/>
              </a:ext>
            </a:extLst>
          </p:cNvPr>
          <p:cNvSpPr>
            <a:spLocks noGrp="1"/>
          </p:cNvSpPr>
          <p:nvPr>
            <p:ph idx="1"/>
          </p:nvPr>
        </p:nvSpPr>
        <p:spPr/>
        <p:txBody>
          <a:bodyPr/>
          <a:lstStyle/>
          <a:p>
            <a:r>
              <a:rPr lang="ja-JP" altLang="en-US" dirty="0"/>
              <a:t>リング上の観測点で平均を取って </a:t>
            </a:r>
            <a:r>
              <a:rPr lang="en-US" altLang="ja-JP" dirty="0" err="1"/>
              <a:t>R_d</a:t>
            </a:r>
            <a:r>
              <a:rPr lang="en-US" altLang="ja-JP" dirty="0"/>
              <a:t>(r) </a:t>
            </a:r>
            <a:r>
              <a:rPr lang="ja-JP" altLang="en-US" dirty="0"/>
              <a:t>を算出</a:t>
            </a:r>
          </a:p>
          <a:p>
            <a:r>
              <a:rPr lang="ja-JP" altLang="en-US" dirty="0"/>
              <a:t>正規化して減衰特性を比較</a:t>
            </a:r>
          </a:p>
          <a:p>
            <a:pPr marL="0" indent="0">
              <a:buNone/>
            </a:pPr>
            <a:endParaRPr kumimoji="1" lang="en-US" altLang="ja-JP" dirty="0"/>
          </a:p>
        </p:txBody>
      </p:sp>
      <p:pic>
        <p:nvPicPr>
          <p:cNvPr id="6" name="図 5" descr="グラフ&#10;&#10;AI 生成コンテンツは誤りを含む可能性があります。">
            <a:extLst>
              <a:ext uri="{FF2B5EF4-FFF2-40B4-BE49-F238E27FC236}">
                <a16:creationId xmlns:a16="http://schemas.microsoft.com/office/drawing/2014/main" id="{54203BB1-255B-FC96-5442-5B08E906BBF1}"/>
              </a:ext>
            </a:extLst>
          </p:cNvPr>
          <p:cNvPicPr>
            <a:picLocks noChangeAspect="1"/>
          </p:cNvPicPr>
          <p:nvPr/>
        </p:nvPicPr>
        <p:blipFill>
          <a:blip r:embed="rId3"/>
          <a:stretch>
            <a:fillRect/>
          </a:stretch>
        </p:blipFill>
        <p:spPr>
          <a:xfrm>
            <a:off x="6400800" y="3651822"/>
            <a:ext cx="4385768" cy="3206178"/>
          </a:xfrm>
          <a:prstGeom prst="rect">
            <a:avLst/>
          </a:prstGeom>
        </p:spPr>
      </p:pic>
      <p:pic>
        <p:nvPicPr>
          <p:cNvPr id="8" name="図 7" descr="太陽の光&#10;&#10;AI 生成コンテンツは誤りを含む可能性があります。">
            <a:extLst>
              <a:ext uri="{FF2B5EF4-FFF2-40B4-BE49-F238E27FC236}">
                <a16:creationId xmlns:a16="http://schemas.microsoft.com/office/drawing/2014/main" id="{9709A5FF-7B88-CE3E-E753-643DA6DFE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3651822"/>
            <a:ext cx="3166568" cy="3166568"/>
          </a:xfrm>
          <a:prstGeom prst="rect">
            <a:avLst/>
          </a:prstGeom>
        </p:spPr>
      </p:pic>
    </p:spTree>
    <p:extLst>
      <p:ext uri="{BB962C8B-B14F-4D97-AF65-F5344CB8AC3E}">
        <p14:creationId xmlns:p14="http://schemas.microsoft.com/office/powerpoint/2010/main" val="1751077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1C869A-9903-3093-9E37-61CE49200B16}"/>
              </a:ext>
            </a:extLst>
          </p:cNvPr>
          <p:cNvSpPr>
            <a:spLocks noGrp="1"/>
          </p:cNvSpPr>
          <p:nvPr>
            <p:ph type="title"/>
          </p:nvPr>
        </p:nvSpPr>
        <p:spPr/>
        <p:txBody>
          <a:bodyPr/>
          <a:lstStyle/>
          <a:p>
            <a:r>
              <a:rPr kumimoji="1" lang="ja-JP" altLang="en-US" dirty="0"/>
              <a:t>検証結果（</a:t>
            </a:r>
            <a:r>
              <a:rPr kumimoji="1" lang="en-US" altLang="ja-JP" dirty="0" err="1"/>
              <a:t>R_d</a:t>
            </a:r>
            <a:r>
              <a:rPr lang="ja-JP" altLang="en-US" dirty="0"/>
              <a:t>（</a:t>
            </a:r>
            <a:r>
              <a:rPr lang="en-US" altLang="ja-JP" dirty="0"/>
              <a:t>r</a:t>
            </a:r>
            <a:r>
              <a:rPr lang="ja-JP" altLang="en-US" dirty="0"/>
              <a:t>）比較</a:t>
            </a:r>
            <a:r>
              <a:rPr kumimoji="1" lang="ja-JP" altLang="en-US" dirty="0"/>
              <a:t>）</a:t>
            </a:r>
          </a:p>
        </p:txBody>
      </p:sp>
      <p:sp>
        <p:nvSpPr>
          <p:cNvPr id="3" name="コンテンツ プレースホルダー 2">
            <a:extLst>
              <a:ext uri="{FF2B5EF4-FFF2-40B4-BE49-F238E27FC236}">
                <a16:creationId xmlns:a16="http://schemas.microsoft.com/office/drawing/2014/main" id="{D790F986-C121-DEE5-B633-F41FF750C668}"/>
              </a:ext>
            </a:extLst>
          </p:cNvPr>
          <p:cNvSpPr>
            <a:spLocks noGrp="1"/>
          </p:cNvSpPr>
          <p:nvPr>
            <p:ph idx="1"/>
          </p:nvPr>
        </p:nvSpPr>
        <p:spPr/>
        <p:txBody>
          <a:bodyPr/>
          <a:lstStyle/>
          <a:p>
            <a:pPr marL="0" indent="0">
              <a:buNone/>
            </a:pPr>
            <a:endParaRPr lang="en-US" altLang="ja-JP" dirty="0"/>
          </a:p>
          <a:p>
            <a:pPr marL="0" indent="0">
              <a:buNone/>
            </a:pPr>
            <a:endParaRPr lang="en-US" altLang="ja-JP" dirty="0"/>
          </a:p>
          <a:p>
            <a:pPr marL="0" indent="0">
              <a:buNone/>
            </a:pPr>
            <a:endParaRPr lang="en-US" altLang="ja-JP" dirty="0"/>
          </a:p>
          <a:p>
            <a:endParaRPr lang="en-US" altLang="ja-JP" dirty="0"/>
          </a:p>
          <a:p>
            <a:endParaRPr lang="en-US" altLang="ja-JP" dirty="0"/>
          </a:p>
          <a:p>
            <a:endParaRPr lang="en-US" altLang="ja-JP" dirty="0"/>
          </a:p>
          <a:p>
            <a:endParaRPr lang="en-US" altLang="ja-JP" dirty="0"/>
          </a:p>
          <a:p>
            <a:r>
              <a:rPr lang="ja-JP" altLang="en-US" dirty="0"/>
              <a:t>近傍は髭ありがやや低いが、全体形状は概ね同じ</a:t>
            </a: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8D41641D-356D-69CD-689F-C86D313CD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070" y="1450862"/>
            <a:ext cx="6330043" cy="3956276"/>
          </a:xfrm>
          <a:prstGeom prst="rect">
            <a:avLst/>
          </a:prstGeom>
        </p:spPr>
      </p:pic>
    </p:spTree>
    <p:extLst>
      <p:ext uri="{BB962C8B-B14F-4D97-AF65-F5344CB8AC3E}">
        <p14:creationId xmlns:p14="http://schemas.microsoft.com/office/powerpoint/2010/main" val="157000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28159A-8745-C72A-6B34-BEDDE86A1D07}"/>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5E5DAABB-B283-1C98-00CD-354192043724}"/>
              </a:ext>
            </a:extLst>
          </p:cNvPr>
          <p:cNvSpPr>
            <a:spLocks noGrp="1"/>
          </p:cNvSpPr>
          <p:nvPr>
            <p:ph idx="1"/>
          </p:nvPr>
        </p:nvSpPr>
        <p:spPr/>
        <p:txBody>
          <a:bodyPr/>
          <a:lstStyle/>
          <a:p>
            <a:r>
              <a:rPr lang="ja-JP" altLang="en-US" dirty="0"/>
              <a:t>近傍差は髭密度の高い領域の遮蔽・吸収</a:t>
            </a:r>
          </a:p>
          <a:p>
            <a:r>
              <a:rPr lang="ja-JP" altLang="en-US" dirty="0"/>
              <a:t>半径が大きいほど影響が平均化</a:t>
            </a:r>
          </a:p>
          <a:p>
            <a:r>
              <a:rPr lang="ja-JP" altLang="en-US" dirty="0"/>
              <a:t>密度モデルは安定・実用的</a:t>
            </a:r>
          </a:p>
          <a:p>
            <a:endParaRPr kumimoji="1" lang="ja-JP" altLang="en-US" dirty="0"/>
          </a:p>
        </p:txBody>
      </p:sp>
    </p:spTree>
    <p:extLst>
      <p:ext uri="{BB962C8B-B14F-4D97-AF65-F5344CB8AC3E}">
        <p14:creationId xmlns:p14="http://schemas.microsoft.com/office/powerpoint/2010/main" val="18315176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130867</TotalTime>
  <Words>2150</Words>
  <Application>Microsoft Office PowerPoint</Application>
  <PresentationFormat>ワイド画面</PresentationFormat>
  <Paragraphs>153</Paragraphs>
  <Slides>13</Slides>
  <Notes>13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Cambria Math</vt:lpstr>
      <vt:lpstr>Office テーマ</vt:lpstr>
      <vt:lpstr>髭密度マップを用いた 皮膚の不均質性の再現</vt:lpstr>
      <vt:lpstr>研究動機</vt:lpstr>
      <vt:lpstr>研究動機</vt:lpstr>
      <vt:lpstr>表面下散乱 （Sub Surface Scattering ,SSS）</vt:lpstr>
      <vt:lpstr>BSSRDF </vt:lpstr>
      <vt:lpstr>関連研究</vt:lpstr>
      <vt:lpstr>提案手法</vt:lpstr>
      <vt:lpstr>定式化 </vt:lpstr>
      <vt:lpstr>結果比較</vt:lpstr>
      <vt:lpstr>検証方針</vt:lpstr>
      <vt:lpstr>評価方法　（R_d(r) 計測）</vt:lpstr>
      <vt:lpstr>検証結果（R_d（r）比較）</vt:lpstr>
      <vt:lpstr>考察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RAIKA YAMAMOTO</dc:creator>
  <cp:lastModifiedBy>RAIKA YAMAMOTO</cp:lastModifiedBy>
  <cp:revision>15</cp:revision>
  <dcterms:created xsi:type="dcterms:W3CDTF">2025-06-20T03:30:57Z</dcterms:created>
  <dcterms:modified xsi:type="dcterms:W3CDTF">2026-02-03T05:45:39Z</dcterms:modified>
</cp:coreProperties>
</file>