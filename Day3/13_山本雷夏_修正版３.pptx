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1" r:id="rId3"/>
    <p:sldId id="273" r:id="rId4"/>
    <p:sldId id="257" r:id="rId5"/>
    <p:sldId id="258" r:id="rId6"/>
    <p:sldId id="266" r:id="rId7"/>
    <p:sldId id="284" r:id="rId8"/>
    <p:sldId id="286" r:id="rId9"/>
    <p:sldId id="275" r:id="rId10"/>
    <p:sldId id="278" r:id="rId11"/>
    <p:sldId id="285" r:id="rId12"/>
    <p:sldId id="279" r:id="rId13"/>
    <p:sldId id="280" r:id="rId14"/>
    <p:sldId id="288" r:id="rId15"/>
    <p:sldId id="290"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2670" autoAdjust="0"/>
  </p:normalViewPr>
  <p:slideViewPr>
    <p:cSldViewPr snapToGrid="0">
      <p:cViewPr varScale="1">
        <p:scale>
          <a:sx n="59" d="100"/>
          <a:sy n="59" d="100"/>
        </p:scale>
        <p:origin x="1570"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FFB22-E9B8-4BB2-B185-1521F81AE3F0}" type="datetimeFigureOut">
              <a:rPr kumimoji="1" lang="ja-JP" altLang="en-US" smtClean="0"/>
              <a:t>2026/2/3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6F6BBB-7673-494F-8505-704B89C97274}" type="slidenum">
              <a:rPr kumimoji="1" lang="ja-JP" altLang="en-US" smtClean="0"/>
              <a:t>‹#›</a:t>
            </a:fld>
            <a:endParaRPr kumimoji="1" lang="ja-JP" altLang="en-US"/>
          </a:p>
        </p:txBody>
      </p:sp>
    </p:spTree>
    <p:extLst>
      <p:ext uri="{BB962C8B-B14F-4D97-AF65-F5344CB8AC3E}">
        <p14:creationId xmlns:p14="http://schemas.microsoft.com/office/powerpoint/2010/main" val="221444903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a:t>
            </a:r>
            <a:r>
              <a:rPr kumimoji="1" lang="ja-JP" altLang="en-US" dirty="0"/>
              <a:t>枚目）</a:t>
            </a:r>
            <a:br>
              <a:rPr kumimoji="1" lang="en-US" altLang="ja-JP" dirty="0"/>
            </a:br>
            <a:r>
              <a:rPr kumimoji="1" lang="en-US" altLang="ja-JP" dirty="0"/>
              <a:t>CG</a:t>
            </a:r>
            <a:r>
              <a:rPr kumimoji="1" lang="ja-JP" altLang="en-US" dirty="0"/>
              <a:t>研学部</a:t>
            </a:r>
            <a:r>
              <a:rPr kumimoji="1" lang="en-US" altLang="ja-JP" dirty="0"/>
              <a:t>4</a:t>
            </a:r>
            <a:r>
              <a:rPr kumimoji="1" lang="ja-JP" altLang="en-US" dirty="0"/>
              <a:t>年のヤマモトライカです。</a:t>
            </a:r>
            <a:endParaRPr kumimoji="1" lang="en-US" altLang="ja-JP" dirty="0"/>
          </a:p>
          <a:p>
            <a:r>
              <a:rPr kumimoji="1" lang="ja-JP" altLang="en-US" dirty="0"/>
              <a:t>髭密度マップを用いた</a:t>
            </a:r>
            <a:r>
              <a:rPr kumimoji="1" lang="ja-JP" altLang="en-US" sz="1100" dirty="0"/>
              <a:t>皮膚の不均質性の再現</a:t>
            </a:r>
            <a:r>
              <a:rPr kumimoji="1" lang="ja-JP" altLang="en-US" sz="1200" dirty="0"/>
              <a:t>というタイトルで発表させていただきます。</a:t>
            </a:r>
            <a:endParaRPr kumimoji="1"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本日はよろしくお願いします。</a:t>
            </a:r>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a:t>
            </a:fld>
            <a:endParaRPr kumimoji="1" lang="ja-JP" altLang="en-US"/>
          </a:p>
        </p:txBody>
      </p:sp>
    </p:spTree>
    <p:extLst>
      <p:ext uri="{BB962C8B-B14F-4D97-AF65-F5344CB8AC3E}">
        <p14:creationId xmlns:p14="http://schemas.microsoft.com/office/powerpoint/2010/main" val="1397404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2</a:t>
            </a:r>
            <a:r>
              <a:rPr kumimoji="1" lang="ja-JP" altLang="en-US" dirty="0"/>
              <a:t>枚目）</a:t>
            </a:r>
            <a:br>
              <a:rPr kumimoji="1" lang="en-US" altLang="ja-JP" dirty="0"/>
            </a:br>
            <a:r>
              <a:rPr kumimoji="1" lang="ja-JP" altLang="en-US" dirty="0"/>
              <a:t>まず研究動機についてです。</a:t>
            </a:r>
            <a:endParaRPr kumimoji="1" lang="en-US" altLang="ja-JP" dirty="0"/>
          </a:p>
          <a:p>
            <a:endParaRPr kumimoji="1" lang="en-US" altLang="ja-JP" dirty="0"/>
          </a:p>
          <a:p>
            <a:r>
              <a:rPr kumimoji="1" lang="ja-JP" altLang="en-US" dirty="0"/>
              <a:t>人の第一印象のうち、大きな影響を与えるのは視覚です。そして人間というのは大部分が皮膚で覆われており、当然それらの状態は見た目にも大きな影響をあたえます。</a:t>
            </a:r>
            <a:endParaRPr kumimoji="1" lang="en-US" altLang="ja-JP" dirty="0"/>
          </a:p>
          <a:p>
            <a:endParaRPr kumimoji="1" lang="en-US" altLang="ja-JP" dirty="0"/>
          </a:p>
          <a:p>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2</a:t>
            </a:fld>
            <a:endParaRPr kumimoji="1" lang="ja-JP" altLang="en-US"/>
          </a:p>
        </p:txBody>
      </p:sp>
    </p:spTree>
    <p:extLst>
      <p:ext uri="{BB962C8B-B14F-4D97-AF65-F5344CB8AC3E}">
        <p14:creationId xmlns:p14="http://schemas.microsoft.com/office/powerpoint/2010/main" val="1704455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（３枚目）</a:t>
            </a:r>
            <a:endParaRPr lang="en-US" altLang="ja-JP" dirty="0"/>
          </a:p>
          <a:p>
            <a:r>
              <a:rPr lang="ja-JP" altLang="en-US" dirty="0"/>
              <a:t>肌は均一な表面ではなく、色素の分布や毛穴、髭の密度など、その内部構造が部位ごとに異なる性質を持っています。</a:t>
            </a:r>
          </a:p>
          <a:p>
            <a:r>
              <a:rPr lang="ja-JP" altLang="en-US" dirty="0"/>
              <a:t>そうした内部構造の違いが、血色の差のように、視覚的な違いとして現れます。。</a:t>
            </a:r>
          </a:p>
          <a:p>
            <a:r>
              <a:rPr lang="ja-JP" altLang="en-US" dirty="0"/>
              <a:t>本研究では、</a:t>
            </a:r>
            <a:r>
              <a:rPr lang="ja-JP" altLang="en-US" b="1" dirty="0"/>
              <a:t>レンダリングにて</a:t>
            </a:r>
            <a:r>
              <a:rPr lang="ja-JP" altLang="en-US" dirty="0"/>
              <a:t>そうした</a:t>
            </a:r>
            <a:r>
              <a:rPr lang="ja-JP" altLang="en-US" b="1" dirty="0"/>
              <a:t>内部構造の違いによって生まれる皮膚の不均質性を、</a:t>
            </a:r>
            <a:r>
              <a:rPr lang="ja-JP" altLang="en-US" dirty="0"/>
              <a:t>特に髭に着目して取り組んでいます。</a:t>
            </a: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3</a:t>
            </a:fld>
            <a:endParaRPr kumimoji="1" lang="ja-JP" altLang="en-US"/>
          </a:p>
        </p:txBody>
      </p:sp>
    </p:spTree>
    <p:extLst>
      <p:ext uri="{BB962C8B-B14F-4D97-AF65-F5344CB8AC3E}">
        <p14:creationId xmlns:p14="http://schemas.microsoft.com/office/powerpoint/2010/main" val="139827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4</a:t>
            </a:r>
            <a:r>
              <a:rPr kumimoji="1" lang="ja-JP" altLang="en-US" dirty="0"/>
              <a:t>枚目）</a:t>
            </a:r>
            <a:endParaRPr kumimoji="1" lang="en-US" altLang="ja-JP" dirty="0"/>
          </a:p>
          <a:p>
            <a:r>
              <a:rPr kumimoji="1" lang="ja-JP" altLang="en-US" dirty="0"/>
              <a:t>レンダリングを行う上で重要な要素の</a:t>
            </a:r>
            <a:r>
              <a:rPr kumimoji="1" lang="en-US" altLang="ja-JP" dirty="0"/>
              <a:t>1</a:t>
            </a:r>
            <a:r>
              <a:rPr kumimoji="1" lang="ja-JP" altLang="en-US" dirty="0"/>
              <a:t>つとしてあげられるのが物体表面での光の反射特性です。</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物体表面に衝突した光の振る舞いによって、物体そのものの見え方、印象は大きく変わります。</a:t>
            </a:r>
            <a:endParaRPr kumimoji="1" lang="en-US" altLang="ja-JP" dirty="0"/>
          </a:p>
          <a:p>
            <a:endParaRPr kumimoji="1" lang="en-US" altLang="ja-JP" dirty="0"/>
          </a:p>
          <a:p>
            <a:r>
              <a:rPr kumimoji="1" lang="ja-JP" altLang="en-US" dirty="0"/>
              <a:t>そのような光の振る舞いを表現する際によく用いられる計算モデルの</a:t>
            </a:r>
            <a:r>
              <a:rPr kumimoji="1" lang="en-US" altLang="ja-JP" dirty="0"/>
              <a:t>1</a:t>
            </a:r>
            <a:r>
              <a:rPr kumimoji="1" lang="ja-JP" altLang="en-US" dirty="0"/>
              <a:t>つが</a:t>
            </a:r>
            <a:r>
              <a:rPr kumimoji="1" lang="en-US" altLang="ja-JP" dirty="0"/>
              <a:t>BRDF</a:t>
            </a:r>
            <a:r>
              <a:rPr kumimoji="1" lang="ja-JP" altLang="en-US" dirty="0"/>
              <a:t>です。</a:t>
            </a:r>
            <a:endParaRPr kumimoji="1" lang="en-US" altLang="ja-JP" dirty="0"/>
          </a:p>
          <a:p>
            <a:r>
              <a:rPr kumimoji="1" lang="ja-JP" altLang="en-US" sz="1200" b="0" i="0" kern="1200" dirty="0">
                <a:solidFill>
                  <a:schemeClr val="tx1"/>
                </a:solidFill>
                <a:effectLst/>
                <a:latin typeface="+mn-lt"/>
                <a:ea typeface="+mn-ea"/>
                <a:cs typeface="+mn-cs"/>
              </a:rPr>
              <a:t>直感的に説明するならば、物体表面での光の散らばり具合を表した式になります。</a:t>
            </a:r>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4</a:t>
            </a:fld>
            <a:endParaRPr kumimoji="1" lang="ja-JP" altLang="en-US"/>
          </a:p>
        </p:txBody>
      </p:sp>
    </p:spTree>
    <p:extLst>
      <p:ext uri="{BB962C8B-B14F-4D97-AF65-F5344CB8AC3E}">
        <p14:creationId xmlns:p14="http://schemas.microsoft.com/office/powerpoint/2010/main" val="24765428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buNone/>
            </a:pPr>
            <a:r>
              <a:rPr lang="ja-JP" altLang="en-US" dirty="0"/>
              <a:t>（５枚目）</a:t>
            </a:r>
            <a:endParaRPr lang="en-US" altLang="ja-JP" dirty="0"/>
          </a:p>
          <a:p>
            <a:pPr>
              <a:buNone/>
            </a:pPr>
            <a:r>
              <a:rPr lang="ja-JP" altLang="en-US" dirty="0"/>
              <a:t>体表面の光の振る舞いの中でも、実際の皮膚で見られる現象として表面下散乱というものがあります。</a:t>
            </a:r>
          </a:p>
          <a:p>
            <a:pPr>
              <a:buNone/>
            </a:pPr>
            <a:r>
              <a:rPr lang="ja-JP" altLang="en-US" dirty="0"/>
              <a:t>表面下散乱とは、スライド右の図にあるように、</a:t>
            </a:r>
            <a:r>
              <a:rPr lang="ja-JP" altLang="en-US" b="1" dirty="0"/>
              <a:t>物体の表面から入射した光が、内部で散乱を繰り返したのち、異なる位置から出射してくる</a:t>
            </a:r>
            <a:r>
              <a:rPr lang="ja-JP" altLang="en-US" dirty="0"/>
              <a:t>という現象を指します。</a:t>
            </a:r>
          </a:p>
          <a:p>
            <a:pPr>
              <a:buNone/>
            </a:pPr>
            <a:r>
              <a:rPr lang="ja-JP" altLang="en-US" dirty="0"/>
              <a:t>このような光の振る舞いは、私たちの身の回りのさまざまな物体で見られます。</a:t>
            </a:r>
          </a:p>
          <a:p>
            <a:pPr>
              <a:buNone/>
            </a:pPr>
            <a:r>
              <a:rPr lang="ja-JP" altLang="en-US" dirty="0"/>
              <a:t>しかし、こうした</a:t>
            </a:r>
            <a:r>
              <a:rPr lang="ja-JP" altLang="en-US" b="1" dirty="0"/>
              <a:t>入射点と出射点が異なる</a:t>
            </a:r>
            <a:r>
              <a:rPr lang="ja-JP" altLang="en-US" dirty="0"/>
              <a:t>性質は、従来の</a:t>
            </a:r>
            <a:r>
              <a:rPr lang="en-US" altLang="ja-JP" dirty="0"/>
              <a:t>BRDF</a:t>
            </a:r>
            <a:r>
              <a:rPr lang="ja-JP" altLang="en-US" dirty="0"/>
              <a:t>（</a:t>
            </a:r>
            <a:r>
              <a:rPr lang="en-US" altLang="ja-JP" dirty="0"/>
              <a:t>Bidirectional Reflectance Distribution Function</a:t>
            </a:r>
            <a:r>
              <a:rPr lang="ja-JP" altLang="en-US" dirty="0"/>
              <a:t>）では扱うことができません。</a:t>
            </a:r>
            <a:br>
              <a:rPr lang="ja-JP" altLang="en-US" dirty="0"/>
            </a:br>
            <a:r>
              <a:rPr lang="ja-JP" altLang="en-US" dirty="0"/>
              <a:t>そこで、このような物理的現象を正しく扱うために必要となるのが、**</a:t>
            </a:r>
            <a:r>
              <a:rPr lang="en-US" altLang="ja-JP" dirty="0"/>
              <a:t>BSSRDF</a:t>
            </a:r>
            <a:r>
              <a:rPr lang="ja-JP" altLang="en-US" dirty="0"/>
              <a:t>（後ほど詳しく紹介します）**というより高度な反射モデルです。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5</a:t>
            </a:fld>
            <a:endParaRPr kumimoji="1" lang="ja-JP" altLang="en-US"/>
          </a:p>
        </p:txBody>
      </p:sp>
    </p:spTree>
    <p:extLst>
      <p:ext uri="{BB962C8B-B14F-4D97-AF65-F5344CB8AC3E}">
        <p14:creationId xmlns:p14="http://schemas.microsoft.com/office/powerpoint/2010/main" val="1301031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indent="0">
              <a:buNone/>
            </a:pPr>
            <a:r>
              <a:rPr lang="ja-JP" altLang="en-US" b="1" dirty="0"/>
              <a:t>（</a:t>
            </a:r>
            <a:r>
              <a:rPr lang="en-US" altLang="ja-JP" b="1" dirty="0"/>
              <a:t>6</a:t>
            </a:r>
            <a:r>
              <a:rPr lang="ja-JP" altLang="en-US" b="1" dirty="0"/>
              <a:t>枚目）</a:t>
            </a:r>
            <a:endParaRPr lang="en-US" altLang="ja-JP" b="1" dirty="0"/>
          </a:p>
          <a:p>
            <a:pPr marL="0" indent="0">
              <a:buNone/>
            </a:pPr>
            <a:r>
              <a:rPr lang="en-US" altLang="ja-JP" b="1" dirty="0"/>
              <a:t>BSSRDF</a:t>
            </a:r>
            <a:br>
              <a:rPr lang="en-US" altLang="ja-JP" b="1" dirty="0"/>
            </a:br>
            <a:r>
              <a:rPr lang="ja-JP" altLang="en-US" dirty="0"/>
              <a:t>表面下散乱を取り扱える反射モデルです。</a:t>
            </a:r>
            <a:endParaRPr lang="en-US" altLang="ja-JP" b="1" dirty="0"/>
          </a:p>
          <a:p>
            <a:pPr>
              <a:buNone/>
            </a:pPr>
            <a:r>
              <a:rPr lang="ja-JP" altLang="en-US" dirty="0"/>
              <a:t>通常の</a:t>
            </a:r>
            <a:r>
              <a:rPr lang="en-US" altLang="ja-JP" dirty="0"/>
              <a:t>BRDF</a:t>
            </a:r>
            <a:r>
              <a:rPr lang="ja-JP" altLang="en-US" dirty="0"/>
              <a:t>では、光が入ってきた点と出ていく点が同一であることを前提としていますが、</a:t>
            </a:r>
            <a:br>
              <a:rPr lang="ja-JP" altLang="en-US" dirty="0"/>
            </a:br>
            <a:r>
              <a:rPr lang="en-US" altLang="ja-JP" dirty="0"/>
              <a:t>BSSRDF</a:t>
            </a:r>
            <a:r>
              <a:rPr lang="ja-JP" altLang="en-US" dirty="0"/>
              <a:t>は、</a:t>
            </a:r>
            <a:r>
              <a:rPr lang="ja-JP" altLang="en-US" u="sng" dirty="0"/>
              <a:t>異なる位置間の光のやり取り</a:t>
            </a:r>
            <a:r>
              <a:rPr lang="ja-JP" altLang="en-US" dirty="0"/>
              <a:t>を扱えます。</a:t>
            </a:r>
            <a:endParaRPr lang="en-US" altLang="ja-JP" dirty="0"/>
          </a:p>
          <a:p>
            <a:pPr>
              <a:buNone/>
            </a:pPr>
            <a:endParaRPr lang="ja-JP" altLang="en-US" dirty="0"/>
          </a:p>
          <a:p>
            <a:pPr>
              <a:buNone/>
            </a:pPr>
            <a:r>
              <a:rPr lang="ja-JP" altLang="en-US" dirty="0"/>
              <a:t>画面下の比較画像をご覧いただくと、左の</a:t>
            </a:r>
            <a:r>
              <a:rPr lang="en-US" altLang="ja-JP" dirty="0"/>
              <a:t>BRDF</a:t>
            </a:r>
            <a:r>
              <a:rPr lang="ja-JP" altLang="en-US" dirty="0"/>
              <a:t>では硬くのっぺりしていますが、</a:t>
            </a:r>
            <a:br>
              <a:rPr lang="ja-JP" altLang="en-US" dirty="0"/>
            </a:br>
            <a:r>
              <a:rPr lang="ja-JP" altLang="en-US" dirty="0"/>
              <a:t>右の</a:t>
            </a:r>
            <a:r>
              <a:rPr lang="en-US" altLang="ja-JP" dirty="0"/>
              <a:t>BSSRDF</a:t>
            </a:r>
            <a:r>
              <a:rPr lang="ja-JP" altLang="en-US" dirty="0"/>
              <a:t>では光が柔らかく肌の内部に広がるような表現がされています。</a:t>
            </a:r>
          </a:p>
          <a:p>
            <a:r>
              <a:rPr lang="ja-JP" altLang="en-US" dirty="0"/>
              <a:t>★ 本研究でも、この </a:t>
            </a:r>
            <a:r>
              <a:rPr lang="en-US" altLang="ja-JP" dirty="0"/>
              <a:t>BSSRDF </a:t>
            </a:r>
            <a:r>
              <a:rPr lang="ja-JP" altLang="en-US" dirty="0"/>
              <a:t>を皮膚のベースのモデルとして用います。</a:t>
            </a:r>
            <a:br>
              <a:rPr lang="ja-JP" altLang="en-US" dirty="0"/>
            </a:br>
            <a:r>
              <a:rPr lang="ja-JP" altLang="en-US" dirty="0"/>
              <a:t>★ ただし、人の顔では皮膚が一様ではなく、特に顎まわりなど、</a:t>
            </a:r>
            <a:br>
              <a:rPr lang="ja-JP" altLang="en-US" dirty="0"/>
            </a:br>
            <a:r>
              <a:rPr lang="ja-JP" altLang="en-US" dirty="0"/>
              <a:t>★ 「髭が生えている領域だけ見え方が大きく変わる」という不均質性に注目します。</a:t>
            </a:r>
            <a:br>
              <a:rPr lang="ja-JP" altLang="en-US" dirty="0"/>
            </a:br>
            <a:r>
              <a:rPr lang="ja-JP" altLang="en-US" dirty="0"/>
              <a:t>★ そこで </a:t>
            </a:r>
            <a:r>
              <a:rPr lang="en-US" altLang="ja-JP" dirty="0"/>
              <a:t>BSSRDF </a:t>
            </a:r>
            <a:r>
              <a:rPr lang="ja-JP" altLang="en-US" dirty="0"/>
              <a:t>の枠組みを保ったまま、髭の有無や濃さを位置ごとのパラメータとして組み込むことを考えました。</a:t>
            </a:r>
            <a:br>
              <a:rPr lang="en-US" altLang="ja-JP" dirty="0"/>
            </a:br>
            <a:br>
              <a:rPr lang="en-US" altLang="ja-JP" dirty="0"/>
            </a:br>
            <a:endParaRPr kumimoji="1" lang="ja-JP" altLang="en-US" dirty="0"/>
          </a:p>
        </p:txBody>
      </p:sp>
      <p:sp>
        <p:nvSpPr>
          <p:cNvPr id="4" name="スライド番号プレースホルダー 3"/>
          <p:cNvSpPr>
            <a:spLocks noGrp="1"/>
          </p:cNvSpPr>
          <p:nvPr>
            <p:ph type="sldNum" sz="quarter" idx="5"/>
          </p:nvPr>
        </p:nvSpPr>
        <p:spPr/>
        <p:txBody>
          <a:bodyPr/>
          <a:lstStyle/>
          <a:p>
            <a:fld id="{6F018766-D927-423C-997B-33B886F71A70}" type="slidenum">
              <a:rPr kumimoji="1" lang="ja-JP" altLang="en-US" smtClean="0"/>
              <a:t>6</a:t>
            </a:fld>
            <a:endParaRPr kumimoji="1" lang="ja-JP" altLang="en-US"/>
          </a:p>
        </p:txBody>
      </p:sp>
    </p:spTree>
    <p:extLst>
      <p:ext uri="{BB962C8B-B14F-4D97-AF65-F5344CB8AC3E}">
        <p14:creationId xmlns:p14="http://schemas.microsoft.com/office/powerpoint/2010/main" val="39234466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7</a:t>
            </a:r>
            <a:r>
              <a:rPr lang="ja-JP" altLang="en-US" dirty="0"/>
              <a:t>枚目）</a:t>
            </a:r>
            <a:endParaRPr lang="en-US" altLang="ja-JP" dirty="0"/>
          </a:p>
          <a:p>
            <a:r>
              <a:rPr lang="ja-JP" altLang="en-US" dirty="0"/>
              <a:t>皮膚の不均質性そのものについては、</a:t>
            </a:r>
            <a:br>
              <a:rPr lang="ja-JP" altLang="en-US" dirty="0"/>
            </a:br>
            <a:r>
              <a:rPr lang="ja-JP" altLang="en-US" dirty="0"/>
              <a:t>これまでにもいくつかの研究が行われています。</a:t>
            </a:r>
          </a:p>
          <a:p>
            <a:r>
              <a:rPr lang="ja-JP" altLang="en-US" dirty="0"/>
              <a:t>例えば </a:t>
            </a:r>
            <a:r>
              <a:rPr lang="en-US" altLang="ja-JP" dirty="0"/>
              <a:t>2008 </a:t>
            </a:r>
            <a:r>
              <a:rPr lang="ja-JP" altLang="en-US" dirty="0"/>
              <a:t>年の </a:t>
            </a:r>
            <a:r>
              <a:rPr lang="en-US" altLang="ja-JP" dirty="0"/>
              <a:t>Donner </a:t>
            </a:r>
            <a:r>
              <a:rPr lang="ja-JP" altLang="en-US" dirty="0"/>
              <a:t>らの研究では、</a:t>
            </a:r>
            <a:br>
              <a:rPr lang="ja-JP" altLang="en-US" dirty="0"/>
            </a:br>
            <a:r>
              <a:rPr lang="ja-JP" altLang="en-US" dirty="0"/>
              <a:t>皮膚を複数の層としてモデル化し、</a:t>
            </a:r>
            <a:br>
              <a:rPr lang="ja-JP" altLang="en-US" dirty="0"/>
            </a:br>
            <a:r>
              <a:rPr lang="ja-JP" altLang="en-US" dirty="0"/>
              <a:t>層ごとの特性差によって不均質性を表現しています。</a:t>
            </a:r>
          </a:p>
          <a:p>
            <a:r>
              <a:rPr lang="ja-JP" altLang="en-US" dirty="0"/>
              <a:t>また、</a:t>
            </a:r>
            <a:r>
              <a:rPr lang="en-US" altLang="ja-JP" dirty="0"/>
              <a:t>2009 </a:t>
            </a:r>
            <a:r>
              <a:rPr lang="ja-JP" altLang="en-US" dirty="0"/>
              <a:t>年の研究では、</a:t>
            </a:r>
            <a:br>
              <a:rPr lang="ja-JP" altLang="en-US" dirty="0"/>
            </a:br>
            <a:r>
              <a:rPr lang="ja-JP" altLang="en-US" dirty="0"/>
              <a:t>多層構造を用いて皮膚内部の異方性散乱や</a:t>
            </a:r>
            <a:br>
              <a:rPr lang="ja-JP" altLang="en-US" dirty="0"/>
            </a:br>
            <a:r>
              <a:rPr lang="ja-JP" altLang="en-US" dirty="0"/>
              <a:t>不均一性を表現しています。</a:t>
            </a:r>
          </a:p>
          <a:p>
            <a:r>
              <a:rPr lang="ja-JP" altLang="en-US" dirty="0"/>
              <a:t>ただし、これらはいずれも</a:t>
            </a:r>
            <a:br>
              <a:rPr lang="ja-JP" altLang="en-US" dirty="0"/>
            </a:br>
            <a:r>
              <a:rPr lang="ja-JP" altLang="en-US" dirty="0"/>
              <a:t>髭のような局所的で高密度な要素が</a:t>
            </a:r>
            <a:br>
              <a:rPr lang="ja-JP" altLang="en-US" dirty="0"/>
            </a:br>
            <a:r>
              <a:rPr lang="ja-JP" altLang="en-US" dirty="0"/>
              <a:t>表面下散乱に与える影響を</a:t>
            </a:r>
            <a:br>
              <a:rPr lang="ja-JP" altLang="en-US" dirty="0"/>
            </a:br>
            <a:r>
              <a:rPr lang="ja-JP" altLang="en-US" dirty="0"/>
              <a:t>明示的に扱ったものではありません。</a:t>
            </a:r>
          </a:p>
          <a:p>
            <a:r>
              <a:rPr lang="ja-JP" altLang="en-US" dirty="0"/>
              <a:t>本研究では、そうした局所的な影響を与える物体の中でも、特に髭の影響に着目し、</a:t>
            </a:r>
            <a:br>
              <a:rPr lang="ja-JP" altLang="en-US" dirty="0"/>
            </a:br>
            <a:r>
              <a:rPr lang="ja-JP" altLang="en-US" dirty="0"/>
              <a:t>密度マップとして </a:t>
            </a:r>
            <a:r>
              <a:rPr lang="en-US" altLang="ja-JP" dirty="0"/>
              <a:t>BSSRDF </a:t>
            </a:r>
            <a:r>
              <a:rPr lang="ja-JP" altLang="en-US" dirty="0"/>
              <a:t>に組み込む点に特徴があります。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7</a:t>
            </a:fld>
            <a:endParaRPr kumimoji="1" lang="ja-JP" altLang="en-US"/>
          </a:p>
        </p:txBody>
      </p:sp>
    </p:spTree>
    <p:extLst>
      <p:ext uri="{BB962C8B-B14F-4D97-AF65-F5344CB8AC3E}">
        <p14:creationId xmlns:p14="http://schemas.microsoft.com/office/powerpoint/2010/main" val="3732031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8</a:t>
            </a:r>
            <a:r>
              <a:rPr lang="ja-JP" altLang="en-US" dirty="0"/>
              <a:t>枚目）</a:t>
            </a:r>
            <a:endParaRPr lang="en-US" altLang="ja-JP" dirty="0"/>
          </a:p>
          <a:p>
            <a:r>
              <a:rPr lang="ja-JP" altLang="en-US" dirty="0"/>
              <a:t>次に、</a:t>
            </a:r>
            <a:br>
              <a:rPr lang="ja-JP" altLang="en-US" dirty="0"/>
            </a:br>
            <a:r>
              <a:rPr lang="ja-JP" altLang="en-US" dirty="0"/>
              <a:t>本研究で実装した</a:t>
            </a:r>
            <a:br>
              <a:rPr lang="ja-JP" altLang="en-US" dirty="0"/>
            </a:br>
            <a:r>
              <a:rPr lang="ja-JP" altLang="en-US" dirty="0"/>
              <a:t>髭密度モデルを用いたレンダリングの全体の流れを示します。</a:t>
            </a:r>
            <a:endParaRPr lang="en-US" altLang="ja-JP" dirty="0"/>
          </a:p>
          <a:p>
            <a:r>
              <a:rPr lang="ja-JP" altLang="en-US" dirty="0"/>
              <a:t>左側が、</a:t>
            </a:r>
            <a:br>
              <a:rPr lang="ja-JP" altLang="en-US" dirty="0"/>
            </a:br>
            <a:r>
              <a:rPr lang="ja-JP" altLang="en-US" dirty="0"/>
              <a:t>一般的な </a:t>
            </a:r>
            <a:r>
              <a:rPr lang="en-US" altLang="ja-JP" dirty="0"/>
              <a:t>BSSRDF </a:t>
            </a:r>
            <a:r>
              <a:rPr lang="ja-JP" altLang="en-US" dirty="0"/>
              <a:t>を用いたレンダリング、</a:t>
            </a:r>
          </a:p>
          <a:p>
            <a:r>
              <a:rPr lang="ja-JP" altLang="en-US" dirty="0"/>
              <a:t>右側が本研究で実装した提案手法です。</a:t>
            </a:r>
          </a:p>
          <a:p>
            <a:r>
              <a:rPr lang="ja-JP" altLang="en-US" dirty="0"/>
              <a:t>皮膚ジオメトリに対して、</a:t>
            </a:r>
            <a:br>
              <a:rPr lang="ja-JP" altLang="en-US" dirty="0"/>
            </a:br>
            <a:r>
              <a:rPr lang="ja-JP" altLang="en-US" dirty="0"/>
              <a:t>あらかじめ作成した</a:t>
            </a:r>
            <a:br>
              <a:rPr lang="ja-JP" altLang="en-US" dirty="0"/>
            </a:br>
            <a:r>
              <a:rPr lang="ja-JP" altLang="en-US" dirty="0"/>
              <a:t>髭密度マップを対応付け、</a:t>
            </a:r>
            <a:br>
              <a:rPr lang="ja-JP" altLang="en-US" dirty="0"/>
            </a:br>
            <a:r>
              <a:rPr lang="ja-JP" altLang="en-US" dirty="0"/>
              <a:t>位置ごとに </a:t>
            </a:r>
            <a:r>
              <a:rPr lang="en-US" altLang="ja-JP" dirty="0"/>
              <a:t>BSSRDF </a:t>
            </a:r>
            <a:r>
              <a:rPr lang="ja-JP" altLang="en-US" dirty="0"/>
              <a:t>混合を行い、皮膚での拡散特性を変化させます。</a:t>
            </a:r>
          </a:p>
          <a:p>
            <a:r>
              <a:rPr lang="ja-JP" altLang="en-US" dirty="0"/>
              <a:t>その結果、レイの衝突位置によって不均質な皮膚表現が可能になります。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8</a:t>
            </a:fld>
            <a:endParaRPr kumimoji="1" lang="ja-JP" altLang="en-US"/>
          </a:p>
        </p:txBody>
      </p:sp>
    </p:spTree>
    <p:extLst>
      <p:ext uri="{BB962C8B-B14F-4D97-AF65-F5344CB8AC3E}">
        <p14:creationId xmlns:p14="http://schemas.microsoft.com/office/powerpoint/2010/main" val="898718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p:cNvSpPr>
                <a:spLocks noGrp="1"/>
              </p:cNvSpPr>
              <p:nvPr>
                <p:ph type="body" idx="1"/>
              </p:nvPr>
            </p:nvSpPr>
            <p:spPr/>
            <p:txBody>
              <a:bodyPr/>
              <a:lstStyle/>
              <a:p>
                <a:r>
                  <a:rPr lang="ja-JP" altLang="en-US" dirty="0"/>
                  <a:t>（</a:t>
                </a:r>
                <a:r>
                  <a:rPr lang="en-US" altLang="ja-JP" dirty="0"/>
                  <a:t>9</a:t>
                </a:r>
                <a:r>
                  <a:rPr lang="ja-JP" altLang="en-US" dirty="0"/>
                  <a:t>枚目）</a:t>
                </a:r>
                <a:endParaRPr lang="en-US" altLang="ja-JP" dirty="0"/>
              </a:p>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14:m>
                  <m:oMath xmlns:m="http://schemas.openxmlformats.org/officeDocument/2006/math">
                    <m:r>
                      <a:rPr kumimoji="1" lang="ja-JP" altLang="en-US" sz="1200" i="1" kern="1200">
                        <a:solidFill>
                          <a:schemeClr val="tx1"/>
                        </a:solidFill>
                        <a:latin typeface="+mn-lt"/>
                        <a:ea typeface="+mn-ea"/>
                        <a:cs typeface="+mn-cs"/>
                      </a:rPr>
                      <m:t>𝑥</m:t>
                    </m:r>
                  </m:oMath>
                </a14:m>
                <a:r>
                  <a:rPr lang="ja-JP" altLang="en-US" dirty="0"/>
                  <a:t>に対して</a:t>
                </a:r>
                <a:br>
                  <a:rPr lang="ja-JP" altLang="en-US" dirty="0"/>
                </a:b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mn-lt"/>
                            <a:ea typeface="+mn-ea"/>
                            <a:cs typeface="+mn-cs"/>
                          </a:rPr>
                        </m:ctrlPr>
                      </m:dPr>
                      <m:e>
                        <m:r>
                          <a:rPr kumimoji="1" lang="ja-JP" altLang="en-US" sz="1200" b="0" i="1" kern="1200">
                            <a:solidFill>
                              <a:schemeClr val="tx1"/>
                            </a:solidFill>
                            <a:latin typeface="+mn-lt"/>
                            <a:ea typeface="+mn-ea"/>
                            <a:cs typeface="+mn-cs"/>
                          </a:rPr>
                          <m:t>𝑥</m:t>
                        </m:r>
                      </m:e>
                    </m:d>
                  </m:oMath>
                </a14:m>
                <a:r>
                  <a:rPr lang="ja-JP" altLang="en-US" dirty="0"/>
                  <a:t>という値を定義し、</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endParaRPr lang="en-US" altLang="ja-JP" dirty="0"/>
              </a:p>
              <a:p>
                <a:endParaRPr lang="en-US" altLang="ja-JP" dirty="0"/>
              </a:p>
              <a:p>
                <a:r>
                  <a:rPr lang="ja-JP" altLang="en-US" dirty="0"/>
                  <a:t>マップが白くなっているほど髭が濃くなっているという感じです。</a:t>
                </a:r>
                <a:endParaRPr lang="en-US" altLang="ja-JP" dirty="0"/>
              </a:p>
              <a:p>
                <a:endParaRPr lang="ja-JP" altLang="en-US" dirty="0"/>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Choice>
        <mc:Fallback>
          <p:sp>
            <p:nvSpPr>
              <p:cNvPr id="3" name="ノート プレースホルダー 2"/>
              <p:cNvSpPr>
                <a:spLocks noGrp="1"/>
              </p:cNvSpPr>
              <p:nvPr>
                <p:ph type="body" idx="1"/>
              </p:nvPr>
            </p:nvSpPr>
            <p:spPr/>
            <p:txBody>
              <a:bodyPr/>
              <a:lstStyle/>
              <a:p>
                <a:r>
                  <a:rPr lang="ja-JP" altLang="en-US" dirty="0"/>
                  <a:t>（</a:t>
                </a:r>
                <a:r>
                  <a:rPr lang="en-US" altLang="ja-JP" dirty="0"/>
                  <a:t>9</a:t>
                </a:r>
                <a:r>
                  <a:rPr lang="ja-JP" altLang="en-US" dirty="0"/>
                  <a:t>枚目）</a:t>
                </a:r>
                <a:endParaRPr lang="en-US" altLang="ja-JP" dirty="0"/>
              </a:p>
              <a:p>
                <a:r>
                  <a:rPr lang="ja-JP" altLang="en-US" dirty="0"/>
                  <a:t>ここから提案手法について説明します。</a:t>
                </a:r>
              </a:p>
              <a:p>
                <a:r>
                  <a:rPr lang="ja-JP" altLang="en-US" dirty="0"/>
                  <a:t>本研究では、髭の影響を</a:t>
                </a:r>
                <a:br>
                  <a:rPr lang="ja-JP" altLang="en-US" dirty="0"/>
                </a:br>
                <a:r>
                  <a:rPr lang="ja-JP" altLang="en-US" dirty="0"/>
                  <a:t>「髭密度マップ」として表現します。</a:t>
                </a:r>
              </a:p>
              <a:p>
                <a:r>
                  <a:rPr lang="ja-JP" altLang="en-US" dirty="0"/>
                  <a:t>顔表面上の各位置 </a:t>
                </a:r>
                <a:r>
                  <a:rPr kumimoji="1" lang="ja-JP" altLang="en-US" sz="1200" i="0" kern="1200">
                    <a:solidFill>
                      <a:schemeClr val="tx1"/>
                    </a:solidFill>
                    <a:latin typeface="+mn-lt"/>
                    <a:ea typeface="+mn-ea"/>
                    <a:cs typeface="+mn-cs"/>
                  </a:rPr>
                  <a:t>𝑥</a:t>
                </a:r>
                <a:r>
                  <a:rPr lang="ja-JP" altLang="en-US" dirty="0"/>
                  <a:t>に対して</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という値を定義し、</a:t>
                </a:r>
                <a:br>
                  <a:rPr lang="ja-JP" altLang="en-US" dirty="0"/>
                </a:br>
                <a:r>
                  <a:rPr lang="en-US" altLang="ja-JP" dirty="0"/>
                  <a:t>0 </a:t>
                </a:r>
                <a:r>
                  <a:rPr lang="ja-JP" altLang="en-US" dirty="0"/>
                  <a:t>なら髭がなく、</a:t>
                </a:r>
                <a:r>
                  <a:rPr lang="en-US" altLang="ja-JP" dirty="0"/>
                  <a:t>1 </a:t>
                </a:r>
                <a:r>
                  <a:rPr lang="ja-JP" altLang="en-US" dirty="0"/>
                  <a:t>なら非常に濃い状態を表します。</a:t>
                </a:r>
                <a:endParaRPr lang="en-US" altLang="ja-JP" dirty="0"/>
              </a:p>
              <a:p>
                <a:endParaRPr lang="en-US" altLang="ja-JP" dirty="0"/>
              </a:p>
              <a:p>
                <a:r>
                  <a:rPr lang="ja-JP" altLang="en-US" dirty="0"/>
                  <a:t>マップが白くなっているほど髭が濃くなっているという感じです。</a:t>
                </a:r>
                <a:endParaRPr lang="en-US" altLang="ja-JP" dirty="0"/>
              </a:p>
              <a:p>
                <a:endParaRPr lang="ja-JP" altLang="en-US" dirty="0"/>
              </a:p>
              <a:p>
                <a:r>
                  <a:rPr lang="ja-JP" altLang="en-US" dirty="0"/>
                  <a:t>あらかじめ、</a:t>
                </a:r>
                <a:br>
                  <a:rPr lang="ja-JP" altLang="en-US" dirty="0"/>
                </a:br>
                <a:r>
                  <a:rPr lang="ja-JP" altLang="en-US" dirty="0"/>
                  <a:t>髭のない皮膚と、髭が非常に濃い場合の</a:t>
                </a:r>
                <a:br>
                  <a:rPr lang="ja-JP" altLang="en-US" dirty="0"/>
                </a:br>
                <a:r>
                  <a:rPr lang="en-US" altLang="ja-JP" dirty="0"/>
                  <a:t>2 </a:t>
                </a:r>
                <a:r>
                  <a:rPr lang="ja-JP" altLang="en-US" dirty="0"/>
                  <a:t>種類の </a:t>
                </a:r>
                <a:r>
                  <a:rPr lang="en-US" altLang="ja-JP" dirty="0"/>
                  <a:t>BSSRDF </a:t>
                </a:r>
                <a:r>
                  <a:rPr lang="ja-JP" altLang="en-US" dirty="0"/>
                  <a:t>を用意しておき、</a:t>
                </a:r>
                <a:br>
                  <a:rPr lang="ja-JP" altLang="en-US" dirty="0"/>
                </a:br>
                <a:r>
                  <a:rPr lang="ja-JP" altLang="en-US" dirty="0"/>
                  <a:t>レンダリング時には、</a:t>
                </a:r>
                <a:br>
                  <a:rPr lang="ja-JP" altLang="en-US" dirty="0"/>
                </a:br>
                <a:r>
                  <a:rPr lang="ja-JP" altLang="en-US" dirty="0"/>
                  <a:t>この髭密度に応じて</a:t>
                </a:r>
                <a:br>
                  <a:rPr lang="ja-JP" altLang="en-US" dirty="0"/>
                </a:br>
                <a:r>
                  <a:rPr lang="en-US" altLang="ja-JP" dirty="0"/>
                  <a:t>BSSRDF </a:t>
                </a:r>
                <a:r>
                  <a:rPr lang="ja-JP" altLang="en-US" dirty="0"/>
                  <a:t>の拡散特性そのものを混合します。</a:t>
                </a:r>
              </a:p>
              <a:p>
                <a:r>
                  <a:rPr lang="ja-JP" altLang="en-US" dirty="0"/>
                  <a:t>これにより、</a:t>
                </a:r>
                <a:br>
                  <a:rPr lang="ja-JP" altLang="en-US" dirty="0"/>
                </a:br>
                <a:r>
                  <a:rPr lang="ja-JP" altLang="en-US" dirty="0"/>
                  <a:t>髭の濃い領域ほど</a:t>
                </a:r>
                <a:br>
                  <a:rPr lang="ja-JP" altLang="en-US" dirty="0"/>
                </a:br>
                <a:r>
                  <a:rPr lang="ja-JP" altLang="en-US" dirty="0"/>
                  <a:t>表面下散乱の広がり方が抑制されるような、</a:t>
                </a:r>
                <a:br>
                  <a:rPr lang="ja-JP" altLang="en-US" dirty="0"/>
                </a:br>
                <a:r>
                  <a:rPr lang="ja-JP" altLang="en-US" dirty="0"/>
                  <a:t>不均質な皮膚表現を実現します。</a:t>
                </a:r>
              </a:p>
            </p:txBody>
          </p:sp>
        </mc:Fallback>
      </mc:AlternateContent>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9</a:t>
            </a:fld>
            <a:endParaRPr kumimoji="1" lang="ja-JP" altLang="en-US"/>
          </a:p>
        </p:txBody>
      </p:sp>
    </p:spTree>
    <p:extLst>
      <p:ext uri="{BB962C8B-B14F-4D97-AF65-F5344CB8AC3E}">
        <p14:creationId xmlns:p14="http://schemas.microsoft.com/office/powerpoint/2010/main" val="41095153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5E9FF-76D4-C150-254D-0A2CA7D4E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DFF6FE2-12A0-9207-03A6-7A3A4BE4F07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pPr/>
                <a:r>
                  <a:rPr lang="ja-JP" altLang="en-US" dirty="0"/>
                  <a:t>（</a:t>
                </a:r>
                <a:r>
                  <a:rPr lang="en-US" altLang="ja-JP" dirty="0"/>
                  <a:t>10</a:t>
                </a:r>
                <a:r>
                  <a:rPr lang="ja-JP" altLang="en-US" dirty="0"/>
                  <a:t>枚目）</a:t>
                </a:r>
                <a:endParaRPr lang="en-US" altLang="ja-JP" dirty="0"/>
              </a:p>
              <a:p>
                <a:pPr/>
                <a:r>
                  <a:rPr lang="ja-JP" altLang="en-US" dirty="0"/>
                  <a:t>数式で書くと、まず「髭がない素の皮膚」の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と、</a:t>
                </a:r>
                <a:br>
                  <a:rPr lang="ja-JP" altLang="en-US" dirty="0"/>
                </a:br>
                <a:r>
                  <a:rPr lang="ja-JP" altLang="en-US" dirty="0"/>
                  <a:t>「髭がとても濃いとき」の </a:t>
                </a:r>
                <a:r>
                  <a:rPr lang="en-US" altLang="ja-JP" dirty="0"/>
                  <a:t>BSSRDF </a:t>
                </a:r>
                <a14:m>
                  <m:oMath xmlns:m="http://schemas.openxmlformats.org/officeDocument/2006/math">
                    <m:sSubSup>
                      <m:sSubSupPr>
                        <m:ctrlPr>
                          <a:rPr kumimoji="1" lang="ja-JP" altLang="en-US" sz="1200" i="1" kern="1200">
                            <a:solidFill>
                              <a:schemeClr val="tx1"/>
                            </a:solidFill>
                            <a:latin typeface="Cambria Math" panose="02040503050406030204" pitchFamily="18" charset="0"/>
                            <a:ea typeface="+mn-ea"/>
                            <a:cs typeface="+mn-cs"/>
                          </a:rPr>
                        </m:ctrlPr>
                      </m:sSubSupPr>
                      <m:e>
                        <m:r>
                          <a:rPr kumimoji="1" lang="ja-JP" altLang="en-US" sz="1200" i="1" kern="1200">
                            <a:solidFill>
                              <a:schemeClr val="tx1"/>
                            </a:solidFill>
                            <a:latin typeface="Cambria Math" panose="02040503050406030204" pitchFamily="18" charset="0"/>
                            <a:ea typeface="+mn-ea"/>
                            <a:cs typeface="+mn-cs"/>
                          </a:rPr>
                          <m:t>𝑅</m:t>
                        </m:r>
                      </m:e>
                      <m:sub>
                        <m:r>
                          <a:rPr kumimoji="1" lang="ja-JP" altLang="en-US" sz="120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a14:m>
                <a:r>
                  <a:rPr lang="ja-JP" altLang="en-US" dirty="0"/>
                  <a:t>を用意しておきます。</a:t>
                </a:r>
                <a:br>
                  <a:rPr lang="ja-JP" altLang="en-US" dirty="0"/>
                </a:br>
                <a:r>
                  <a:rPr lang="ja-JP" altLang="en-US" dirty="0"/>
                  <a:t>そして、実際の位置 </a:t>
                </a:r>
                <a14:m>
                  <m:oMath xmlns:m="http://schemas.openxmlformats.org/officeDocument/2006/math">
                    <m:r>
                      <a:rPr kumimoji="1" lang="ja-JP" altLang="en-US" sz="1200" i="1" kern="1200">
                        <a:solidFill>
                          <a:schemeClr val="tx1"/>
                        </a:solidFill>
                        <a:latin typeface="Cambria Math" panose="02040503050406030204" pitchFamily="18" charset="0"/>
                        <a:ea typeface="+mn-ea"/>
                        <a:cs typeface="+mn-cs"/>
                      </a:rPr>
                      <m:t>𝑥</m:t>
                    </m:r>
                  </m:oMath>
                </a14:m>
                <a:r>
                  <a:rPr lang="ja-JP" altLang="en-US" dirty="0"/>
                  <a:t>での見え方は、髭密度 </a:t>
                </a: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oMath>
                </a14:m>
                <a:r>
                  <a:rPr lang="ja-JP" altLang="en-US" dirty="0"/>
                  <a:t>に応じて</a:t>
                </a:r>
                <a:br>
                  <a:rPr lang="ja-JP" altLang="en-US" dirty="0"/>
                </a:br>
                <a14:m>
                  <m:oMathPara xmlns:m="http://schemas.openxmlformats.org/officeDocument/2006/math">
                    <m:oMathParaPr>
                      <m:jc m:val="centerGroup"/>
                    </m:oMathParaPr>
                    <m:oMath xmlns:m="http://schemas.openxmlformats.org/officeDocument/2006/math">
                      <m:d>
                        <m:dPr>
                          <m:ctrlPr>
                            <a:rPr kumimoji="1" lang="ja-JP" altLang="en-US" sz="1200" i="1" kern="1200">
                              <a:solidFill>
                                <a:schemeClr val="tx1"/>
                              </a:solidFill>
                              <a:latin typeface="Cambria Math" panose="02040503050406030204" pitchFamily="18" charset="0"/>
                              <a:ea typeface="+mn-ea"/>
                              <a:cs typeface="+mn-cs"/>
                            </a:rPr>
                          </m:ctrlPr>
                        </m:dPr>
                        <m:e>
                          <m:r>
                            <a:rPr kumimoji="1" lang="en-US" altLang="ja-JP" sz="1200" kern="1200">
                              <a:solidFill>
                                <a:schemeClr val="tx1"/>
                              </a:solidFill>
                              <a:latin typeface="Cambria Math" panose="02040503050406030204" pitchFamily="18" charset="0"/>
                              <a:ea typeface="+mn-ea"/>
                              <a:cs typeface="+mn-cs"/>
                            </a:rPr>
                            <m:t>1</m:t>
                          </m:r>
                          <m:r>
                            <a:rPr kumimoji="1" lang="ja-JP" altLang="en-US" sz="1200" i="0" kern="1200">
                              <a:solidFill>
                                <a:schemeClr val="tx1"/>
                              </a:solidFill>
                              <a:latin typeface="Cambria Math" panose="02040503050406030204" pitchFamily="18" charset="0"/>
                              <a:ea typeface="+mn-ea"/>
                              <a:cs typeface="+mn-cs"/>
                            </a:rPr>
                            <m:t>−</m:t>
                          </m:r>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skin</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r>
                        <a:rPr kumimoji="1" lang="en-US" altLang="ja-JP" sz="1200" b="0" i="0" kern="1200">
                          <a:solidFill>
                            <a:schemeClr val="tx1"/>
                          </a:solidFill>
                          <a:latin typeface="Cambria Math" panose="02040503050406030204" pitchFamily="18" charset="0"/>
                          <a:ea typeface="+mn-ea"/>
                          <a:cs typeface="+mn-cs"/>
                        </a:rPr>
                        <m:t>+</m:t>
                      </m:r>
                      <m:sSub>
                        <m:sSubPr>
                          <m:ctrlPr>
                            <a:rPr kumimoji="1" lang="ja-JP" altLang="en-US" sz="1200" b="0" i="1" kern="1200">
                              <a:solidFill>
                                <a:schemeClr val="tx1"/>
                              </a:solidFill>
                              <a:latin typeface="Cambria Math" panose="02040503050406030204" pitchFamily="18" charset="0"/>
                              <a:ea typeface="+mn-ea"/>
                              <a:cs typeface="+mn-cs"/>
                            </a:rPr>
                          </m:ctrlPr>
                        </m:sSubPr>
                        <m:e>
                          <m:r>
                            <a:rPr kumimoji="1" lang="ja-JP" altLang="en-US" sz="1200" b="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𝑥</m:t>
                          </m:r>
                        </m:e>
                      </m:d>
                      <m:sSubSup>
                        <m:sSubSupPr>
                          <m:ctrlPr>
                            <a:rPr kumimoji="1" lang="ja-JP" altLang="en-US" sz="1200" b="0" i="1" kern="1200">
                              <a:solidFill>
                                <a:schemeClr val="tx1"/>
                              </a:solidFill>
                              <a:latin typeface="Cambria Math" panose="02040503050406030204" pitchFamily="18" charset="0"/>
                              <a:ea typeface="+mn-ea"/>
                              <a:cs typeface="+mn-cs"/>
                            </a:rPr>
                          </m:ctrlPr>
                        </m:sSubSupPr>
                        <m:e>
                          <m:r>
                            <a:rPr kumimoji="1" lang="ja-JP" altLang="en-US" sz="1200" b="0" i="1" kern="1200">
                              <a:solidFill>
                                <a:schemeClr val="tx1"/>
                              </a:solidFill>
                              <a:latin typeface="Cambria Math" panose="02040503050406030204" pitchFamily="18" charset="0"/>
                              <a:ea typeface="+mn-ea"/>
                              <a:cs typeface="+mn-cs"/>
                            </a:rPr>
                            <m:t>𝑅</m:t>
                          </m:r>
                        </m:e>
                        <m:sub>
                          <m:r>
                            <a:rPr kumimoji="1" lang="ja-JP" altLang="en-US" sz="1200" b="0" i="1" kern="1200">
                              <a:solidFill>
                                <a:schemeClr val="tx1"/>
                              </a:solidFill>
                              <a:latin typeface="Cambria Math" panose="02040503050406030204" pitchFamily="18" charset="0"/>
                              <a:ea typeface="+mn-ea"/>
                              <a:cs typeface="+mn-cs"/>
                            </a:rPr>
                            <m:t>𝑑</m:t>
                          </m:r>
                        </m:sub>
                        <m:sup>
                          <m:r>
                            <m:rPr>
                              <m:nor/>
                            </m:rPr>
                            <a:rPr kumimoji="1" lang="en-US" altLang="ja-JP" sz="1200" b="0" i="1" kern="1200">
                              <a:solidFill>
                                <a:schemeClr val="tx1"/>
                              </a:solidFill>
                              <a:latin typeface="+mn-lt"/>
                              <a:ea typeface="+mn-ea"/>
                              <a:cs typeface="+mn-cs"/>
                            </a:rPr>
                            <m:t>beard</m:t>
                          </m:r>
                        </m:sup>
                      </m:sSubSup>
                      <m:d>
                        <m:dPr>
                          <m:ctrlPr>
                            <a:rPr kumimoji="1" lang="ja-JP" altLang="en-US" sz="1200" b="0" i="1" kern="1200">
                              <a:solidFill>
                                <a:schemeClr val="tx1"/>
                              </a:solidFill>
                              <a:latin typeface="Cambria Math" panose="02040503050406030204" pitchFamily="18" charset="0"/>
                              <a:ea typeface="+mn-ea"/>
                              <a:cs typeface="+mn-cs"/>
                            </a:rPr>
                          </m:ctrlPr>
                        </m:dPr>
                        <m:e>
                          <m:r>
                            <a:rPr kumimoji="1" lang="ja-JP" altLang="en-US" sz="1200" b="0" i="1" kern="1200">
                              <a:solidFill>
                                <a:schemeClr val="tx1"/>
                              </a:solidFill>
                              <a:latin typeface="Cambria Math" panose="02040503050406030204" pitchFamily="18" charset="0"/>
                              <a:ea typeface="+mn-ea"/>
                              <a:cs typeface="+mn-cs"/>
                            </a:rPr>
                            <m:t>𝑟</m:t>
                          </m:r>
                        </m:e>
                      </m:d>
                    </m:oMath>
                  </m:oMathPara>
                </a14:m>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14:m>
                  <m:oMath xmlns:m="http://schemas.openxmlformats.org/officeDocument/2006/math">
                    <m:sSub>
                      <m:sSubPr>
                        <m:ctrlPr>
                          <a:rPr kumimoji="1" lang="ja-JP" altLang="en-US" sz="1200" i="1" kern="1200">
                            <a:solidFill>
                              <a:schemeClr val="tx1"/>
                            </a:solidFill>
                            <a:latin typeface="Cambria Math" panose="02040503050406030204" pitchFamily="18" charset="0"/>
                            <a:ea typeface="+mn-ea"/>
                            <a:cs typeface="+mn-cs"/>
                          </a:rPr>
                        </m:ctrlPr>
                      </m:sSubPr>
                      <m:e>
                        <m:r>
                          <a:rPr kumimoji="1" lang="ja-JP" altLang="en-US" sz="1200" i="1" kern="1200">
                            <a:solidFill>
                              <a:schemeClr val="tx1"/>
                            </a:solidFill>
                            <a:latin typeface="Cambria Math" panose="02040503050406030204" pitchFamily="18" charset="0"/>
                            <a:ea typeface="+mn-ea"/>
                            <a:cs typeface="+mn-cs"/>
                          </a:rPr>
                          <m:t>𝜌</m:t>
                        </m:r>
                      </m:e>
                      <m:sub>
                        <m:r>
                          <m:rPr>
                            <m:nor/>
                          </m:rPr>
                          <a:rPr kumimoji="1" lang="en-US" altLang="ja-JP" sz="1200" b="0" i="1" kern="1200">
                            <a:solidFill>
                              <a:schemeClr val="tx1"/>
                            </a:solidFill>
                            <a:latin typeface="+mn-lt"/>
                            <a:ea typeface="+mn-ea"/>
                            <a:cs typeface="+mn-cs"/>
                          </a:rPr>
                          <m:t>beard</m:t>
                        </m:r>
                      </m:sub>
                    </m:sSub>
                  </m:oMath>
                </a14:m>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br>
                  <a:rPr lang="en-US" altLang="ja-JP" dirty="0"/>
                </a:br>
                <a:br>
                  <a:rPr lang="en-US" altLang="ja-JP" dirty="0"/>
                </a:br>
                <a:r>
                  <a:rPr lang="ja-JP" altLang="en-US" dirty="0"/>
                  <a:t>：</a:t>
                </a:r>
                <a:endParaRPr kumimoji="1" lang="ja-JP" altLang="en-US" dirty="0"/>
              </a:p>
            </p:txBody>
          </p:sp>
        </mc:Choice>
        <mc:Fallback xmlns="">
          <p:sp>
            <p:nvSpPr>
              <p:cNvPr id="3" name="ノート プレースホルダー 2">
                <a:extLst>
                  <a:ext uri="{FF2B5EF4-FFF2-40B4-BE49-F238E27FC236}">
                    <a16:creationId xmlns:a16="http://schemas.microsoft.com/office/drawing/2014/main" id="{9D71F7A5-31C1-F9D4-DC2C-97927B2E6FC4}"/>
                  </a:ext>
                </a:extLst>
              </p:cNvPr>
              <p:cNvSpPr>
                <a:spLocks noGrp="1"/>
              </p:cNvSpPr>
              <p:nvPr>
                <p:ph type="body" idx="1"/>
              </p:nvPr>
            </p:nvSpPr>
            <p:spPr/>
            <p:txBody>
              <a:bodyPr/>
              <a:lstStyle/>
              <a:p>
                <a:r>
                  <a:rPr lang="ja-JP" altLang="en-US" dirty="0"/>
                  <a:t>数式で書くと、まず「髭がない素の皮膚」の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lang="ja-JP" altLang="en-US" dirty="0"/>
                  <a:t>と、</a:t>
                </a:r>
                <a:br>
                  <a:rPr lang="ja-JP" altLang="en-US" dirty="0"/>
                </a:br>
                <a:r>
                  <a:rPr lang="ja-JP" altLang="en-US" dirty="0"/>
                  <a:t>「髭がとても濃いとき」の </a:t>
                </a:r>
                <a:r>
                  <a:rPr lang="en-US" altLang="ja-JP" dirty="0"/>
                  <a:t>BSSRDF </a:t>
                </a:r>
                <a:r>
                  <a:rPr kumimoji="1" lang="ja-JP" altLang="en-US" sz="1200" i="0" kern="1200">
                    <a:solidFill>
                      <a:schemeClr val="tx1"/>
                    </a:solidFill>
                    <a:latin typeface="+mn-lt"/>
                    <a:ea typeface="+mn-ea"/>
                    <a:cs typeface="+mn-cs"/>
                  </a:rPr>
                  <a:t>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r>
                  <a:rPr lang="ja-JP" altLang="en-US" dirty="0"/>
                  <a:t>を用意しておきます。</a:t>
                </a:r>
                <a:br>
                  <a:rPr lang="ja-JP" altLang="en-US" dirty="0"/>
                </a:br>
                <a:r>
                  <a:rPr lang="ja-JP" altLang="en-US" dirty="0"/>
                  <a:t>そして、実際の位置 </a:t>
                </a:r>
                <a:r>
                  <a:rPr kumimoji="1" lang="ja-JP" altLang="en-US" sz="1200" i="0" kern="1200">
                    <a:solidFill>
                      <a:schemeClr val="tx1"/>
                    </a:solidFill>
                    <a:latin typeface="+mn-lt"/>
                    <a:ea typeface="+mn-ea"/>
                    <a:cs typeface="+mn-cs"/>
                  </a:rPr>
                  <a:t>𝑥</a:t>
                </a:r>
                <a:r>
                  <a:rPr lang="ja-JP" altLang="en-US" dirty="0"/>
                  <a:t>での見え方は、髭密度 </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a:t>
                </a:r>
                <a:r>
                  <a:rPr lang="ja-JP" altLang="en-US" dirty="0"/>
                  <a:t>に応じて</a:t>
                </a:r>
                <a:br>
                  <a:rPr lang="ja-JP" altLang="en-US" dirty="0"/>
                </a:br>
                <a:r>
                  <a:rPr kumimoji="1" lang="ja-JP" altLang="en-US" sz="1200" i="0" kern="1200">
                    <a:solidFill>
                      <a:schemeClr val="tx1"/>
                    </a:solidFill>
                    <a:latin typeface="+mn-lt"/>
                    <a:ea typeface="+mn-ea"/>
                    <a:cs typeface="+mn-cs"/>
                  </a:rPr>
                  <a:t>(</a:t>
                </a:r>
                <a:r>
                  <a:rPr kumimoji="1" lang="en-US" altLang="ja-JP" sz="1200" i="0" kern="1200">
                    <a:solidFill>
                      <a:schemeClr val="tx1"/>
                    </a:solidFill>
                    <a:latin typeface="+mn-lt"/>
                    <a:ea typeface="+mn-ea"/>
                    <a:cs typeface="+mn-cs"/>
                  </a:rPr>
                  <a:t>1</a:t>
                </a: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"skin</a:t>
                </a:r>
                <a:r>
                  <a:rPr kumimoji="1" lang="ja-JP" altLang="en-US" sz="1200" b="0" i="0" kern="1200">
                    <a:solidFill>
                      <a:schemeClr val="tx1"/>
                    </a:solidFill>
                    <a:latin typeface="+mn-lt"/>
                    <a:ea typeface="+mn-ea"/>
                    <a:cs typeface="+mn-cs"/>
                  </a:rPr>
                  <a:t>"  (𝑟)</a:t>
                </a:r>
                <a:r>
                  <a:rPr kumimoji="1" lang="en-US" altLang="ja-JP" sz="1200" b="0" i="0" kern="1200">
                    <a:solidFill>
                      <a:schemeClr val="tx1"/>
                    </a:solidFill>
                    <a:latin typeface="+mn-lt"/>
                    <a:ea typeface="+mn-ea"/>
                    <a:cs typeface="+mn-cs"/>
                  </a:rPr>
                  <a:t>+</a:t>
                </a:r>
                <a:r>
                  <a:rPr kumimoji="1" lang="ja-JP" altLang="en-US" sz="1200" b="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(𝑥) 𝑅_𝑑^</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(𝑟)</a:t>
                </a:r>
                <a:br>
                  <a:rPr lang="ja-JP" altLang="en-US" dirty="0"/>
                </a:br>
                <a:r>
                  <a:rPr lang="ja-JP" altLang="en-US" dirty="0"/>
                  <a:t>のように </a:t>
                </a:r>
                <a:r>
                  <a:rPr lang="en-US" altLang="ja-JP" dirty="0"/>
                  <a:t>2 </a:t>
                </a:r>
                <a:r>
                  <a:rPr lang="ja-JP" altLang="en-US" dirty="0"/>
                  <a:t>つの </a:t>
                </a:r>
                <a:r>
                  <a:rPr lang="en-US" altLang="ja-JP" dirty="0"/>
                  <a:t>BSSRDF </a:t>
                </a:r>
                <a:r>
                  <a:rPr lang="ja-JP" altLang="en-US" dirty="0"/>
                  <a:t>を線形に混合して決めます。</a:t>
                </a:r>
                <a:br>
                  <a:rPr lang="ja-JP" altLang="en-US" dirty="0"/>
                </a:br>
                <a:r>
                  <a:rPr kumimoji="1" lang="ja-JP" altLang="en-US" sz="1200" i="0" kern="1200">
                    <a:solidFill>
                      <a:schemeClr val="tx1"/>
                    </a:solidFill>
                    <a:latin typeface="+mn-lt"/>
                    <a:ea typeface="+mn-ea"/>
                    <a:cs typeface="+mn-cs"/>
                  </a:rPr>
                  <a:t>𝜌_</a:t>
                </a:r>
                <a:r>
                  <a:rPr kumimoji="1" lang="en-US" altLang="ja-JP" sz="1200" b="0" i="0" kern="1200">
                    <a:solidFill>
                      <a:schemeClr val="tx1"/>
                    </a:solidFill>
                    <a:latin typeface="+mn-lt"/>
                    <a:ea typeface="+mn-ea"/>
                    <a:cs typeface="+mn-cs"/>
                  </a:rPr>
                  <a:t>"beard</a:t>
                </a:r>
                <a:r>
                  <a:rPr kumimoji="1" lang="ja-JP" altLang="en-US" sz="1200" b="0" i="0" kern="1200">
                    <a:solidFill>
                      <a:schemeClr val="tx1"/>
                    </a:solidFill>
                    <a:latin typeface="+mn-lt"/>
                    <a:ea typeface="+mn-ea"/>
                    <a:cs typeface="+mn-cs"/>
                  </a:rPr>
                  <a:t>" </a:t>
                </a:r>
                <a:r>
                  <a:rPr lang="ja-JP" altLang="en-US" dirty="0"/>
                  <a:t>が </a:t>
                </a:r>
                <a:r>
                  <a:rPr lang="en-US" altLang="ja-JP" dirty="0"/>
                  <a:t>0 </a:t>
                </a:r>
                <a:r>
                  <a:rPr lang="ja-JP" altLang="en-US" dirty="0"/>
                  <a:t>なら素の皮膚だけが効き、</a:t>
                </a:r>
                <a:r>
                  <a:rPr lang="en-US" altLang="ja-JP" dirty="0"/>
                  <a:t>1 </a:t>
                </a:r>
                <a:r>
                  <a:rPr lang="ja-JP" altLang="en-US" dirty="0"/>
                  <a:t>なら髭の影響だけが効く状態になります。</a:t>
                </a:r>
                <a:br>
                  <a:rPr lang="ja-JP" altLang="en-US" dirty="0"/>
                </a:br>
                <a:r>
                  <a:rPr lang="ja-JP" altLang="en-US" dirty="0"/>
                  <a:t>その間は連続的に変化するので、頬のように髭が薄い部分と、顎のように髭が濃い部分で、</a:t>
                </a:r>
                <a:br>
                  <a:rPr lang="ja-JP" altLang="en-US" dirty="0"/>
                </a:br>
                <a:r>
                  <a:rPr lang="ja-JP" altLang="en-US" dirty="0"/>
                  <a:t>表面下散乱の広がり方や色味が滑らかに変化するような表現ができます</a:t>
                </a:r>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5304BC8D-173F-9B08-C608-EBCB53824503}"/>
              </a:ext>
            </a:extLst>
          </p:cNvPr>
          <p:cNvSpPr>
            <a:spLocks noGrp="1"/>
          </p:cNvSpPr>
          <p:nvPr>
            <p:ph type="sldNum" sz="quarter" idx="5"/>
          </p:nvPr>
        </p:nvSpPr>
        <p:spPr/>
        <p:txBody>
          <a:bodyPr/>
          <a:lstStyle/>
          <a:p>
            <a:fld id="{6F018766-D927-423C-997B-33B886F71A70}" type="slidenum">
              <a:rPr kumimoji="1" lang="ja-JP" altLang="en-US" smtClean="0"/>
              <a:t>10</a:t>
            </a:fld>
            <a:endParaRPr kumimoji="1" lang="ja-JP" altLang="en-US"/>
          </a:p>
        </p:txBody>
      </p:sp>
    </p:spTree>
    <p:extLst>
      <p:ext uri="{BB962C8B-B14F-4D97-AF65-F5344CB8AC3E}">
        <p14:creationId xmlns:p14="http://schemas.microsoft.com/office/powerpoint/2010/main" val="3730414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11</a:t>
            </a:r>
            <a:r>
              <a:rPr kumimoji="1" lang="ja-JP" altLang="en-US" dirty="0"/>
              <a:t>枚目）</a:t>
            </a:r>
            <a:endParaRPr kumimoji="1" lang="en-US" altLang="ja-JP" dirty="0"/>
          </a:p>
          <a:p>
            <a:r>
              <a:rPr kumimoji="1" lang="ja-JP" altLang="en-US" dirty="0"/>
              <a:t>こ</a:t>
            </a:r>
            <a:r>
              <a:rPr lang="ja-JP" altLang="en-US" dirty="0"/>
              <a:t>ちらは、</a:t>
            </a:r>
            <a:br>
              <a:rPr lang="ja-JP" altLang="en-US" dirty="0"/>
            </a:br>
            <a:r>
              <a:rPr lang="ja-JP" altLang="en-US" dirty="0"/>
              <a:t>髭密度モデルを適用した場合と、</a:t>
            </a:r>
            <a:br>
              <a:rPr lang="ja-JP" altLang="en-US" dirty="0"/>
            </a:br>
            <a:r>
              <a:rPr lang="ja-JP" altLang="en-US" dirty="0"/>
              <a:t>適用していない場合の</a:t>
            </a:r>
            <a:br>
              <a:rPr lang="ja-JP" altLang="en-US" dirty="0"/>
            </a:br>
            <a:r>
              <a:rPr lang="ja-JP" altLang="en-US" dirty="0"/>
              <a:t>レンダリング結果の比較です。</a:t>
            </a:r>
          </a:p>
          <a:p>
            <a:r>
              <a:rPr lang="ja-JP" altLang="en-US" dirty="0"/>
              <a:t>左は髭密度を考慮しない均質な皮膚モデル、</a:t>
            </a:r>
            <a:br>
              <a:rPr lang="ja-JP" altLang="en-US" dirty="0"/>
            </a:br>
            <a:r>
              <a:rPr lang="ja-JP" altLang="en-US" dirty="0"/>
              <a:t>右は髭密度マップを適用した結果になります。</a:t>
            </a:r>
          </a:p>
          <a:p>
            <a:r>
              <a:rPr lang="ja-JP" altLang="en-US" dirty="0"/>
              <a:t>顎や口周りといった</a:t>
            </a:r>
            <a:br>
              <a:rPr lang="ja-JP" altLang="en-US" dirty="0"/>
            </a:br>
            <a:r>
              <a:rPr lang="ja-JP" altLang="en-US" dirty="0"/>
              <a:t>髭密度の高い領域において、</a:t>
            </a:r>
            <a:br>
              <a:rPr lang="ja-JP" altLang="en-US" dirty="0"/>
            </a:br>
            <a:r>
              <a:rPr lang="ja-JP" altLang="en-US" dirty="0"/>
              <a:t>暗さの増加や、</a:t>
            </a:r>
            <a:br>
              <a:rPr lang="ja-JP" altLang="en-US" dirty="0"/>
            </a:br>
            <a:r>
              <a:rPr lang="ja-JP" altLang="en-US" dirty="0"/>
              <a:t>表面下散乱のにじみが抑制されていることが確認できます。</a:t>
            </a:r>
          </a:p>
          <a:p>
            <a:r>
              <a:rPr lang="ja-JP" altLang="en-US" dirty="0"/>
              <a:t>このように、</a:t>
            </a:r>
            <a:br>
              <a:rPr lang="ja-JP" altLang="en-US" dirty="0"/>
            </a:br>
            <a:r>
              <a:rPr lang="ja-JP" altLang="en-US" dirty="0"/>
              <a:t>髭密度に応じて</a:t>
            </a:r>
            <a:br>
              <a:rPr lang="ja-JP" altLang="en-US" dirty="0"/>
            </a:br>
            <a:r>
              <a:rPr lang="ja-JP" altLang="en-US" dirty="0"/>
              <a:t>見えが局所的に変化していることが</a:t>
            </a:r>
            <a:br>
              <a:rPr lang="ja-JP" altLang="en-US" dirty="0"/>
            </a:br>
            <a:r>
              <a:rPr lang="ja-JP" altLang="en-US" dirty="0"/>
              <a:t>視覚的にも確認できます。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11</a:t>
            </a:fld>
            <a:endParaRPr kumimoji="1" lang="ja-JP" altLang="en-US"/>
          </a:p>
        </p:txBody>
      </p:sp>
    </p:spTree>
    <p:extLst>
      <p:ext uri="{BB962C8B-B14F-4D97-AF65-F5344CB8AC3E}">
        <p14:creationId xmlns:p14="http://schemas.microsoft.com/office/powerpoint/2010/main" val="45911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a:t>
            </a:r>
            <a:r>
              <a:rPr lang="en-US" altLang="ja-JP" dirty="0"/>
              <a:t>12</a:t>
            </a:r>
            <a:r>
              <a:rPr lang="ja-JP" altLang="en-US" dirty="0"/>
              <a:t>枚目）</a:t>
            </a:r>
            <a:br>
              <a:rPr lang="en-US" altLang="ja-JP" dirty="0"/>
            </a:br>
            <a:r>
              <a:rPr lang="ja-JP" altLang="en-US" dirty="0"/>
              <a:t>次に、ここまで説明した提案手法が</a:t>
            </a:r>
            <a:br>
              <a:rPr lang="ja-JP" altLang="en-US" dirty="0"/>
            </a:br>
            <a:r>
              <a:rPr lang="ja-JP" altLang="en-US" b="1" dirty="0"/>
              <a:t>意図どおりに機能しているかを確認するための検証</a:t>
            </a:r>
            <a:r>
              <a:rPr lang="ja-JP" altLang="en-US" dirty="0"/>
              <a:t> について説明します。</a:t>
            </a:r>
            <a:endParaRPr lang="en-US" altLang="ja-JP" dirty="0"/>
          </a:p>
          <a:p>
            <a:r>
              <a:rPr lang="ja-JP" altLang="en-US" dirty="0"/>
              <a:t>本検証は、</a:t>
            </a:r>
            <a:br>
              <a:rPr lang="ja-JP" altLang="en-US" dirty="0"/>
            </a:br>
            <a:r>
              <a:rPr lang="ja-JP" altLang="en-US" dirty="0"/>
              <a:t>髭密度モデルを用いた皮膚レンダラを実装する際に、</a:t>
            </a:r>
            <a:br>
              <a:rPr lang="ja-JP" altLang="en-US" dirty="0"/>
            </a:br>
            <a:r>
              <a:rPr lang="ja-JP" altLang="en-US" dirty="0"/>
              <a:t>その実装が意図どおりに機能するかどうかを確認するために行いました。</a:t>
            </a:r>
          </a:p>
          <a:p>
            <a:r>
              <a:rPr lang="ja-JP" altLang="en-US" dirty="0"/>
              <a:t>具体的には、</a:t>
            </a:r>
            <a:br>
              <a:rPr lang="ja-JP" altLang="en-US" dirty="0"/>
            </a:br>
            <a:r>
              <a:rPr lang="ja-JP" altLang="en-US" dirty="0"/>
              <a:t>髭がある場合とない場合とで、</a:t>
            </a:r>
            <a:br>
              <a:rPr lang="ja-JP" altLang="en-US" dirty="0"/>
            </a:br>
            <a:r>
              <a:rPr lang="ja-JP" altLang="en-US" dirty="0"/>
              <a:t>表面下散乱の挙動に</a:t>
            </a:r>
            <a:br>
              <a:rPr lang="ja-JP" altLang="en-US" dirty="0"/>
            </a:br>
            <a:r>
              <a:rPr lang="ja-JP" altLang="en-US" dirty="0"/>
              <a:t>どのような差が現れるかを確認します。</a:t>
            </a:r>
          </a:p>
          <a:p>
            <a:r>
              <a:rPr lang="ja-JP" altLang="en-US" dirty="0"/>
              <a:t>そのために、</a:t>
            </a:r>
            <a:br>
              <a:rPr lang="ja-JP" altLang="en-US" dirty="0"/>
            </a:br>
            <a:r>
              <a:rPr lang="ja-JP" altLang="en-US" dirty="0"/>
              <a:t>髭を円柱ジオメトリとして明示的に配置したシーンを</a:t>
            </a:r>
            <a:br>
              <a:rPr lang="ja-JP" altLang="en-US" dirty="0"/>
            </a:br>
            <a:r>
              <a:rPr lang="en-US" altLang="ja-JP" dirty="0"/>
              <a:t>Mitsuba </a:t>
            </a:r>
            <a:r>
              <a:rPr lang="ja-JP" altLang="en-US" dirty="0"/>
              <a:t>上で構築し、</a:t>
            </a:r>
            <a:br>
              <a:rPr lang="ja-JP" altLang="en-US" dirty="0"/>
            </a:br>
            <a:r>
              <a:rPr lang="ja-JP" altLang="en-US" dirty="0"/>
              <a:t>そこで得られた分布と</a:t>
            </a:r>
            <a:br>
              <a:rPr lang="ja-JP" altLang="en-US" dirty="0"/>
            </a:br>
            <a:r>
              <a:rPr lang="ja-JP" altLang="en-US" dirty="0"/>
              <a:t>髭密度モデルによる結果を比較しました</a:t>
            </a:r>
          </a:p>
          <a:p>
            <a:r>
              <a:rPr lang="ja-JP" altLang="en-US" dirty="0"/>
              <a:t>。</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12</a:t>
            </a:fld>
            <a:endParaRPr kumimoji="1" lang="ja-JP" altLang="en-US"/>
          </a:p>
        </p:txBody>
      </p:sp>
    </p:spTree>
    <p:extLst>
      <p:ext uri="{BB962C8B-B14F-4D97-AF65-F5344CB8AC3E}">
        <p14:creationId xmlns:p14="http://schemas.microsoft.com/office/powerpoint/2010/main" val="629256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4EB4E-9F38-6D3A-B37E-4CD2D62D36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D08E90B-3663-7CEB-FEDA-3FAE815419E2}"/>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a:extLst>
                  <a:ext uri="{FF2B5EF4-FFF2-40B4-BE49-F238E27FC236}">
                    <a16:creationId xmlns:a16="http://schemas.microsoft.com/office/drawing/2014/main" id="{9CA0D740-0695-314D-4ACC-F177773CBFC7}"/>
                  </a:ext>
                </a:extLst>
              </p:cNvPr>
              <p:cNvSpPr>
                <a:spLocks noGrp="1"/>
              </p:cNvSpPr>
              <p:nvPr>
                <p:ph type="body" idx="1"/>
              </p:nvPr>
            </p:nvSpPr>
            <p:spPr/>
            <p:txBody>
              <a:bodyPr/>
              <a:lstStyle/>
              <a:p>
                <a:r>
                  <a:rPr lang="ja-JP" altLang="en-US" dirty="0"/>
                  <a:t>（</a:t>
                </a:r>
                <a:r>
                  <a:rPr lang="en-US" altLang="ja-JP" dirty="0"/>
                  <a:t>13</a:t>
                </a:r>
                <a:r>
                  <a:rPr lang="ja-JP" altLang="en-US" dirty="0"/>
                  <a:t>枚目）</a:t>
                </a:r>
              </a:p>
              <a:p>
                <a:r>
                  <a:rPr lang="ja-JP" altLang="en-US" dirty="0"/>
                  <a:t>評価は定量評価で行います。</a:t>
                </a:r>
              </a:p>
              <a:p>
                <a:r>
                  <a:rPr lang="ja-JP" altLang="en-US" dirty="0"/>
                  <a:t>点光源を皮膚表面に垂直入射させ、</a:t>
                </a:r>
                <a:br>
                  <a:rPr lang="ja-JP" altLang="en-US" dirty="0"/>
                </a:br>
                <a:r>
                  <a:rPr lang="ja-JP" altLang="en-US" dirty="0"/>
                  <a:t>入射点から距離 </a:t>
                </a:r>
                <a14:m>
                  <m:oMath xmlns:m="http://schemas.openxmlformats.org/officeDocument/2006/math">
                    <m:r>
                      <a:rPr kumimoji="1" lang="ja-JP" altLang="en-US" sz="1200" i="1" kern="1200">
                        <a:solidFill>
                          <a:schemeClr val="tx1"/>
                        </a:solidFill>
                        <a:latin typeface="+mn-lt"/>
                        <a:ea typeface="+mn-ea"/>
                        <a:cs typeface="+mn-cs"/>
                      </a:rPr>
                      <m:t>𝑟</m:t>
                    </m:r>
                  </m:oMath>
                </a14:m>
                <a:r>
                  <a:rPr lang="ja-JP" altLang="en-US" dirty="0"/>
                  <a:t>のリング上で</a:t>
                </a:r>
                <a:br>
                  <a:rPr lang="ja-JP" altLang="en-US" dirty="0"/>
                </a:br>
                <a:r>
                  <a:rPr lang="ja-JP" altLang="en-US" dirty="0"/>
                  <a:t>放射エネルギー分布 </a:t>
                </a: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𝑅</m:t>
                        </m:r>
                      </m:e>
                      <m:sub>
                        <m:r>
                          <a:rPr kumimoji="1" lang="ja-JP" altLang="en-US" sz="1200" i="1" kern="1200">
                            <a:solidFill>
                              <a:schemeClr val="tx1"/>
                            </a:solidFill>
                            <a:latin typeface="+mn-lt"/>
                            <a:ea typeface="+mn-ea"/>
                            <a:cs typeface="+mn-cs"/>
                          </a:rPr>
                          <m:t>𝑑</m:t>
                        </m:r>
                      </m:sub>
                    </m:sSub>
                    <m:d>
                      <m:dPr>
                        <m:ctrlPr>
                          <a:rPr kumimoji="1" lang="ja-JP" altLang="en-US" sz="1200" i="1" kern="1200">
                            <a:solidFill>
                              <a:schemeClr val="tx1"/>
                            </a:solidFill>
                            <a:latin typeface="+mn-lt"/>
                            <a:ea typeface="+mn-ea"/>
                            <a:cs typeface="+mn-cs"/>
                          </a:rPr>
                        </m:ctrlPr>
                      </m:dPr>
                      <m:e>
                        <m:r>
                          <a:rPr kumimoji="1" lang="ja-JP" altLang="en-US" sz="1200" i="1" kern="1200">
                            <a:solidFill>
                              <a:schemeClr val="tx1"/>
                            </a:solidFill>
                            <a:latin typeface="+mn-lt"/>
                            <a:ea typeface="+mn-ea"/>
                            <a:cs typeface="+mn-cs"/>
                          </a:rPr>
                          <m:t>𝑟</m:t>
                        </m:r>
                      </m:e>
                    </m:d>
                  </m:oMath>
                </a14:m>
                <a:r>
                  <a:rPr lang="ja-JP" altLang="en-US" dirty="0"/>
                  <a:t>を計測します。</a:t>
                </a:r>
              </a:p>
              <a:p>
                <a:r>
                  <a:rPr lang="ja-JP" altLang="en-US" dirty="0"/>
                  <a:t>分布は正規化し、距離方向の減衰特性を比較します。</a:t>
                </a:r>
              </a:p>
              <a:p>
                <a:endParaRPr lang="ja-JP" altLang="en-US" dirty="0"/>
              </a:p>
            </p:txBody>
          </p:sp>
        </mc:Choice>
        <mc:Fallback>
          <p:sp>
            <p:nvSpPr>
              <p:cNvPr id="3" name="ノート プレースホルダー 2">
                <a:extLst>
                  <a:ext uri="{FF2B5EF4-FFF2-40B4-BE49-F238E27FC236}">
                    <a16:creationId xmlns:a16="http://schemas.microsoft.com/office/drawing/2014/main" id="{9CA0D740-0695-314D-4ACC-F177773CBFC7}"/>
                  </a:ext>
                </a:extLst>
              </p:cNvPr>
              <p:cNvSpPr>
                <a:spLocks noGrp="1"/>
              </p:cNvSpPr>
              <p:nvPr>
                <p:ph type="body" idx="1"/>
              </p:nvPr>
            </p:nvSpPr>
            <p:spPr/>
            <p:txBody>
              <a:bodyPr/>
              <a:lstStyle/>
              <a:p>
                <a:r>
                  <a:rPr lang="ja-JP" altLang="en-US" dirty="0"/>
                  <a:t>（</a:t>
                </a:r>
                <a:r>
                  <a:rPr lang="en-US" altLang="ja-JP" dirty="0"/>
                  <a:t>13</a:t>
                </a:r>
                <a:r>
                  <a:rPr lang="ja-JP" altLang="en-US" dirty="0"/>
                  <a:t>枚目）</a:t>
                </a:r>
              </a:p>
              <a:p>
                <a:r>
                  <a:rPr lang="ja-JP" altLang="en-US" dirty="0"/>
                  <a:t>評価は定量評価で行います。</a:t>
                </a:r>
              </a:p>
              <a:p>
                <a:r>
                  <a:rPr lang="ja-JP" altLang="en-US" dirty="0"/>
                  <a:t>点光源を皮膚表面に垂直入射させ、</a:t>
                </a:r>
                <a:br>
                  <a:rPr lang="ja-JP" altLang="en-US" dirty="0"/>
                </a:br>
                <a:r>
                  <a:rPr lang="ja-JP" altLang="en-US" dirty="0"/>
                  <a:t>入射点から距離 </a:t>
                </a:r>
                <a:r>
                  <a:rPr kumimoji="1" lang="ja-JP" altLang="en-US" sz="1200" i="0" kern="1200">
                    <a:solidFill>
                      <a:schemeClr val="tx1"/>
                    </a:solidFill>
                    <a:latin typeface="+mn-lt"/>
                    <a:ea typeface="+mn-ea"/>
                    <a:cs typeface="+mn-cs"/>
                  </a:rPr>
                  <a:t>𝑟</a:t>
                </a:r>
                <a:r>
                  <a:rPr lang="ja-JP" altLang="en-US" dirty="0"/>
                  <a:t>のリング上で</a:t>
                </a:r>
                <a:br>
                  <a:rPr lang="ja-JP" altLang="en-US" dirty="0"/>
                </a:br>
                <a:r>
                  <a:rPr lang="ja-JP" altLang="en-US" dirty="0"/>
                  <a:t>放射エネルギー分布 </a:t>
                </a:r>
                <a:r>
                  <a:rPr kumimoji="1" lang="ja-JP" altLang="en-US" sz="1200" i="0" kern="1200">
                    <a:solidFill>
                      <a:schemeClr val="tx1"/>
                    </a:solidFill>
                    <a:latin typeface="+mn-lt"/>
                    <a:ea typeface="+mn-ea"/>
                    <a:cs typeface="+mn-cs"/>
                  </a:rPr>
                  <a:t>𝑅_𝑑 (𝑟)</a:t>
                </a:r>
                <a:r>
                  <a:rPr lang="ja-JP" altLang="en-US" dirty="0"/>
                  <a:t>を計測します。</a:t>
                </a:r>
              </a:p>
              <a:p>
                <a:r>
                  <a:rPr lang="ja-JP" altLang="en-US" dirty="0"/>
                  <a:t>分布は正規化し、距離方向の減衰特性を比較します。</a:t>
                </a:r>
              </a:p>
              <a:p>
                <a:endParaRPr lang="ja-JP" altLang="en-US" dirty="0"/>
              </a:p>
            </p:txBody>
          </p:sp>
        </mc:Fallback>
      </mc:AlternateContent>
      <p:sp>
        <p:nvSpPr>
          <p:cNvPr id="4" name="スライド番号プレースホルダー 3">
            <a:extLst>
              <a:ext uri="{FF2B5EF4-FFF2-40B4-BE49-F238E27FC236}">
                <a16:creationId xmlns:a16="http://schemas.microsoft.com/office/drawing/2014/main" id="{9F476A1D-8688-5623-B3B3-D320C1310F04}"/>
              </a:ext>
            </a:extLst>
          </p:cNvPr>
          <p:cNvSpPr>
            <a:spLocks noGrp="1"/>
          </p:cNvSpPr>
          <p:nvPr>
            <p:ph type="sldNum" sz="quarter" idx="5"/>
          </p:nvPr>
        </p:nvSpPr>
        <p:spPr/>
        <p:txBody>
          <a:bodyPr/>
          <a:lstStyle/>
          <a:p>
            <a:fld id="{7E6F6BBB-7673-494F-8505-704B89C97274}" type="slidenum">
              <a:rPr kumimoji="1" lang="ja-JP" altLang="en-US" smtClean="0"/>
              <a:t>13</a:t>
            </a:fld>
            <a:endParaRPr kumimoji="1" lang="ja-JP" altLang="en-US"/>
          </a:p>
        </p:txBody>
      </p:sp>
    </p:spTree>
    <p:extLst>
      <p:ext uri="{BB962C8B-B14F-4D97-AF65-F5344CB8AC3E}">
        <p14:creationId xmlns:p14="http://schemas.microsoft.com/office/powerpoint/2010/main" val="40578203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1448-1ECA-12AC-3C6F-2DF8DFC012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DAABF6-86C1-D175-1D8A-DFA362E685A7}"/>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ノート プレースホルダー 2">
                <a:extLst>
                  <a:ext uri="{FF2B5EF4-FFF2-40B4-BE49-F238E27FC236}">
                    <a16:creationId xmlns:a16="http://schemas.microsoft.com/office/drawing/2014/main" id="{CD9CE85C-AFA6-322B-DB60-C4FEEA9E5203}"/>
                  </a:ext>
                </a:extLst>
              </p:cNvPr>
              <p:cNvSpPr>
                <a:spLocks noGrp="1"/>
              </p:cNvSpPr>
              <p:nvPr>
                <p:ph type="body" idx="1"/>
              </p:nvPr>
            </p:nvSpPr>
            <p:spPr/>
            <p:txBody>
              <a:bodyPr/>
              <a:lstStyle/>
              <a:p>
                <a:r>
                  <a:rPr kumimoji="1" lang="ja-JP" altLang="en-US" dirty="0"/>
                  <a:t>（</a:t>
                </a:r>
                <a:r>
                  <a:rPr kumimoji="1" lang="en-US" altLang="ja-JP" dirty="0"/>
                  <a:t>14</a:t>
                </a:r>
                <a:r>
                  <a:rPr kumimoji="1" lang="ja-JP" altLang="en-US" dirty="0"/>
                  <a:t>枚目）</a:t>
                </a:r>
                <a:endParaRPr kumimoji="1" lang="en-US" altLang="ja-JP" dirty="0"/>
              </a:p>
              <a:p>
                <a:r>
                  <a:rPr lang="ja-JP" altLang="en-US" dirty="0"/>
                  <a:t>こちらは、</a:t>
                </a:r>
                <a:br>
                  <a:rPr lang="ja-JP" altLang="en-US" dirty="0"/>
                </a:br>
                <a:r>
                  <a:rPr lang="ja-JP" altLang="en-US" dirty="0"/>
                  <a:t>髭なし・髭ありの </a:t>
                </a:r>
                <a14:m>
                  <m:oMath xmlns:m="http://schemas.openxmlformats.org/officeDocument/2006/math">
                    <m:sSub>
                      <m:sSubPr>
                        <m:ctrlPr>
                          <a:rPr kumimoji="1" lang="ja-JP" altLang="en-US" sz="1200" kern="1200">
                            <a:solidFill>
                              <a:schemeClr val="tx1"/>
                            </a:solidFill>
                            <a:latin typeface="+mn-lt"/>
                            <a:ea typeface="+mn-ea"/>
                            <a:cs typeface="+mn-cs"/>
                          </a:rPr>
                        </m:ctrlPr>
                      </m:sSubPr>
                      <m:e>
                        <m:r>
                          <a:rPr kumimoji="1" lang="ja-JP" altLang="en-US" sz="1200" i="1" kern="1200">
                            <a:solidFill>
                              <a:schemeClr val="tx1"/>
                            </a:solidFill>
                            <a:latin typeface="+mn-lt"/>
                            <a:ea typeface="+mn-ea"/>
                            <a:cs typeface="+mn-cs"/>
                          </a:rPr>
                          <m:t>𝑅</m:t>
                        </m:r>
                      </m:e>
                      <m:sub>
                        <m:r>
                          <a:rPr kumimoji="1" lang="ja-JP" altLang="en-US" sz="1200" i="1" kern="1200">
                            <a:solidFill>
                              <a:schemeClr val="tx1"/>
                            </a:solidFill>
                            <a:latin typeface="+mn-lt"/>
                            <a:ea typeface="+mn-ea"/>
                            <a:cs typeface="+mn-cs"/>
                          </a:rPr>
                          <m:t>𝑑</m:t>
                        </m:r>
                      </m:sub>
                    </m:sSub>
                    <m:d>
                      <m:dPr>
                        <m:ctrlPr>
                          <a:rPr kumimoji="1" lang="ja-JP" altLang="en-US" sz="1200" i="1" kern="1200">
                            <a:solidFill>
                              <a:schemeClr val="tx1"/>
                            </a:solidFill>
                            <a:latin typeface="+mn-lt"/>
                            <a:ea typeface="+mn-ea"/>
                            <a:cs typeface="+mn-cs"/>
                          </a:rPr>
                        </m:ctrlPr>
                      </m:dPr>
                      <m:e>
                        <m:r>
                          <a:rPr kumimoji="1" lang="ja-JP" altLang="en-US" sz="1200" i="1" kern="1200">
                            <a:solidFill>
                              <a:schemeClr val="tx1"/>
                            </a:solidFill>
                            <a:latin typeface="+mn-lt"/>
                            <a:ea typeface="+mn-ea"/>
                            <a:cs typeface="+mn-cs"/>
                          </a:rPr>
                          <m:t>𝑟</m:t>
                        </m:r>
                      </m:e>
                    </m:d>
                  </m:oMath>
                </a14:m>
                <a:r>
                  <a:rPr lang="ja-JP" altLang="en-US" dirty="0"/>
                  <a:t>を比較した結果です。</a:t>
                </a:r>
              </a:p>
              <a:p>
                <a:r>
                  <a:rPr lang="ja-JP" altLang="en-US" dirty="0"/>
                  <a:t>分布全体の形状は概ね近く、</a:t>
                </a:r>
                <a:br>
                  <a:rPr lang="ja-JP" altLang="en-US" dirty="0"/>
                </a:br>
                <a:r>
                  <a:rPr lang="ja-JP" altLang="en-US" dirty="0"/>
                  <a:t>両条件とも滑らかに変化していることが分かります。</a:t>
                </a:r>
                <a:br>
                  <a:rPr lang="ja-JP" altLang="en-US" dirty="0"/>
                </a:br>
                <a:r>
                  <a:rPr lang="ja-JP" altLang="en-US" dirty="0"/>
                  <a:t>一方で、入射点近傍では、</a:t>
                </a:r>
                <a:br>
                  <a:rPr lang="ja-JP" altLang="en-US" dirty="0"/>
                </a:br>
                <a:r>
                  <a:rPr lang="ja-JP" altLang="en-US" dirty="0"/>
                  <a:t>髭あり条件で分布がわずかに低下しています。</a:t>
                </a:r>
              </a:p>
              <a:p>
                <a:r>
                  <a:rPr lang="ja-JP" altLang="en-US" dirty="0"/>
                  <a:t>これは、髭による遮蔽や吸収の影響が</a:t>
                </a:r>
                <a:br>
                  <a:rPr lang="ja-JP" altLang="en-US" dirty="0"/>
                </a:br>
                <a:r>
                  <a:rPr lang="ja-JP" altLang="en-US" dirty="0"/>
                  <a:t>局所的に強く表れるためだと考えられます。</a:t>
                </a:r>
              </a:p>
              <a:p>
                <a:br>
                  <a:rPr kumimoji="1" lang="en-US" altLang="ja-JP" dirty="0"/>
                </a:br>
                <a:br>
                  <a:rPr kumimoji="1" lang="en-US" altLang="ja-JP" dirty="0"/>
                </a:br>
                <a:br>
                  <a:rPr kumimoji="1" lang="en-US" altLang="ja-JP" dirty="0"/>
                </a:br>
                <a:r>
                  <a:rPr kumimoji="1" lang="ja-JP" altLang="en-US" dirty="0"/>
                  <a:t>レンダリング画像を用意しよう！</a:t>
                </a:r>
                <a:br>
                  <a:rPr kumimoji="1" lang="en-US" altLang="ja-JP" dirty="0"/>
                </a:br>
                <a:r>
                  <a:rPr kumimoji="1" lang="ja-JP" altLang="en-US" dirty="0"/>
                  <a:t>適用したものとそうでないものでどのような差が表れるのかをやろう。</a:t>
                </a:r>
                <a:br>
                  <a:rPr kumimoji="1" lang="en-US" altLang="ja-JP" dirty="0"/>
                </a:br>
                <a:br>
                  <a:rPr kumimoji="1" lang="en-US" altLang="ja-JP" dirty="0"/>
                </a:br>
                <a:r>
                  <a:rPr kumimoji="1" lang="ja-JP" altLang="en-US" dirty="0"/>
                  <a:t>用途はしっかり用意しよう</a:t>
                </a:r>
              </a:p>
              <a:p>
                <a:endParaRPr kumimoji="1" lang="ja-JP" altLang="en-US" dirty="0"/>
              </a:p>
            </p:txBody>
          </p:sp>
        </mc:Choice>
        <mc:Fallback>
          <p:sp>
            <p:nvSpPr>
              <p:cNvPr id="3" name="ノート プレースホルダー 2">
                <a:extLst>
                  <a:ext uri="{FF2B5EF4-FFF2-40B4-BE49-F238E27FC236}">
                    <a16:creationId xmlns:a16="http://schemas.microsoft.com/office/drawing/2014/main" id="{CD9CE85C-AFA6-322B-DB60-C4FEEA9E5203}"/>
                  </a:ext>
                </a:extLst>
              </p:cNvPr>
              <p:cNvSpPr>
                <a:spLocks noGrp="1"/>
              </p:cNvSpPr>
              <p:nvPr>
                <p:ph type="body" idx="1"/>
              </p:nvPr>
            </p:nvSpPr>
            <p:spPr/>
            <p:txBody>
              <a:bodyPr/>
              <a:lstStyle/>
              <a:p>
                <a:r>
                  <a:rPr kumimoji="1" lang="ja-JP" altLang="en-US" dirty="0"/>
                  <a:t>（</a:t>
                </a:r>
                <a:r>
                  <a:rPr kumimoji="1" lang="en-US" altLang="ja-JP" dirty="0"/>
                  <a:t>14</a:t>
                </a:r>
                <a:r>
                  <a:rPr kumimoji="1" lang="ja-JP" altLang="en-US" dirty="0"/>
                  <a:t>枚目）</a:t>
                </a:r>
                <a:endParaRPr kumimoji="1" lang="en-US" altLang="ja-JP" dirty="0"/>
              </a:p>
              <a:p>
                <a:r>
                  <a:rPr lang="ja-JP" altLang="en-US" dirty="0"/>
                  <a:t>こちらは、</a:t>
                </a:r>
                <a:br>
                  <a:rPr lang="ja-JP" altLang="en-US" dirty="0"/>
                </a:br>
                <a:r>
                  <a:rPr lang="ja-JP" altLang="en-US" dirty="0"/>
                  <a:t>髭なし・髭ありの </a:t>
                </a:r>
                <a:r>
                  <a:rPr kumimoji="1" lang="ja-JP" altLang="en-US" sz="1200" i="0" kern="1200">
                    <a:solidFill>
                      <a:schemeClr val="tx1"/>
                    </a:solidFill>
                    <a:latin typeface="+mn-lt"/>
                    <a:ea typeface="+mn-ea"/>
                    <a:cs typeface="+mn-cs"/>
                  </a:rPr>
                  <a:t>𝑅_𝑑 (𝑟)</a:t>
                </a:r>
                <a:r>
                  <a:rPr lang="ja-JP" altLang="en-US" dirty="0"/>
                  <a:t>を比較した結果です。</a:t>
                </a:r>
              </a:p>
              <a:p>
                <a:r>
                  <a:rPr lang="ja-JP" altLang="en-US" dirty="0"/>
                  <a:t>分布全体の形状は概ね近く、</a:t>
                </a:r>
                <a:br>
                  <a:rPr lang="ja-JP" altLang="en-US" dirty="0"/>
                </a:br>
                <a:r>
                  <a:rPr lang="ja-JP" altLang="en-US" dirty="0"/>
                  <a:t>両条件とも滑らかに変化していることが分かります。</a:t>
                </a:r>
                <a:br>
                  <a:rPr lang="ja-JP" altLang="en-US" dirty="0"/>
                </a:br>
                <a:r>
                  <a:rPr lang="ja-JP" altLang="en-US" dirty="0"/>
                  <a:t>一方で、入射点近傍では、</a:t>
                </a:r>
                <a:br>
                  <a:rPr lang="ja-JP" altLang="en-US" dirty="0"/>
                </a:br>
                <a:r>
                  <a:rPr lang="ja-JP" altLang="en-US" dirty="0"/>
                  <a:t>髭あり条件で分布がわずかに低下しています。</a:t>
                </a:r>
              </a:p>
              <a:p>
                <a:r>
                  <a:rPr lang="ja-JP" altLang="en-US" dirty="0"/>
                  <a:t>これは、髭による遮蔽や吸収の影響が</a:t>
                </a:r>
                <a:br>
                  <a:rPr lang="ja-JP" altLang="en-US" dirty="0"/>
                </a:br>
                <a:r>
                  <a:rPr lang="ja-JP" altLang="en-US" dirty="0"/>
                  <a:t>局所的に強く表れるためだと考えられます。</a:t>
                </a:r>
              </a:p>
              <a:p>
                <a:br>
                  <a:rPr kumimoji="1" lang="en-US" altLang="ja-JP" dirty="0"/>
                </a:br>
                <a:br>
                  <a:rPr kumimoji="1" lang="en-US" altLang="ja-JP" dirty="0"/>
                </a:br>
                <a:br>
                  <a:rPr kumimoji="1" lang="en-US" altLang="ja-JP" dirty="0"/>
                </a:br>
                <a:r>
                  <a:rPr kumimoji="1" lang="ja-JP" altLang="en-US" dirty="0"/>
                  <a:t>レンダリング画像を用意しよう！</a:t>
                </a:r>
                <a:br>
                  <a:rPr kumimoji="1" lang="en-US" altLang="ja-JP" dirty="0"/>
                </a:br>
                <a:r>
                  <a:rPr kumimoji="1" lang="ja-JP" altLang="en-US" dirty="0"/>
                  <a:t>適用したものとそうでないものでどのような差が表れるのかをやろう。</a:t>
                </a:r>
                <a:br>
                  <a:rPr kumimoji="1" lang="en-US" altLang="ja-JP" dirty="0"/>
                </a:br>
                <a:br>
                  <a:rPr kumimoji="1" lang="en-US" altLang="ja-JP" dirty="0"/>
                </a:br>
                <a:r>
                  <a:rPr kumimoji="1" lang="ja-JP" altLang="en-US" dirty="0"/>
                  <a:t>用途はしっかり用意しよう</a:t>
                </a:r>
              </a:p>
              <a:p>
                <a:endParaRPr kumimoji="1" lang="ja-JP" altLang="en-US" dirty="0"/>
              </a:p>
            </p:txBody>
          </p:sp>
        </mc:Fallback>
      </mc:AlternateContent>
      <p:sp>
        <p:nvSpPr>
          <p:cNvPr id="4" name="スライド番号プレースホルダー 3">
            <a:extLst>
              <a:ext uri="{FF2B5EF4-FFF2-40B4-BE49-F238E27FC236}">
                <a16:creationId xmlns:a16="http://schemas.microsoft.com/office/drawing/2014/main" id="{DB4DCAE2-B3AF-8EEF-691A-E05762B62B08}"/>
              </a:ext>
            </a:extLst>
          </p:cNvPr>
          <p:cNvSpPr>
            <a:spLocks noGrp="1"/>
          </p:cNvSpPr>
          <p:nvPr>
            <p:ph type="sldNum" sz="quarter" idx="5"/>
          </p:nvPr>
        </p:nvSpPr>
        <p:spPr/>
        <p:txBody>
          <a:bodyPr/>
          <a:lstStyle/>
          <a:p>
            <a:fld id="{7E6F6BBB-7673-494F-8505-704B89C97274}" type="slidenum">
              <a:rPr kumimoji="1" lang="ja-JP" altLang="en-US" smtClean="0"/>
              <a:t>14</a:t>
            </a:fld>
            <a:endParaRPr kumimoji="1" lang="ja-JP" altLang="en-US"/>
          </a:p>
        </p:txBody>
      </p:sp>
    </p:spTree>
    <p:extLst>
      <p:ext uri="{BB962C8B-B14F-4D97-AF65-F5344CB8AC3E}">
        <p14:creationId xmlns:p14="http://schemas.microsoft.com/office/powerpoint/2010/main" val="8539683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a:t>
            </a:r>
            <a:r>
              <a:rPr kumimoji="1" lang="en-US" altLang="ja-JP" dirty="0"/>
              <a:t>15</a:t>
            </a:r>
            <a:r>
              <a:rPr kumimoji="1" lang="ja-JP" altLang="en-US" dirty="0"/>
              <a:t>枚目）</a:t>
            </a:r>
            <a:endParaRPr kumimoji="1" lang="en-US" altLang="ja-JP" dirty="0"/>
          </a:p>
          <a:p>
            <a:r>
              <a:rPr lang="ja-JP" altLang="en-US" dirty="0"/>
              <a:t>最後にまとめです。</a:t>
            </a:r>
          </a:p>
          <a:p>
            <a:r>
              <a:rPr lang="ja-JP" altLang="en-US" dirty="0"/>
              <a:t>本研究では、</a:t>
            </a:r>
            <a:br>
              <a:rPr lang="ja-JP" altLang="en-US" dirty="0"/>
            </a:br>
            <a:r>
              <a:rPr lang="ja-JP" altLang="en-US" dirty="0"/>
              <a:t>髭密度マップを用いた皮膚レンダラを実装し、</a:t>
            </a:r>
            <a:br>
              <a:rPr lang="ja-JP" altLang="en-US" dirty="0"/>
            </a:br>
            <a:r>
              <a:rPr lang="ja-JP" altLang="en-US" dirty="0"/>
              <a:t>髭の有無による表面下散乱の挙動の違いを検証しました。</a:t>
            </a:r>
          </a:p>
          <a:p>
            <a:r>
              <a:rPr lang="ja-JP" altLang="en-US" dirty="0"/>
              <a:t>その結果、</a:t>
            </a:r>
            <a:br>
              <a:rPr lang="ja-JP" altLang="en-US" dirty="0"/>
            </a:br>
            <a:r>
              <a:rPr lang="ja-JP" altLang="en-US" dirty="0"/>
              <a:t>幾何的に髭をモデル化した場合と同様の傾向を、</a:t>
            </a:r>
            <a:br>
              <a:rPr lang="ja-JP" altLang="en-US" dirty="0"/>
            </a:br>
            <a:r>
              <a:rPr lang="ja-JP" altLang="en-US" dirty="0"/>
              <a:t>髭密度モデルでも安定して再現できることを確認しました。</a:t>
            </a:r>
            <a:endParaRPr lang="en-US" altLang="ja-JP" dirty="0"/>
          </a:p>
          <a:p>
            <a:r>
              <a:rPr lang="ja-JP" altLang="en-US" dirty="0"/>
              <a:t>また、今後の展望としては髭そのものの太さや長さといった高次元な要素への対応、</a:t>
            </a:r>
            <a:endParaRPr lang="en-US" altLang="ja-JP" dirty="0"/>
          </a:p>
          <a:p>
            <a:r>
              <a:rPr lang="ja-JP" altLang="en-US" dirty="0"/>
              <a:t>他部位や他の要素への拡張などをしていこうと思います。</a:t>
            </a:r>
          </a:p>
          <a:p>
            <a:r>
              <a:rPr lang="ja-JP" altLang="en-US" dirty="0"/>
              <a:t>以上です。ご清聴ありがとうございました。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7E6F6BBB-7673-494F-8505-704B89C97274}" type="slidenum">
              <a:rPr kumimoji="1" lang="ja-JP" altLang="en-US" smtClean="0"/>
              <a:t>15</a:t>
            </a:fld>
            <a:endParaRPr kumimoji="1" lang="ja-JP" altLang="en-US"/>
          </a:p>
        </p:txBody>
      </p:sp>
    </p:spTree>
    <p:extLst>
      <p:ext uri="{BB962C8B-B14F-4D97-AF65-F5344CB8AC3E}">
        <p14:creationId xmlns:p14="http://schemas.microsoft.com/office/powerpoint/2010/main" val="2669179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6AD12-92FF-912F-1329-2B721696D9B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D383E1A-3016-BAFD-4E7F-E009474C8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6226DA65-52DB-A609-4CFF-2C059F2A06F3}"/>
              </a:ext>
            </a:extLst>
          </p:cNvPr>
          <p:cNvSpPr>
            <a:spLocks noGrp="1"/>
          </p:cNvSpPr>
          <p:nvPr>
            <p:ph type="dt" sz="half" idx="10"/>
          </p:nvPr>
        </p:nvSpPr>
        <p:spPr/>
        <p:txBody>
          <a:bodyPr/>
          <a:lstStyle/>
          <a:p>
            <a:fld id="{F324A126-4EA4-4AB5-9363-893287029B05}"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A9B91057-0AFF-CEED-AB2E-7DD6D4253C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644477F-A14F-9CC8-5EBF-262B04A7040B}"/>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8246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B14629D-DCE6-2CB6-E1ED-348CDBB8DE6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585D49A-15DA-A783-E7EC-E4667542908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3829249-C1E3-E122-F969-3FE24B19C4C7}"/>
              </a:ext>
            </a:extLst>
          </p:cNvPr>
          <p:cNvSpPr>
            <a:spLocks noGrp="1"/>
          </p:cNvSpPr>
          <p:nvPr>
            <p:ph type="dt" sz="half" idx="10"/>
          </p:nvPr>
        </p:nvSpPr>
        <p:spPr/>
        <p:txBody>
          <a:bodyPr/>
          <a:lstStyle/>
          <a:p>
            <a:fld id="{7A5311A6-9991-423A-8113-B2EEC299E387}"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EBA5F524-4D0C-70E6-95B9-835BCC1955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3D93FAD-8B9C-F4F3-60E6-87B62E4159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8968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65418C-F3BA-13CD-3D30-CBD2CBC7E8E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E3AEE4B-02F9-722B-7452-8DE7B1ABA77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7A03D0B-4FBA-04B6-2977-2F0B2C234E03}"/>
              </a:ext>
            </a:extLst>
          </p:cNvPr>
          <p:cNvSpPr>
            <a:spLocks noGrp="1"/>
          </p:cNvSpPr>
          <p:nvPr>
            <p:ph type="dt" sz="half" idx="10"/>
          </p:nvPr>
        </p:nvSpPr>
        <p:spPr/>
        <p:txBody>
          <a:bodyPr/>
          <a:lstStyle/>
          <a:p>
            <a:fld id="{932D899F-D6EF-4A23-936B-FE934ECC6DDF}"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C99E6E70-4267-96D1-1E74-EB282AF1A53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79A10C-95F9-6701-03F6-E266B5A9F0EC}"/>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843770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60E67F-51C1-00F7-5D9A-5D5277D76B6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8C95B5E-4059-14C7-6AC1-7C3FAB88FB85}"/>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C6F1ED6-5724-46C8-9BDA-41DBF2EC9B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C81CCEA-4CBA-4318-E722-515E45563B43}"/>
              </a:ext>
            </a:extLst>
          </p:cNvPr>
          <p:cNvSpPr>
            <a:spLocks noGrp="1"/>
          </p:cNvSpPr>
          <p:nvPr>
            <p:ph type="dt" sz="half" idx="10"/>
          </p:nvPr>
        </p:nvSpPr>
        <p:spPr/>
        <p:txBody>
          <a:bodyPr/>
          <a:lstStyle/>
          <a:p>
            <a:fld id="{C87E7C84-EBA1-4B9F-B957-30481720E85D}" type="datetime1">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00DE48F6-CEA3-BA96-10C6-9363022021F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F6B7A2-453B-5FB0-9FD1-00AC7B66375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07687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00AE4C-CEA7-C256-C898-82A068AB727A}"/>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269F9F1-3887-84C7-0DB3-03E93A200D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F8A954-9C0F-C26B-56BD-933EC84796A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5C81DFB-D969-363A-9CC1-C2CABBFE9F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78D5716-E34B-048F-F1EC-2FE68DDB3E4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E513A45-B226-8544-E713-4C2C40C5760C}"/>
              </a:ext>
            </a:extLst>
          </p:cNvPr>
          <p:cNvSpPr>
            <a:spLocks noGrp="1"/>
          </p:cNvSpPr>
          <p:nvPr>
            <p:ph type="dt" sz="half" idx="10"/>
          </p:nvPr>
        </p:nvSpPr>
        <p:spPr/>
        <p:txBody>
          <a:bodyPr/>
          <a:lstStyle/>
          <a:p>
            <a:fld id="{A68FFB37-D868-468A-B264-D2A96DB1F97E}" type="datetime1">
              <a:rPr kumimoji="1" lang="ja-JP" altLang="en-US" smtClean="0"/>
              <a:t>2026/2/4</a:t>
            </a:fld>
            <a:endParaRPr kumimoji="1" lang="ja-JP" altLang="en-US"/>
          </a:p>
        </p:txBody>
      </p:sp>
      <p:sp>
        <p:nvSpPr>
          <p:cNvPr id="8" name="フッター プレースホルダー 7">
            <a:extLst>
              <a:ext uri="{FF2B5EF4-FFF2-40B4-BE49-F238E27FC236}">
                <a16:creationId xmlns:a16="http://schemas.microsoft.com/office/drawing/2014/main" id="{C50981FA-72C8-8B39-A19C-81D30CC2C7D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0200FFF-F8BB-DF19-F2B9-661E5B5A0C9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288369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A158A0D-BB9A-4E5F-FF91-0A1BF6CD101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500DCFDF-565F-B25C-24A9-331EF8C916F8}"/>
              </a:ext>
            </a:extLst>
          </p:cNvPr>
          <p:cNvSpPr>
            <a:spLocks noGrp="1"/>
          </p:cNvSpPr>
          <p:nvPr>
            <p:ph type="dt" sz="half" idx="10"/>
          </p:nvPr>
        </p:nvSpPr>
        <p:spPr/>
        <p:txBody>
          <a:bodyPr/>
          <a:lstStyle/>
          <a:p>
            <a:fld id="{23A23F1D-5E15-4CBA-9F02-411BAE8BECE2}" type="datetime1">
              <a:rPr kumimoji="1" lang="ja-JP" altLang="en-US" smtClean="0"/>
              <a:t>2026/2/4</a:t>
            </a:fld>
            <a:endParaRPr kumimoji="1" lang="ja-JP" altLang="en-US"/>
          </a:p>
        </p:txBody>
      </p:sp>
      <p:sp>
        <p:nvSpPr>
          <p:cNvPr id="4" name="フッター プレースホルダー 3">
            <a:extLst>
              <a:ext uri="{FF2B5EF4-FFF2-40B4-BE49-F238E27FC236}">
                <a16:creationId xmlns:a16="http://schemas.microsoft.com/office/drawing/2014/main" id="{3D8E2DBF-4BBC-384E-023E-9DD8CFFD4BC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A2DB1147-C2BB-69BF-37F8-ADDC3680C728}"/>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32721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349C5D7-8717-687F-959B-0982A94CFDE0}"/>
              </a:ext>
            </a:extLst>
          </p:cNvPr>
          <p:cNvSpPr>
            <a:spLocks noGrp="1"/>
          </p:cNvSpPr>
          <p:nvPr>
            <p:ph type="dt" sz="half" idx="10"/>
          </p:nvPr>
        </p:nvSpPr>
        <p:spPr/>
        <p:txBody>
          <a:bodyPr/>
          <a:lstStyle/>
          <a:p>
            <a:fld id="{1C21656A-9DF8-4C26-B033-5C7153033165}" type="datetime1">
              <a:rPr kumimoji="1" lang="ja-JP" altLang="en-US" smtClean="0"/>
              <a:t>2026/2/4</a:t>
            </a:fld>
            <a:endParaRPr kumimoji="1" lang="ja-JP" altLang="en-US"/>
          </a:p>
        </p:txBody>
      </p:sp>
      <p:sp>
        <p:nvSpPr>
          <p:cNvPr id="3" name="フッター プレースホルダー 2">
            <a:extLst>
              <a:ext uri="{FF2B5EF4-FFF2-40B4-BE49-F238E27FC236}">
                <a16:creationId xmlns:a16="http://schemas.microsoft.com/office/drawing/2014/main" id="{1A27AEAD-A318-18DE-39C0-035882B90E23}"/>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B1DA8EF-111C-A9DD-0C62-245688E1AD73}"/>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630190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D890AC-639B-071D-5A2F-DFB7BD22805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F53DA71-C45A-8202-0D96-512066241A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E138C5A-194F-F5DC-F349-7FF56DB701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D5D8594-C607-352E-3CC5-E0AB20E1C47D}"/>
              </a:ext>
            </a:extLst>
          </p:cNvPr>
          <p:cNvSpPr>
            <a:spLocks noGrp="1"/>
          </p:cNvSpPr>
          <p:nvPr>
            <p:ph type="dt" sz="half" idx="10"/>
          </p:nvPr>
        </p:nvSpPr>
        <p:spPr/>
        <p:txBody>
          <a:bodyPr/>
          <a:lstStyle/>
          <a:p>
            <a:fld id="{F04C0A21-F299-40C0-BFCB-AC8CBB0127E9}" type="datetime1">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ACC6B998-7282-FA40-9A14-156617A9DF3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482FECF-7F47-15A3-C535-C1BBFB64739D}"/>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21710756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F54C2-158C-1070-1F7F-623485F94BAD}"/>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C076A01-7457-FF0C-2426-566664F439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6BE6B64-64DC-1318-A222-2382659790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15224C0-8083-6C42-D1BB-25E4D1965FA2}"/>
              </a:ext>
            </a:extLst>
          </p:cNvPr>
          <p:cNvSpPr>
            <a:spLocks noGrp="1"/>
          </p:cNvSpPr>
          <p:nvPr>
            <p:ph type="dt" sz="half" idx="10"/>
          </p:nvPr>
        </p:nvSpPr>
        <p:spPr/>
        <p:txBody>
          <a:bodyPr/>
          <a:lstStyle/>
          <a:p>
            <a:fld id="{8AB8AE8E-D8E6-4C52-8879-7B742742F54C}" type="datetime1">
              <a:rPr kumimoji="1" lang="ja-JP" altLang="en-US" smtClean="0"/>
              <a:t>2026/2/4</a:t>
            </a:fld>
            <a:endParaRPr kumimoji="1" lang="ja-JP" altLang="en-US"/>
          </a:p>
        </p:txBody>
      </p:sp>
      <p:sp>
        <p:nvSpPr>
          <p:cNvPr id="6" name="フッター プレースホルダー 5">
            <a:extLst>
              <a:ext uri="{FF2B5EF4-FFF2-40B4-BE49-F238E27FC236}">
                <a16:creationId xmlns:a16="http://schemas.microsoft.com/office/drawing/2014/main" id="{3AA2069F-CB27-9E9F-5CE8-7274B22A5F4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62E21DE-83D1-90F5-2507-7B6ECDB63041}"/>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942275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C19012-E8D7-1BB1-7514-74220E662C9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AD2796E-FB47-CA5B-AE74-BC627ADA24C9}"/>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FDD65D5-89C5-ABDD-4999-30A47076EEF6}"/>
              </a:ext>
            </a:extLst>
          </p:cNvPr>
          <p:cNvSpPr>
            <a:spLocks noGrp="1"/>
          </p:cNvSpPr>
          <p:nvPr>
            <p:ph type="dt" sz="half" idx="10"/>
          </p:nvPr>
        </p:nvSpPr>
        <p:spPr/>
        <p:txBody>
          <a:bodyPr/>
          <a:lstStyle/>
          <a:p>
            <a:fld id="{FF4724C8-DE43-476F-932D-2AC80E76751B}"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74E13BE3-D3A9-34A5-96D6-D54E9ADC17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069A259-00D6-3B46-434F-22DA37A57A49}"/>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991585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C2A6BBF-6C4A-A1DC-EA5C-6F4FB7B9917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4A7BBD-8FAD-99E1-1742-804364027C23}"/>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985176-C0F1-3E41-01A5-B16B89A850D6}"/>
              </a:ext>
            </a:extLst>
          </p:cNvPr>
          <p:cNvSpPr>
            <a:spLocks noGrp="1"/>
          </p:cNvSpPr>
          <p:nvPr>
            <p:ph type="dt" sz="half" idx="10"/>
          </p:nvPr>
        </p:nvSpPr>
        <p:spPr/>
        <p:txBody>
          <a:bodyPr/>
          <a:lstStyle/>
          <a:p>
            <a:fld id="{9A027C0D-C9EF-4282-8005-EAFD94DFEE43}"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21392980-0C8E-D29D-C87A-98347E7C592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01E0AB5-69DE-ED74-19C4-DC5341CC2514}"/>
              </a:ext>
            </a:extLst>
          </p:cNvPr>
          <p:cNvSpPr>
            <a:spLocks noGrp="1"/>
          </p:cNvSpPr>
          <p:nvPr>
            <p:ph type="sldNum" sz="quarter" idx="12"/>
          </p:nvPr>
        </p:nvSpPr>
        <p:spPr/>
        <p:txBody>
          <a:body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3068954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7AA5AD9-7844-87E5-F0CB-9D1401ECD1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7562D5D-3E2B-F593-BA46-0495D4ECA6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7F42ED9-93C1-27AF-FA12-BF2CD1C04E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90A1952-210A-445A-98C6-DDC7D15F7039}" type="datetime1">
              <a:rPr kumimoji="1" lang="ja-JP" altLang="en-US" smtClean="0"/>
              <a:t>2026/2/4</a:t>
            </a:fld>
            <a:endParaRPr kumimoji="1" lang="ja-JP" altLang="en-US"/>
          </a:p>
        </p:txBody>
      </p:sp>
      <p:sp>
        <p:nvSpPr>
          <p:cNvPr id="5" name="フッター プレースホルダー 4">
            <a:extLst>
              <a:ext uri="{FF2B5EF4-FFF2-40B4-BE49-F238E27FC236}">
                <a16:creationId xmlns:a16="http://schemas.microsoft.com/office/drawing/2014/main" id="{2741D8D8-4235-AA39-6E89-54B7EE50B4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32F48B3E-773E-4B4F-4A7E-A0B25B0EB4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D186E6-336C-46FC-92C1-3353550E4494}" type="slidenum">
              <a:rPr kumimoji="1" lang="ja-JP" altLang="en-US" smtClean="0"/>
              <a:t>‹#›</a:t>
            </a:fld>
            <a:endParaRPr kumimoji="1" lang="ja-JP" altLang="en-US"/>
          </a:p>
        </p:txBody>
      </p:sp>
    </p:spTree>
    <p:extLst>
      <p:ext uri="{BB962C8B-B14F-4D97-AF65-F5344CB8AC3E}">
        <p14:creationId xmlns:p14="http://schemas.microsoft.com/office/powerpoint/2010/main" val="15420276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054781-2985-41CA-7BE1-644EB8E9FBD4}"/>
              </a:ext>
            </a:extLst>
          </p:cNvPr>
          <p:cNvSpPr>
            <a:spLocks noGrp="1"/>
          </p:cNvSpPr>
          <p:nvPr>
            <p:ph type="ctrTitle"/>
          </p:nvPr>
        </p:nvSpPr>
        <p:spPr>
          <a:xfrm>
            <a:off x="1873045" y="1122363"/>
            <a:ext cx="8214852" cy="2387600"/>
          </a:xfrm>
        </p:spPr>
        <p:txBody>
          <a:bodyPr>
            <a:normAutofit/>
          </a:bodyPr>
          <a:lstStyle/>
          <a:p>
            <a:r>
              <a:rPr lang="ja-JP" altLang="en-US" sz="5400" dirty="0"/>
              <a:t>髭密度マップを用いた</a:t>
            </a:r>
            <a:br>
              <a:rPr lang="en-US" altLang="ja-JP" sz="5400" dirty="0"/>
            </a:br>
            <a:r>
              <a:rPr lang="ja-JP" altLang="en-US" sz="4800" dirty="0"/>
              <a:t>皮膚の不均質性の再現</a:t>
            </a:r>
            <a:endParaRPr kumimoji="1" lang="ja-JP" altLang="en-US" sz="5400" dirty="0"/>
          </a:p>
        </p:txBody>
      </p:sp>
      <p:sp>
        <p:nvSpPr>
          <p:cNvPr id="3" name="字幕 2">
            <a:extLst>
              <a:ext uri="{FF2B5EF4-FFF2-40B4-BE49-F238E27FC236}">
                <a16:creationId xmlns:a16="http://schemas.microsoft.com/office/drawing/2014/main" id="{803113DA-E244-62CC-0080-64ABC9E2CFC6}"/>
              </a:ext>
            </a:extLst>
          </p:cNvPr>
          <p:cNvSpPr>
            <a:spLocks noGrp="1"/>
          </p:cNvSpPr>
          <p:nvPr>
            <p:ph type="subTitle" idx="1"/>
          </p:nvPr>
        </p:nvSpPr>
        <p:spPr/>
        <p:txBody>
          <a:bodyPr/>
          <a:lstStyle/>
          <a:p>
            <a:r>
              <a:rPr lang="en-US" altLang="ja-JP" dirty="0"/>
              <a:t>CG</a:t>
            </a:r>
            <a:r>
              <a:rPr lang="ja-JP" altLang="en-US" dirty="0"/>
              <a:t>研　学部</a:t>
            </a:r>
            <a:r>
              <a:rPr lang="en-US" altLang="ja-JP" dirty="0"/>
              <a:t>4</a:t>
            </a:r>
            <a:r>
              <a:rPr lang="ja-JP" altLang="en-US" dirty="0"/>
              <a:t>年</a:t>
            </a:r>
            <a:br>
              <a:rPr lang="en-US" altLang="ja-JP" dirty="0"/>
            </a:br>
            <a:r>
              <a:rPr lang="en-US" altLang="ja-JP" dirty="0"/>
              <a:t>15822133</a:t>
            </a:r>
            <a:br>
              <a:rPr lang="en-US" altLang="ja-JP" dirty="0"/>
            </a:br>
            <a:r>
              <a:rPr lang="ja-JP" altLang="en-US" dirty="0"/>
              <a:t>山本雷夏</a:t>
            </a:r>
          </a:p>
        </p:txBody>
      </p:sp>
      <p:sp>
        <p:nvSpPr>
          <p:cNvPr id="5" name="スライド番号プレースホルダー 4">
            <a:extLst>
              <a:ext uri="{FF2B5EF4-FFF2-40B4-BE49-F238E27FC236}">
                <a16:creationId xmlns:a16="http://schemas.microsoft.com/office/drawing/2014/main" id="{A4BC3FB4-CD44-3F59-1FCE-B4C1C51AEA3A}"/>
              </a:ext>
            </a:extLst>
          </p:cNvPr>
          <p:cNvSpPr>
            <a:spLocks noGrp="1"/>
          </p:cNvSpPr>
          <p:nvPr>
            <p:ph type="sldNum" sz="quarter" idx="12"/>
          </p:nvPr>
        </p:nvSpPr>
        <p:spPr/>
        <p:txBody>
          <a:bodyPr/>
          <a:lstStyle/>
          <a:p>
            <a:fld id="{F9D186E6-336C-46FC-92C1-3353550E4494}" type="slidenum">
              <a:rPr kumimoji="1" lang="ja-JP" altLang="en-US" sz="4000" smtClean="0"/>
              <a:t>1</a:t>
            </a:fld>
            <a:endParaRPr kumimoji="1" lang="ja-JP" altLang="en-US" sz="4000" dirty="0"/>
          </a:p>
        </p:txBody>
      </p:sp>
    </p:spTree>
    <p:extLst>
      <p:ext uri="{BB962C8B-B14F-4D97-AF65-F5344CB8AC3E}">
        <p14:creationId xmlns:p14="http://schemas.microsoft.com/office/powerpoint/2010/main" val="1692217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25E1AF9-D82C-2A59-CD0E-DC03996C9450}"/>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81DBCE1E-1BDA-F97F-6A73-B29C018B9360}"/>
              </a:ext>
            </a:extLst>
          </p:cNvPr>
          <p:cNvSpPr>
            <a:spLocks noGrp="1"/>
          </p:cNvSpPr>
          <p:nvPr>
            <p:ph idx="1"/>
          </p:nvPr>
        </p:nvSpPr>
        <p:spPr>
          <a:xfrm>
            <a:off x="838200" y="1629824"/>
            <a:ext cx="11777663" cy="5122597"/>
          </a:xfrm>
        </p:spPr>
        <p:txBody>
          <a:bodyPr>
            <a:normAutofit/>
          </a:bodyPr>
          <a:lstStyle/>
          <a:p>
            <a:pPr marL="0" indent="0">
              <a:buNone/>
            </a:pPr>
            <a:r>
              <a:rPr kumimoji="1" lang="ja-JP" altLang="en-US" dirty="0"/>
              <a:t>皮膚は身体全体を覆う部位</a:t>
            </a:r>
            <a:endParaRPr kumimoji="1" lang="en-US" altLang="ja-JP" dirty="0"/>
          </a:p>
          <a:p>
            <a:pPr marL="0" indent="0">
              <a:buNone/>
            </a:pPr>
            <a:endParaRPr lang="en-US" altLang="ja-JP" dirty="0"/>
          </a:p>
          <a:p>
            <a:pPr marL="0" indent="0">
              <a:buNone/>
            </a:pPr>
            <a:r>
              <a:rPr kumimoji="1" lang="ja-JP" altLang="en-US" dirty="0"/>
              <a:t>→</a:t>
            </a:r>
            <a:r>
              <a:rPr kumimoji="1" lang="ja-JP" altLang="en-US" sz="3200" b="1" u="sng" dirty="0"/>
              <a:t>皮膚の状態が見た目にも大きな影響</a:t>
            </a:r>
            <a:r>
              <a:rPr kumimoji="1" lang="ja-JP" altLang="en-US" sz="3200" dirty="0"/>
              <a:t>を与える</a:t>
            </a:r>
            <a:r>
              <a:rPr kumimoji="1" lang="en-US" altLang="ja-JP" dirty="0"/>
              <a:t>				</a:t>
            </a:r>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a:p>
            <a:pPr marL="0" indent="0">
              <a:buNone/>
            </a:pPr>
            <a:endParaRPr lang="en-US" altLang="ja-JP" u="sng" dirty="0"/>
          </a:p>
        </p:txBody>
      </p:sp>
      <p:sp>
        <p:nvSpPr>
          <p:cNvPr id="4" name="テキスト ボックス 3">
            <a:extLst>
              <a:ext uri="{FF2B5EF4-FFF2-40B4-BE49-F238E27FC236}">
                <a16:creationId xmlns:a16="http://schemas.microsoft.com/office/drawing/2014/main" id="{1267D926-CDF2-6817-62AB-CDEE4EB04A4E}"/>
              </a:ext>
            </a:extLst>
          </p:cNvPr>
          <p:cNvSpPr txBox="1"/>
          <p:nvPr/>
        </p:nvSpPr>
        <p:spPr>
          <a:xfrm>
            <a:off x="1395413" y="4858844"/>
            <a:ext cx="2492990" cy="369332"/>
          </a:xfrm>
          <a:prstGeom prst="rect">
            <a:avLst/>
          </a:prstGeom>
          <a:noFill/>
        </p:spPr>
        <p:txBody>
          <a:bodyPr wrap="none" rtlCol="0">
            <a:spAutoFit/>
          </a:bodyPr>
          <a:lstStyle/>
          <a:p>
            <a:r>
              <a:rPr lang="ja-JP" altLang="en-US" dirty="0"/>
              <a:t>大谷</a:t>
            </a:r>
            <a:r>
              <a:rPr kumimoji="1" lang="ja-JP" altLang="en-US" dirty="0"/>
              <a:t>（高校生の画像）</a:t>
            </a:r>
          </a:p>
        </p:txBody>
      </p:sp>
      <p:pic>
        <p:nvPicPr>
          <p:cNvPr id="7" name="図 6">
            <a:extLst>
              <a:ext uri="{FF2B5EF4-FFF2-40B4-BE49-F238E27FC236}">
                <a16:creationId xmlns:a16="http://schemas.microsoft.com/office/drawing/2014/main" id="{E1DAE32A-0AAA-BB97-0445-803B0B6C5B04}"/>
              </a:ext>
            </a:extLst>
          </p:cNvPr>
          <p:cNvPicPr>
            <a:picLocks noChangeAspect="1"/>
          </p:cNvPicPr>
          <p:nvPr/>
        </p:nvPicPr>
        <p:blipFill>
          <a:blip r:embed="rId3"/>
          <a:srcRect t="1169" r="21387" b="28457"/>
          <a:stretch>
            <a:fillRect/>
          </a:stretch>
        </p:blipFill>
        <p:spPr>
          <a:xfrm>
            <a:off x="1059582" y="3484023"/>
            <a:ext cx="3164651" cy="3118973"/>
          </a:xfrm>
          <a:prstGeom prst="rect">
            <a:avLst/>
          </a:prstGeom>
        </p:spPr>
      </p:pic>
      <p:pic>
        <p:nvPicPr>
          <p:cNvPr id="13" name="図 12">
            <a:extLst>
              <a:ext uri="{FF2B5EF4-FFF2-40B4-BE49-F238E27FC236}">
                <a16:creationId xmlns:a16="http://schemas.microsoft.com/office/drawing/2014/main" id="{6354BB0E-28EB-5FB3-1B49-0DA1A6A73DA4}"/>
              </a:ext>
            </a:extLst>
          </p:cNvPr>
          <p:cNvPicPr>
            <a:picLocks noChangeAspect="1"/>
          </p:cNvPicPr>
          <p:nvPr/>
        </p:nvPicPr>
        <p:blipFill>
          <a:blip r:embed="rId4"/>
          <a:stretch>
            <a:fillRect/>
          </a:stretch>
        </p:blipFill>
        <p:spPr>
          <a:xfrm>
            <a:off x="4224233" y="4496707"/>
            <a:ext cx="4657725" cy="1996168"/>
          </a:xfrm>
          <a:prstGeom prst="rect">
            <a:avLst/>
          </a:prstGeom>
        </p:spPr>
      </p:pic>
      <p:sp>
        <p:nvSpPr>
          <p:cNvPr id="6" name="スライド番号プレースホルダー 5">
            <a:extLst>
              <a:ext uri="{FF2B5EF4-FFF2-40B4-BE49-F238E27FC236}">
                <a16:creationId xmlns:a16="http://schemas.microsoft.com/office/drawing/2014/main" id="{B95BDB13-F21A-9044-5089-4E734E584AE8}"/>
              </a:ext>
            </a:extLst>
          </p:cNvPr>
          <p:cNvSpPr>
            <a:spLocks noGrp="1"/>
          </p:cNvSpPr>
          <p:nvPr>
            <p:ph type="sldNum" sz="quarter" idx="12"/>
          </p:nvPr>
        </p:nvSpPr>
        <p:spPr/>
        <p:txBody>
          <a:bodyPr/>
          <a:lstStyle/>
          <a:p>
            <a:fld id="{F9D186E6-336C-46FC-92C1-3353550E4494}" type="slidenum">
              <a:rPr kumimoji="1" lang="ja-JP" altLang="en-US" sz="4000" smtClean="0"/>
              <a:t>2</a:t>
            </a:fld>
            <a:endParaRPr kumimoji="1" lang="ja-JP" altLang="en-US" sz="4000" dirty="0"/>
          </a:p>
        </p:txBody>
      </p:sp>
    </p:spTree>
    <p:extLst>
      <p:ext uri="{BB962C8B-B14F-4D97-AF65-F5344CB8AC3E}">
        <p14:creationId xmlns:p14="http://schemas.microsoft.com/office/powerpoint/2010/main" val="26724282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26F1D5-1DF8-FDA4-6BAF-22D8167EE47C}"/>
              </a:ext>
            </a:extLst>
          </p:cNvPr>
          <p:cNvSpPr>
            <a:spLocks noGrp="1"/>
          </p:cNvSpPr>
          <p:nvPr>
            <p:ph type="title"/>
          </p:nvPr>
        </p:nvSpPr>
        <p:spPr/>
        <p:txBody>
          <a:bodyPr/>
          <a:lstStyle/>
          <a:p>
            <a:r>
              <a:rPr kumimoji="1" lang="ja-JP" altLang="en-US" dirty="0"/>
              <a:t>研究動機</a:t>
            </a:r>
          </a:p>
        </p:txBody>
      </p:sp>
      <p:sp>
        <p:nvSpPr>
          <p:cNvPr id="3" name="コンテンツ プレースホルダー 2">
            <a:extLst>
              <a:ext uri="{FF2B5EF4-FFF2-40B4-BE49-F238E27FC236}">
                <a16:creationId xmlns:a16="http://schemas.microsoft.com/office/drawing/2014/main" id="{1E40E27B-9D36-7A3E-6E75-251A5679A445}"/>
              </a:ext>
            </a:extLst>
          </p:cNvPr>
          <p:cNvSpPr>
            <a:spLocks noGrp="1"/>
          </p:cNvSpPr>
          <p:nvPr>
            <p:ph idx="1"/>
          </p:nvPr>
        </p:nvSpPr>
        <p:spPr>
          <a:xfrm>
            <a:off x="838200" y="1825624"/>
            <a:ext cx="10515600" cy="4918075"/>
          </a:xfrm>
        </p:spPr>
        <p:txBody>
          <a:bodyPr>
            <a:normAutofit lnSpcReduction="10000"/>
          </a:bodyPr>
          <a:lstStyle/>
          <a:p>
            <a:pPr marL="0" indent="0">
              <a:buNone/>
            </a:pPr>
            <a:r>
              <a:rPr kumimoji="1" lang="ja-JP" altLang="en-US" b="1" u="sng" dirty="0"/>
              <a:t>皮膚内部の構造</a:t>
            </a:r>
            <a:r>
              <a:rPr kumimoji="1" lang="ja-JP" altLang="en-US" dirty="0"/>
              <a:t>も見た目に影響を与える。</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kumimoji="1" lang="en-US" altLang="ja-JP" dirty="0"/>
          </a:p>
          <a:p>
            <a:endParaRPr kumimoji="1" lang="en-US" altLang="ja-JP" dirty="0"/>
          </a:p>
          <a:p>
            <a:pPr marL="0" indent="0">
              <a:buNone/>
            </a:pPr>
            <a:r>
              <a:rPr lang="ja-JP" altLang="en-US" u="sng" dirty="0"/>
              <a:t>皮膚の不均質性の再現、主に</a:t>
            </a:r>
            <a:r>
              <a:rPr lang="ja-JP" altLang="en-US" b="1" u="sng" dirty="0"/>
              <a:t>髭に関する影響</a:t>
            </a:r>
            <a:r>
              <a:rPr lang="ja-JP" altLang="en-US" dirty="0"/>
              <a:t>について取り組む</a:t>
            </a:r>
            <a:endParaRPr lang="en-US" altLang="ja-JP" dirty="0">
              <a:effectLst>
                <a:outerShdw blurRad="38100" dist="38100" dir="2700000" algn="tl">
                  <a:srgbClr val="000000">
                    <a:alpha val="43137"/>
                  </a:srgbClr>
                </a:outerShdw>
              </a:effectLst>
            </a:endParaRPr>
          </a:p>
        </p:txBody>
      </p:sp>
      <p:pic>
        <p:nvPicPr>
          <p:cNvPr id="4" name="図 3" descr="口に手を当てている男性&#10;&#10;AI 生成コンテンツは誤りを含む可能性があります。">
            <a:extLst>
              <a:ext uri="{FF2B5EF4-FFF2-40B4-BE49-F238E27FC236}">
                <a16:creationId xmlns:a16="http://schemas.microsoft.com/office/drawing/2014/main" id="{3D13E78A-9AAB-0AD9-C996-E4FCBCDC524D}"/>
              </a:ext>
            </a:extLst>
          </p:cNvPr>
          <p:cNvPicPr>
            <a:picLocks noChangeAspect="1"/>
          </p:cNvPicPr>
          <p:nvPr/>
        </p:nvPicPr>
        <p:blipFill>
          <a:blip r:embed="rId3">
            <a:extLst>
              <a:ext uri="{28A0092B-C50C-407E-A947-70E740481C1C}">
                <a14:useLocalDpi xmlns:a14="http://schemas.microsoft.com/office/drawing/2010/main" val="0"/>
              </a:ext>
            </a:extLst>
          </a:blip>
          <a:srcRect l="28329" t="-876" r="10615" b="37114"/>
          <a:stretch>
            <a:fillRect/>
          </a:stretch>
        </p:blipFill>
        <p:spPr>
          <a:xfrm>
            <a:off x="6647234" y="2578096"/>
            <a:ext cx="3792166" cy="2554287"/>
          </a:xfrm>
          <a:prstGeom prst="rect">
            <a:avLst/>
          </a:prstGeom>
        </p:spPr>
      </p:pic>
      <p:pic>
        <p:nvPicPr>
          <p:cNvPr id="6" name="図 5">
            <a:extLst>
              <a:ext uri="{FF2B5EF4-FFF2-40B4-BE49-F238E27FC236}">
                <a16:creationId xmlns:a16="http://schemas.microsoft.com/office/drawing/2014/main" id="{F91CCCAC-D66A-E5F9-AE1E-61941455074D}"/>
              </a:ext>
            </a:extLst>
          </p:cNvPr>
          <p:cNvPicPr>
            <a:picLocks noChangeAspect="1"/>
          </p:cNvPicPr>
          <p:nvPr/>
        </p:nvPicPr>
        <p:blipFill>
          <a:blip r:embed="rId4"/>
          <a:stretch>
            <a:fillRect/>
          </a:stretch>
        </p:blipFill>
        <p:spPr>
          <a:xfrm>
            <a:off x="1138237" y="2578096"/>
            <a:ext cx="4191000" cy="2962688"/>
          </a:xfrm>
          <a:prstGeom prst="rect">
            <a:avLst/>
          </a:prstGeom>
        </p:spPr>
      </p:pic>
      <p:sp>
        <p:nvSpPr>
          <p:cNvPr id="7" name="テキスト ボックス 6">
            <a:extLst>
              <a:ext uri="{FF2B5EF4-FFF2-40B4-BE49-F238E27FC236}">
                <a16:creationId xmlns:a16="http://schemas.microsoft.com/office/drawing/2014/main" id="{FFDBA275-202E-48FD-ACBA-6DD7505D09A5}"/>
              </a:ext>
            </a:extLst>
          </p:cNvPr>
          <p:cNvSpPr txBox="1"/>
          <p:nvPr/>
        </p:nvSpPr>
        <p:spPr>
          <a:xfrm>
            <a:off x="1974418" y="5386895"/>
            <a:ext cx="2518638" cy="307777"/>
          </a:xfrm>
          <a:prstGeom prst="rect">
            <a:avLst/>
          </a:prstGeom>
          <a:noFill/>
        </p:spPr>
        <p:txBody>
          <a:bodyPr wrap="none" rtlCol="0">
            <a:spAutoFit/>
          </a:bodyPr>
          <a:lstStyle/>
          <a:p>
            <a:r>
              <a:rPr kumimoji="1" lang="ja-JP" altLang="en-US" sz="1400" dirty="0"/>
              <a:t>（第一三共ヘルスケアより）</a:t>
            </a:r>
          </a:p>
        </p:txBody>
      </p:sp>
      <p:sp>
        <p:nvSpPr>
          <p:cNvPr id="8" name="スライド番号プレースホルダー 7">
            <a:extLst>
              <a:ext uri="{FF2B5EF4-FFF2-40B4-BE49-F238E27FC236}">
                <a16:creationId xmlns:a16="http://schemas.microsoft.com/office/drawing/2014/main" id="{355CFB42-D5E1-8242-F54C-9EC1D7B1DBCD}"/>
              </a:ext>
            </a:extLst>
          </p:cNvPr>
          <p:cNvSpPr>
            <a:spLocks noGrp="1"/>
          </p:cNvSpPr>
          <p:nvPr>
            <p:ph type="sldNum" sz="quarter" idx="12"/>
          </p:nvPr>
        </p:nvSpPr>
        <p:spPr/>
        <p:txBody>
          <a:bodyPr/>
          <a:lstStyle/>
          <a:p>
            <a:fld id="{F9D186E6-336C-46FC-92C1-3353550E4494}" type="slidenum">
              <a:rPr kumimoji="1" lang="ja-JP" altLang="en-US" sz="4000" smtClean="0"/>
              <a:t>3</a:t>
            </a:fld>
            <a:endParaRPr kumimoji="1" lang="ja-JP" altLang="en-US" sz="4000" dirty="0"/>
          </a:p>
        </p:txBody>
      </p:sp>
    </p:spTree>
    <p:extLst>
      <p:ext uri="{BB962C8B-B14F-4D97-AF65-F5344CB8AC3E}">
        <p14:creationId xmlns:p14="http://schemas.microsoft.com/office/powerpoint/2010/main" val="1692255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2D58E5-538A-CD2E-BB85-AE795002D783}"/>
              </a:ext>
            </a:extLst>
          </p:cNvPr>
          <p:cNvSpPr>
            <a:spLocks noGrp="1"/>
          </p:cNvSpPr>
          <p:nvPr>
            <p:ph type="title"/>
          </p:nvPr>
        </p:nvSpPr>
        <p:spPr/>
        <p:txBody>
          <a:bodyPr/>
          <a:lstStyle/>
          <a:p>
            <a:r>
              <a:rPr kumimoji="1" lang="ja-JP" altLang="en-US" b="1" dirty="0"/>
              <a:t>反射特性</a:t>
            </a:r>
          </a:p>
        </p:txBody>
      </p:sp>
      <p:sp>
        <p:nvSpPr>
          <p:cNvPr id="3" name="コンテンツ プレースホルダー 2">
            <a:extLst>
              <a:ext uri="{FF2B5EF4-FFF2-40B4-BE49-F238E27FC236}">
                <a16:creationId xmlns:a16="http://schemas.microsoft.com/office/drawing/2014/main" id="{F747B59D-48EC-8965-7751-C76D37816E45}"/>
              </a:ext>
            </a:extLst>
          </p:cNvPr>
          <p:cNvSpPr>
            <a:spLocks noGrp="1"/>
          </p:cNvSpPr>
          <p:nvPr>
            <p:ph idx="1"/>
          </p:nvPr>
        </p:nvSpPr>
        <p:spPr/>
        <p:txBody>
          <a:bodyPr/>
          <a:lstStyle/>
          <a:p>
            <a:pPr marL="0" indent="0">
              <a:buNone/>
            </a:pPr>
            <a:r>
              <a:rPr kumimoji="1" lang="ja-JP" altLang="en-US" dirty="0"/>
              <a:t>物体の見え方には、反射、散乱など、</a:t>
            </a:r>
            <a:endParaRPr kumimoji="1" lang="en-US" altLang="ja-JP" dirty="0"/>
          </a:p>
          <a:p>
            <a:pPr marL="0" indent="0">
              <a:buNone/>
            </a:pPr>
            <a:r>
              <a:rPr kumimoji="1" lang="ja-JP" altLang="en-US" dirty="0"/>
              <a:t>その表面での光の振る舞いが強く関係してくる、</a:t>
            </a:r>
            <a:endParaRPr kumimoji="1" lang="en-US" altLang="ja-JP" dirty="0"/>
          </a:p>
          <a:p>
            <a:endParaRPr lang="en-US" altLang="ja-JP" dirty="0"/>
          </a:p>
          <a:p>
            <a:r>
              <a:rPr kumimoji="1" lang="en-US" altLang="ja-JP" b="1" dirty="0"/>
              <a:t>BRDF</a:t>
            </a:r>
            <a:r>
              <a:rPr kumimoji="1" lang="ja-JP" altLang="en-US" b="1" dirty="0"/>
              <a:t>（双方向反射率分布関数）</a:t>
            </a:r>
            <a:endParaRPr kumimoji="1" lang="en-US" altLang="ja-JP" b="1" dirty="0"/>
          </a:p>
          <a:p>
            <a:pPr marL="0" indent="0">
              <a:buNone/>
            </a:pPr>
            <a:r>
              <a:rPr lang="ja-JP" altLang="en-US" dirty="0"/>
              <a:t>物体表面の光の反射特性を表す関数。</a:t>
            </a:r>
            <a:endParaRPr lang="en-US" altLang="ja-JP" dirty="0"/>
          </a:p>
          <a:p>
            <a:pPr marL="0" indent="0">
              <a:buNone/>
            </a:pPr>
            <a:endParaRPr kumimoji="1" lang="ja-JP" altLang="en-US" dirty="0"/>
          </a:p>
        </p:txBody>
      </p:sp>
      <mc:AlternateContent xmlns:mc="http://schemas.openxmlformats.org/markup-compatibility/2006" xmlns:a14="http://schemas.microsoft.com/office/drawing/2010/main">
        <mc:Choice Requires="a14">
          <p:sp>
            <p:nvSpPr>
              <p:cNvPr id="4" name="正方形/長方形 3">
                <a:extLst>
                  <a:ext uri="{FF2B5EF4-FFF2-40B4-BE49-F238E27FC236}">
                    <a16:creationId xmlns:a16="http://schemas.microsoft.com/office/drawing/2014/main" id="{E38AAF07-A823-CF6E-78CF-92B21D634624}"/>
                  </a:ext>
                </a:extLst>
              </p:cNvPr>
              <p:cNvSpPr/>
              <p:nvPr/>
            </p:nvSpPr>
            <p:spPr>
              <a:xfrm>
                <a:off x="838200" y="4597400"/>
                <a:ext cx="6426200" cy="115993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n-US" altLang="ja-JP" sz="2400" i="1" smtClean="0">
                          <a:latin typeface="Cambria Math" panose="02040503050406030204" pitchFamily="18" charset="0"/>
                        </a:rPr>
                        <m:t>F</m:t>
                      </m:r>
                      <m:d>
                        <m:dPr>
                          <m:ctrlPr>
                            <a:rPr lang="en-US" altLang="ja-JP" sz="2400" i="1" smtClean="0">
                              <a:latin typeface="Cambria Math" panose="02040503050406030204" pitchFamily="18" charset="0"/>
                            </a:rPr>
                          </m:ctrlPr>
                        </m:dPr>
                        <m:e>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ja-JP" altLang="en-US" sz="2400" i="1" smtClean="0">
                                  <a:latin typeface="Cambria Math" panose="02040503050406030204" pitchFamily="18" charset="0"/>
                                </a:rPr>
                                <m:t>𝜔</m:t>
                              </m:r>
                            </m:e>
                            <m:sup>
                              <m:r>
                                <a:rPr lang="en-US" altLang="ja-JP" sz="2400" b="0" i="1" smtClean="0">
                                  <a:latin typeface="Cambria Math" panose="02040503050406030204" pitchFamily="18" charset="0"/>
                                </a:rPr>
                                <m:t>′</m:t>
                              </m:r>
                            </m:sup>
                          </m:sSup>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e>
                      </m:d>
                      <m:r>
                        <a:rPr lang="en-US" altLang="ja-JP" sz="2400" b="0" i="1" smtClean="0">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𝑑𝐿</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𝑑𝐸</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b="0" i="1" smtClean="0">
                              <a:latin typeface="Cambria Math" panose="02040503050406030204" pitchFamily="18" charset="0"/>
                            </a:rPr>
                            <m:t>𝜔</m:t>
                          </m:r>
                          <m:r>
                            <a:rPr lang="en-US" altLang="ja-JP" sz="2400" b="0" i="1" smtClean="0">
                              <a:latin typeface="Cambria Math" panose="02040503050406030204" pitchFamily="18" charset="0"/>
                            </a:rPr>
                            <m:t>′)</m:t>
                          </m:r>
                        </m:den>
                      </m:f>
                    </m:oMath>
                  </m:oMathPara>
                </a14:m>
                <a:endParaRPr kumimoji="1" lang="en-US" altLang="ja-JP" sz="2400" dirty="0"/>
              </a:p>
              <a:p>
                <a:pPr algn="ctr"/>
                <a:r>
                  <a:rPr lang="en-US" altLang="ja-JP" dirty="0"/>
                  <a:t>x=</a:t>
                </a:r>
                <a:r>
                  <a:rPr lang="ja-JP" altLang="en-US" dirty="0"/>
                  <a:t>光の入射点の位置　</a:t>
                </a:r>
                <a:r>
                  <a:rPr lang="en-US" altLang="ja-JP" dirty="0"/>
                  <a:t>ω</a:t>
                </a:r>
                <a:r>
                  <a:rPr lang="ja-JP" altLang="en-US" dirty="0"/>
                  <a:t>＝反射方向　</a:t>
                </a:r>
                <a:r>
                  <a:rPr lang="en-US" altLang="ja-JP" dirty="0"/>
                  <a:t>ω’</a:t>
                </a:r>
                <a:r>
                  <a:rPr lang="ja-JP" altLang="en-US" dirty="0"/>
                  <a:t>＝入射方向</a:t>
                </a:r>
                <a:endParaRPr kumimoji="1" lang="ja-JP" altLang="en-US" dirty="0"/>
              </a:p>
            </p:txBody>
          </p:sp>
        </mc:Choice>
        <mc:Fallback xmlns="">
          <p:sp>
            <p:nvSpPr>
              <p:cNvPr id="4" name="正方形/長方形 3">
                <a:extLst>
                  <a:ext uri="{FF2B5EF4-FFF2-40B4-BE49-F238E27FC236}">
                    <a16:creationId xmlns:a16="http://schemas.microsoft.com/office/drawing/2014/main" id="{E38AAF07-A823-CF6E-78CF-92B21D634624}"/>
                  </a:ext>
                </a:extLst>
              </p:cNvPr>
              <p:cNvSpPr>
                <a:spLocks noRot="1" noChangeAspect="1" noMove="1" noResize="1" noEditPoints="1" noAdjustHandles="1" noChangeArrowheads="1" noChangeShapeType="1" noTextEdit="1"/>
              </p:cNvSpPr>
              <p:nvPr/>
            </p:nvSpPr>
            <p:spPr>
              <a:xfrm>
                <a:off x="838200" y="4597400"/>
                <a:ext cx="6426200" cy="1159933"/>
              </a:xfrm>
              <a:prstGeom prst="rect">
                <a:avLst/>
              </a:prstGeom>
              <a:blipFill>
                <a:blip r:embed="rId3"/>
                <a:stretch>
                  <a:fillRect b="-6218"/>
                </a:stretch>
              </a:blipFill>
            </p:spPr>
            <p:txBody>
              <a:bodyPr/>
              <a:lstStyle/>
              <a:p>
                <a:r>
                  <a:rPr lang="ja-JP" altLang="en-US">
                    <a:noFill/>
                  </a:rPr>
                  <a:t> </a:t>
                </a:r>
              </a:p>
            </p:txBody>
          </p:sp>
        </mc:Fallback>
      </mc:AlternateContent>
      <p:grpSp>
        <p:nvGrpSpPr>
          <p:cNvPr id="6" name="グループ化 5">
            <a:extLst>
              <a:ext uri="{FF2B5EF4-FFF2-40B4-BE49-F238E27FC236}">
                <a16:creationId xmlns:a16="http://schemas.microsoft.com/office/drawing/2014/main" id="{4FDC6AEF-8790-2E18-C03A-EB87874188AA}"/>
              </a:ext>
            </a:extLst>
          </p:cNvPr>
          <p:cNvGrpSpPr/>
          <p:nvPr/>
        </p:nvGrpSpPr>
        <p:grpSpPr>
          <a:xfrm>
            <a:off x="8229758" y="3312072"/>
            <a:ext cx="3725017" cy="2712491"/>
            <a:chOff x="8204358" y="2516205"/>
            <a:chExt cx="3725017" cy="2712491"/>
          </a:xfrm>
        </p:grpSpPr>
        <p:sp>
          <p:nvSpPr>
            <p:cNvPr id="7" name="テキスト ボックス 6">
              <a:extLst>
                <a:ext uri="{FF2B5EF4-FFF2-40B4-BE49-F238E27FC236}">
                  <a16:creationId xmlns:a16="http://schemas.microsoft.com/office/drawing/2014/main" id="{395D9447-9720-144E-501A-A978B3789677}"/>
                </a:ext>
              </a:extLst>
            </p:cNvPr>
            <p:cNvSpPr txBox="1"/>
            <p:nvPr/>
          </p:nvSpPr>
          <p:spPr>
            <a:xfrm>
              <a:off x="9702800" y="4554517"/>
              <a:ext cx="728134" cy="369332"/>
            </a:xfrm>
            <a:prstGeom prst="rect">
              <a:avLst/>
            </a:prstGeom>
            <a:noFill/>
          </p:spPr>
          <p:txBody>
            <a:bodyPr wrap="square" rtlCol="0">
              <a:spAutoFit/>
            </a:bodyPr>
            <a:lstStyle/>
            <a:p>
              <a:r>
                <a:rPr kumimoji="1" lang="en-US" altLang="ja-JP"/>
                <a:t>χ</a:t>
              </a:r>
              <a:endParaRPr kumimoji="1" lang="ja-JP" altLang="en-US" dirty="0"/>
            </a:p>
          </p:txBody>
        </p:sp>
        <p:grpSp>
          <p:nvGrpSpPr>
            <p:cNvPr id="8" name="グループ化 7">
              <a:extLst>
                <a:ext uri="{FF2B5EF4-FFF2-40B4-BE49-F238E27FC236}">
                  <a16:creationId xmlns:a16="http://schemas.microsoft.com/office/drawing/2014/main" id="{9F7EE071-135B-398C-F017-AB8E7393C945}"/>
                </a:ext>
              </a:extLst>
            </p:cNvPr>
            <p:cNvGrpSpPr/>
            <p:nvPr/>
          </p:nvGrpSpPr>
          <p:grpSpPr>
            <a:xfrm>
              <a:off x="8204358" y="2516205"/>
              <a:ext cx="3725017" cy="2712491"/>
              <a:chOff x="8212666" y="2545309"/>
              <a:chExt cx="3725017" cy="2712491"/>
            </a:xfrm>
          </p:grpSpPr>
          <p:cxnSp>
            <p:nvCxnSpPr>
              <p:cNvPr id="9" name="直線コネクタ 8">
                <a:extLst>
                  <a:ext uri="{FF2B5EF4-FFF2-40B4-BE49-F238E27FC236}">
                    <a16:creationId xmlns:a16="http://schemas.microsoft.com/office/drawing/2014/main" id="{7733B8EF-92D8-19E7-DE8E-F6F3432A9A4D}"/>
                  </a:ext>
                </a:extLst>
              </p:cNvPr>
              <p:cNvCxnSpPr>
                <a:cxnSpLocks/>
              </p:cNvCxnSpPr>
              <p:nvPr/>
            </p:nvCxnSpPr>
            <p:spPr>
              <a:xfrm flipV="1">
                <a:off x="8246534" y="4123267"/>
                <a:ext cx="1083733" cy="1134532"/>
              </a:xfrm>
              <a:prstGeom prst="line">
                <a:avLst/>
              </a:prstGeom>
            </p:spPr>
            <p:style>
              <a:lnRef idx="2">
                <a:schemeClr val="dk1"/>
              </a:lnRef>
              <a:fillRef idx="0">
                <a:schemeClr val="dk1"/>
              </a:fillRef>
              <a:effectRef idx="1">
                <a:schemeClr val="dk1"/>
              </a:effectRef>
              <a:fontRef idx="minor">
                <a:schemeClr val="tx1"/>
              </a:fontRef>
            </p:style>
          </p:cxnSp>
          <p:cxnSp>
            <p:nvCxnSpPr>
              <p:cNvPr id="10" name="直線コネクタ 9">
                <a:extLst>
                  <a:ext uri="{FF2B5EF4-FFF2-40B4-BE49-F238E27FC236}">
                    <a16:creationId xmlns:a16="http://schemas.microsoft.com/office/drawing/2014/main" id="{A3AC4D6B-1F21-E68C-FF8B-9E1712230461}"/>
                  </a:ext>
                </a:extLst>
              </p:cNvPr>
              <p:cNvCxnSpPr>
                <a:cxnSpLocks/>
              </p:cNvCxnSpPr>
              <p:nvPr/>
            </p:nvCxnSpPr>
            <p:spPr>
              <a:xfrm flipV="1">
                <a:off x="10668000" y="4123267"/>
                <a:ext cx="1032933" cy="1134533"/>
              </a:xfrm>
              <a:prstGeom prst="line">
                <a:avLst/>
              </a:prstGeom>
            </p:spPr>
            <p:style>
              <a:lnRef idx="2">
                <a:schemeClr val="dk1"/>
              </a:lnRef>
              <a:fillRef idx="0">
                <a:schemeClr val="dk1"/>
              </a:fillRef>
              <a:effectRef idx="1">
                <a:schemeClr val="dk1"/>
              </a:effectRef>
              <a:fontRef idx="minor">
                <a:schemeClr val="tx1"/>
              </a:fontRef>
            </p:style>
          </p:cxnSp>
          <p:cxnSp>
            <p:nvCxnSpPr>
              <p:cNvPr id="11" name="直線コネクタ 10">
                <a:extLst>
                  <a:ext uri="{FF2B5EF4-FFF2-40B4-BE49-F238E27FC236}">
                    <a16:creationId xmlns:a16="http://schemas.microsoft.com/office/drawing/2014/main" id="{8EF84A3F-6C69-C93B-419D-F54C100BE47B}"/>
                  </a:ext>
                </a:extLst>
              </p:cNvPr>
              <p:cNvCxnSpPr/>
              <p:nvPr/>
            </p:nvCxnSpPr>
            <p:spPr>
              <a:xfrm>
                <a:off x="9347200" y="4123267"/>
                <a:ext cx="2353733" cy="0"/>
              </a:xfrm>
              <a:prstGeom prst="line">
                <a:avLst/>
              </a:prstGeom>
            </p:spPr>
            <p:style>
              <a:lnRef idx="2">
                <a:schemeClr val="dk1"/>
              </a:lnRef>
              <a:fillRef idx="0">
                <a:schemeClr val="dk1"/>
              </a:fillRef>
              <a:effectRef idx="1">
                <a:schemeClr val="dk1"/>
              </a:effectRef>
              <a:fontRef idx="minor">
                <a:schemeClr val="tx1"/>
              </a:fontRef>
            </p:style>
          </p:cxnSp>
          <p:cxnSp>
            <p:nvCxnSpPr>
              <p:cNvPr id="12" name="直線コネクタ 11">
                <a:extLst>
                  <a:ext uri="{FF2B5EF4-FFF2-40B4-BE49-F238E27FC236}">
                    <a16:creationId xmlns:a16="http://schemas.microsoft.com/office/drawing/2014/main" id="{622F6F88-7B52-4922-92EE-5E86DF8A3916}"/>
                  </a:ext>
                </a:extLst>
              </p:cNvPr>
              <p:cNvCxnSpPr>
                <a:cxnSpLocks/>
              </p:cNvCxnSpPr>
              <p:nvPr/>
            </p:nvCxnSpPr>
            <p:spPr>
              <a:xfrm>
                <a:off x="8263467" y="5257799"/>
                <a:ext cx="2404533" cy="0"/>
              </a:xfrm>
              <a:prstGeom prst="line">
                <a:avLst/>
              </a:prstGeom>
            </p:spPr>
            <p:style>
              <a:lnRef idx="2">
                <a:schemeClr val="dk1"/>
              </a:lnRef>
              <a:fillRef idx="0">
                <a:schemeClr val="dk1"/>
              </a:fillRef>
              <a:effectRef idx="1">
                <a:schemeClr val="dk1"/>
              </a:effectRef>
              <a:fontRef idx="minor">
                <a:schemeClr val="tx1"/>
              </a:fontRef>
            </p:style>
          </p:cxnSp>
          <p:cxnSp>
            <p:nvCxnSpPr>
              <p:cNvPr id="13" name="直線矢印コネクタ 12">
                <a:extLst>
                  <a:ext uri="{FF2B5EF4-FFF2-40B4-BE49-F238E27FC236}">
                    <a16:creationId xmlns:a16="http://schemas.microsoft.com/office/drawing/2014/main" id="{939BDE5C-2C4D-A523-0A2E-FAE284B07808}"/>
                  </a:ext>
                </a:extLst>
              </p:cNvPr>
              <p:cNvCxnSpPr/>
              <p:nvPr/>
            </p:nvCxnSpPr>
            <p:spPr>
              <a:xfrm flipV="1">
                <a:off x="9931400" y="2904067"/>
                <a:ext cx="0" cy="17018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4" name="直線矢印コネクタ 13">
                <a:extLst>
                  <a:ext uri="{FF2B5EF4-FFF2-40B4-BE49-F238E27FC236}">
                    <a16:creationId xmlns:a16="http://schemas.microsoft.com/office/drawing/2014/main" id="{F2E3EA29-2AD7-E336-0F15-527EE0A5DDF7}"/>
                  </a:ext>
                </a:extLst>
              </p:cNvPr>
              <p:cNvCxnSpPr/>
              <p:nvPr/>
            </p:nvCxnSpPr>
            <p:spPr>
              <a:xfrm flipH="1" flipV="1">
                <a:off x="8458199" y="3602038"/>
                <a:ext cx="1456266" cy="100382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直線矢印コネクタ 14">
                <a:extLst>
                  <a:ext uri="{FF2B5EF4-FFF2-40B4-BE49-F238E27FC236}">
                    <a16:creationId xmlns:a16="http://schemas.microsoft.com/office/drawing/2014/main" id="{A0BD2A36-DAF4-611A-35D6-1A19AB1C29D2}"/>
                  </a:ext>
                </a:extLst>
              </p:cNvPr>
              <p:cNvCxnSpPr>
                <a:cxnSpLocks/>
              </p:cNvCxnSpPr>
              <p:nvPr/>
            </p:nvCxnSpPr>
            <p:spPr>
              <a:xfrm flipH="1">
                <a:off x="10938774" y="3008062"/>
                <a:ext cx="575734" cy="61330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6" name="直線コネクタ 15">
                <a:extLst>
                  <a:ext uri="{FF2B5EF4-FFF2-40B4-BE49-F238E27FC236}">
                    <a16:creationId xmlns:a16="http://schemas.microsoft.com/office/drawing/2014/main" id="{4086EEB8-A8C2-3C0B-0EEA-488FE33DCFC4}"/>
                  </a:ext>
                </a:extLst>
              </p:cNvPr>
              <p:cNvCxnSpPr/>
              <p:nvPr/>
            </p:nvCxnSpPr>
            <p:spPr>
              <a:xfrm flipH="1">
                <a:off x="9948332" y="3594054"/>
                <a:ext cx="1024467" cy="1003829"/>
              </a:xfrm>
              <a:prstGeom prst="line">
                <a:avLst/>
              </a:prstGeom>
            </p:spPr>
            <p:style>
              <a:lnRef idx="2">
                <a:schemeClr val="dk1"/>
              </a:lnRef>
              <a:fillRef idx="0">
                <a:schemeClr val="dk1"/>
              </a:fillRef>
              <a:effectRef idx="1">
                <a:schemeClr val="dk1"/>
              </a:effectRef>
              <a:fontRef idx="minor">
                <a:schemeClr val="tx1"/>
              </a:fontRef>
            </p:style>
          </p:cxnSp>
          <p:sp>
            <p:nvSpPr>
              <p:cNvPr id="17" name="円弧 16">
                <a:extLst>
                  <a:ext uri="{FF2B5EF4-FFF2-40B4-BE49-F238E27FC236}">
                    <a16:creationId xmlns:a16="http://schemas.microsoft.com/office/drawing/2014/main" id="{ED40D491-FECD-FDF5-85FB-3009F7AB22C3}"/>
                  </a:ext>
                </a:extLst>
              </p:cNvPr>
              <p:cNvSpPr/>
              <p:nvPr/>
            </p:nvSpPr>
            <p:spPr>
              <a:xfrm rot="20961762">
                <a:off x="9402077" y="3504403"/>
                <a:ext cx="1261528" cy="1078967"/>
              </a:xfrm>
              <a:prstGeom prst="arc">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cxnSp>
            <p:nvCxnSpPr>
              <p:cNvPr id="18" name="直線コネクタ 17">
                <a:extLst>
                  <a:ext uri="{FF2B5EF4-FFF2-40B4-BE49-F238E27FC236}">
                    <a16:creationId xmlns:a16="http://schemas.microsoft.com/office/drawing/2014/main" id="{C83937B4-C7E2-F0FA-5722-4212A411D4DA}"/>
                  </a:ext>
                </a:extLst>
              </p:cNvPr>
              <p:cNvCxnSpPr/>
              <p:nvPr/>
            </p:nvCxnSpPr>
            <p:spPr>
              <a:xfrm flipV="1">
                <a:off x="9931400" y="3429000"/>
                <a:ext cx="914400" cy="1176867"/>
              </a:xfrm>
              <a:prstGeom prst="line">
                <a:avLst/>
              </a:prstGeom>
            </p:spPr>
            <p:style>
              <a:lnRef idx="2">
                <a:schemeClr val="dk1"/>
              </a:lnRef>
              <a:fillRef idx="0">
                <a:schemeClr val="dk1"/>
              </a:fillRef>
              <a:effectRef idx="1">
                <a:schemeClr val="dk1"/>
              </a:effectRef>
              <a:fontRef idx="minor">
                <a:schemeClr val="tx1"/>
              </a:fontRef>
            </p:style>
          </p:cxnSp>
          <p:cxnSp>
            <p:nvCxnSpPr>
              <p:cNvPr id="19" name="直線コネクタ 18">
                <a:extLst>
                  <a:ext uri="{FF2B5EF4-FFF2-40B4-BE49-F238E27FC236}">
                    <a16:creationId xmlns:a16="http://schemas.microsoft.com/office/drawing/2014/main" id="{CE2D88C5-A930-ADCD-BDF1-8EDC0533F765}"/>
                  </a:ext>
                </a:extLst>
              </p:cNvPr>
              <p:cNvCxnSpPr/>
              <p:nvPr/>
            </p:nvCxnSpPr>
            <p:spPr>
              <a:xfrm flipV="1">
                <a:off x="9931400" y="3754967"/>
                <a:ext cx="1143000" cy="850900"/>
              </a:xfrm>
              <a:prstGeom prst="line">
                <a:avLst/>
              </a:prstGeom>
            </p:spPr>
            <p:style>
              <a:lnRef idx="2">
                <a:schemeClr val="dk1"/>
              </a:lnRef>
              <a:fillRef idx="0">
                <a:schemeClr val="dk1"/>
              </a:fillRef>
              <a:effectRef idx="1">
                <a:schemeClr val="dk1"/>
              </a:effectRef>
              <a:fontRef idx="minor">
                <a:schemeClr val="tx1"/>
              </a:fontRef>
            </p:style>
          </p:cxnSp>
          <p:sp>
            <p:nvSpPr>
              <p:cNvPr id="20" name="円弧 19">
                <a:extLst>
                  <a:ext uri="{FF2B5EF4-FFF2-40B4-BE49-F238E27FC236}">
                    <a16:creationId xmlns:a16="http://schemas.microsoft.com/office/drawing/2014/main" id="{F28BEC5C-E43B-9D6F-EF33-E8F54BA727BA}"/>
                  </a:ext>
                </a:extLst>
              </p:cNvPr>
              <p:cNvSpPr/>
              <p:nvPr/>
            </p:nvSpPr>
            <p:spPr>
              <a:xfrm rot="2851615">
                <a:off x="10758802" y="3497024"/>
                <a:ext cx="417871" cy="178092"/>
              </a:xfrm>
              <a:prstGeom prst="arc">
                <a:avLst>
                  <a:gd name="adj1" fmla="val 20956052"/>
                  <a:gd name="adj2" fmla="val 20780845"/>
                </a:avLst>
              </a:prstGeom>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9585912-5462-A901-DD5B-457EA3EC3DA2}"/>
                  </a:ext>
                </a:extLst>
              </p:cNvPr>
              <p:cNvSpPr txBox="1"/>
              <p:nvPr/>
            </p:nvSpPr>
            <p:spPr>
              <a:xfrm>
                <a:off x="9745135" y="2545309"/>
                <a:ext cx="406393" cy="369332"/>
              </a:xfrm>
              <a:prstGeom prst="rect">
                <a:avLst/>
              </a:prstGeom>
              <a:noFill/>
            </p:spPr>
            <p:txBody>
              <a:bodyPr wrap="square" rtlCol="0">
                <a:spAutoFit/>
              </a:bodyPr>
              <a:lstStyle/>
              <a:p>
                <a:r>
                  <a:rPr lang="en-US" altLang="ja-JP" b="1" dirty="0"/>
                  <a:t>N</a:t>
                </a:r>
                <a:endParaRPr kumimoji="1" lang="ja-JP" altLang="en-US" b="1" dirty="0"/>
              </a:p>
            </p:txBody>
          </p:sp>
          <p:sp>
            <p:nvSpPr>
              <p:cNvPr id="22" name="テキスト ボックス 21">
                <a:extLst>
                  <a:ext uri="{FF2B5EF4-FFF2-40B4-BE49-F238E27FC236}">
                    <a16:creationId xmlns:a16="http://schemas.microsoft.com/office/drawing/2014/main" id="{D39FA27E-806E-4E87-005E-FF1517365E63}"/>
                  </a:ext>
                </a:extLst>
              </p:cNvPr>
              <p:cNvSpPr txBox="1"/>
              <p:nvPr/>
            </p:nvSpPr>
            <p:spPr>
              <a:xfrm>
                <a:off x="8212666" y="3271302"/>
                <a:ext cx="245533" cy="369332"/>
              </a:xfrm>
              <a:prstGeom prst="rect">
                <a:avLst/>
              </a:prstGeom>
              <a:noFill/>
            </p:spPr>
            <p:txBody>
              <a:bodyPr wrap="square" rtlCol="0">
                <a:spAutoFit/>
              </a:bodyPr>
              <a:lstStyle/>
              <a:p>
                <a:r>
                  <a:rPr kumimoji="1" lang="en-US" altLang="ja-JP" dirty="0"/>
                  <a:t>ω</a:t>
                </a:r>
                <a:endParaRPr kumimoji="1" lang="ja-JP" altLang="en-US" dirty="0"/>
              </a:p>
            </p:txBody>
          </p:sp>
          <p:sp>
            <p:nvSpPr>
              <p:cNvPr id="23" name="テキスト ボックス 22">
                <a:extLst>
                  <a:ext uri="{FF2B5EF4-FFF2-40B4-BE49-F238E27FC236}">
                    <a16:creationId xmlns:a16="http://schemas.microsoft.com/office/drawing/2014/main" id="{B06B485E-5A21-B7FE-133F-7D2D30340425}"/>
                  </a:ext>
                </a:extLst>
              </p:cNvPr>
              <p:cNvSpPr txBox="1"/>
              <p:nvPr/>
            </p:nvSpPr>
            <p:spPr>
              <a:xfrm>
                <a:off x="11361949" y="2638729"/>
                <a:ext cx="575734" cy="369332"/>
              </a:xfrm>
              <a:prstGeom prst="rect">
                <a:avLst/>
              </a:prstGeom>
              <a:noFill/>
            </p:spPr>
            <p:txBody>
              <a:bodyPr wrap="square" rtlCol="0">
                <a:spAutoFit/>
              </a:bodyPr>
              <a:lstStyle/>
              <a:p>
                <a:r>
                  <a:rPr kumimoji="1" lang="en-US" altLang="ja-JP" dirty="0"/>
                  <a:t>ω'</a:t>
                </a:r>
                <a:endParaRPr kumimoji="1" lang="ja-JP" altLang="en-US" dirty="0"/>
              </a:p>
            </p:txBody>
          </p:sp>
          <p:sp>
            <p:nvSpPr>
              <p:cNvPr id="24" name="テキスト ボックス 23">
                <a:extLst>
                  <a:ext uri="{FF2B5EF4-FFF2-40B4-BE49-F238E27FC236}">
                    <a16:creationId xmlns:a16="http://schemas.microsoft.com/office/drawing/2014/main" id="{7A1C4729-F64A-6365-7C68-E1958FD72C20}"/>
                  </a:ext>
                </a:extLst>
              </p:cNvPr>
              <p:cNvSpPr txBox="1"/>
              <p:nvPr/>
            </p:nvSpPr>
            <p:spPr>
              <a:xfrm>
                <a:off x="11199741" y="3551159"/>
                <a:ext cx="602474" cy="338554"/>
              </a:xfrm>
              <a:prstGeom prst="rect">
                <a:avLst/>
              </a:prstGeom>
              <a:noFill/>
            </p:spPr>
            <p:txBody>
              <a:bodyPr wrap="square" rtlCol="0">
                <a:spAutoFit/>
              </a:bodyPr>
              <a:lstStyle/>
              <a:p>
                <a:r>
                  <a:rPr lang="en-US" altLang="ja-JP" sz="1600" dirty="0" err="1"/>
                  <a:t>d</a:t>
                </a:r>
                <a:r>
                  <a:rPr kumimoji="1" lang="en-US" altLang="ja-JP" sz="1600" dirty="0" err="1"/>
                  <a:t>ω</a:t>
                </a:r>
                <a:r>
                  <a:rPr kumimoji="1" lang="en-US" altLang="ja-JP" sz="1600" dirty="0"/>
                  <a:t>’</a:t>
                </a:r>
                <a:endParaRPr kumimoji="1" lang="ja-JP" altLang="en-US" sz="1600" dirty="0"/>
              </a:p>
            </p:txBody>
          </p:sp>
          <p:sp>
            <p:nvSpPr>
              <p:cNvPr id="25" name="テキスト ボックス 24">
                <a:extLst>
                  <a:ext uri="{FF2B5EF4-FFF2-40B4-BE49-F238E27FC236}">
                    <a16:creationId xmlns:a16="http://schemas.microsoft.com/office/drawing/2014/main" id="{B8D65BDE-CE73-2AE7-7273-1A85280A4862}"/>
                  </a:ext>
                </a:extLst>
              </p:cNvPr>
              <p:cNvSpPr txBox="1"/>
              <p:nvPr/>
            </p:nvSpPr>
            <p:spPr>
              <a:xfrm>
                <a:off x="10197940" y="3219987"/>
                <a:ext cx="415498" cy="369332"/>
              </a:xfrm>
              <a:prstGeom prst="rect">
                <a:avLst/>
              </a:prstGeom>
              <a:noFill/>
            </p:spPr>
            <p:txBody>
              <a:bodyPr wrap="none" rtlCol="0">
                <a:spAutoFit/>
              </a:bodyPr>
              <a:lstStyle/>
              <a:p>
                <a:r>
                  <a:rPr kumimoji="1" lang="en-US" altLang="ja-JP" dirty="0"/>
                  <a:t>θ</a:t>
                </a:r>
                <a:endParaRPr kumimoji="1" lang="ja-JP" altLang="en-US" dirty="0"/>
              </a:p>
            </p:txBody>
          </p:sp>
        </p:grpSp>
      </p:grpSp>
      <p:sp>
        <p:nvSpPr>
          <p:cNvPr id="26" name="スライド番号プレースホルダー 25">
            <a:extLst>
              <a:ext uri="{FF2B5EF4-FFF2-40B4-BE49-F238E27FC236}">
                <a16:creationId xmlns:a16="http://schemas.microsoft.com/office/drawing/2014/main" id="{105AE515-8B77-F150-EFA0-0BF395367EFF}"/>
              </a:ext>
            </a:extLst>
          </p:cNvPr>
          <p:cNvSpPr>
            <a:spLocks noGrp="1"/>
          </p:cNvSpPr>
          <p:nvPr>
            <p:ph type="sldNum" sz="quarter" idx="12"/>
          </p:nvPr>
        </p:nvSpPr>
        <p:spPr/>
        <p:txBody>
          <a:bodyPr/>
          <a:lstStyle/>
          <a:p>
            <a:fld id="{F9D186E6-336C-46FC-92C1-3353550E4494}" type="slidenum">
              <a:rPr kumimoji="1" lang="ja-JP" altLang="en-US" sz="4000" smtClean="0"/>
              <a:t>4</a:t>
            </a:fld>
            <a:endParaRPr kumimoji="1" lang="ja-JP" altLang="en-US" sz="4000" dirty="0"/>
          </a:p>
        </p:txBody>
      </p:sp>
    </p:spTree>
    <p:extLst>
      <p:ext uri="{BB962C8B-B14F-4D97-AF65-F5344CB8AC3E}">
        <p14:creationId xmlns:p14="http://schemas.microsoft.com/office/powerpoint/2010/main" val="289180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BE530F-5A49-69EF-AACC-33424B400F8A}"/>
              </a:ext>
            </a:extLst>
          </p:cNvPr>
          <p:cNvSpPr>
            <a:spLocks noGrp="1"/>
          </p:cNvSpPr>
          <p:nvPr>
            <p:ph type="title"/>
          </p:nvPr>
        </p:nvSpPr>
        <p:spPr/>
        <p:txBody>
          <a:bodyPr>
            <a:normAutofit/>
          </a:bodyPr>
          <a:lstStyle/>
          <a:p>
            <a:r>
              <a:rPr lang="ja-JP" altLang="en-US" b="1" dirty="0"/>
              <a:t>表面下散乱</a:t>
            </a:r>
            <a:br>
              <a:rPr lang="en-US" altLang="ja-JP" b="1" dirty="0"/>
            </a:br>
            <a:r>
              <a:rPr lang="ja-JP" altLang="en-US" b="1" dirty="0"/>
              <a:t>（</a:t>
            </a:r>
            <a:r>
              <a:rPr lang="en-US" altLang="ja-JP" b="1" dirty="0"/>
              <a:t>Sub Surface</a:t>
            </a:r>
            <a:r>
              <a:rPr lang="ja-JP" altLang="en-US" b="1" dirty="0"/>
              <a:t> </a:t>
            </a:r>
            <a:r>
              <a:rPr lang="en-US" altLang="ja-JP" b="1" dirty="0"/>
              <a:t>Scattering ,SSS</a:t>
            </a:r>
            <a:r>
              <a:rPr lang="ja-JP" altLang="en-US" b="1" dirty="0"/>
              <a:t>）</a:t>
            </a:r>
            <a:endParaRPr kumimoji="1" lang="ja-JP" altLang="en-US" dirty="0"/>
          </a:p>
        </p:txBody>
      </p:sp>
      <p:sp>
        <p:nvSpPr>
          <p:cNvPr id="3" name="コンテンツ プレースホルダー 2">
            <a:extLst>
              <a:ext uri="{FF2B5EF4-FFF2-40B4-BE49-F238E27FC236}">
                <a16:creationId xmlns:a16="http://schemas.microsoft.com/office/drawing/2014/main" id="{86A47FDD-4854-D9B7-C169-CFE980443512}"/>
              </a:ext>
            </a:extLst>
          </p:cNvPr>
          <p:cNvSpPr>
            <a:spLocks noGrp="1"/>
          </p:cNvSpPr>
          <p:nvPr>
            <p:ph idx="1"/>
          </p:nvPr>
        </p:nvSpPr>
        <p:spPr>
          <a:xfrm>
            <a:off x="838200" y="2028825"/>
            <a:ext cx="10515600" cy="4148138"/>
          </a:xfrm>
        </p:spPr>
        <p:txBody>
          <a:bodyPr/>
          <a:lstStyle/>
          <a:p>
            <a:pPr marL="0" indent="0">
              <a:buNone/>
            </a:pPr>
            <a:r>
              <a:rPr lang="ja-JP" altLang="en-US" dirty="0"/>
              <a:t>物体に入射した光が、内部で散乱したのちに</a:t>
            </a:r>
            <a:endParaRPr lang="en-US" altLang="ja-JP" dirty="0"/>
          </a:p>
          <a:p>
            <a:pPr marL="0" indent="0">
              <a:buNone/>
            </a:pPr>
            <a:r>
              <a:rPr lang="ja-JP" altLang="en-US" dirty="0"/>
              <a:t>違う点から出てくる現象</a:t>
            </a:r>
            <a:br>
              <a:rPr lang="en-US" altLang="ja-JP" dirty="0"/>
            </a:br>
            <a:endParaRPr lang="en-US" altLang="ja-JP" dirty="0"/>
          </a:p>
          <a:p>
            <a:pPr marL="0" indent="0">
              <a:buNone/>
            </a:pPr>
            <a:r>
              <a:rPr lang="ja-JP" altLang="en-US" dirty="0"/>
              <a:t>⇒</a:t>
            </a:r>
            <a:r>
              <a:rPr lang="en-US" altLang="ja-JP" b="1" u="sng" dirty="0"/>
              <a:t>BRDF</a:t>
            </a:r>
            <a:r>
              <a:rPr lang="ja-JP" altLang="en-US" b="1" u="sng" dirty="0"/>
              <a:t>では取り扱うことができない</a:t>
            </a:r>
            <a:endParaRPr kumimoji="1" lang="ja-JP" altLang="en-US" b="1" u="sng" dirty="0"/>
          </a:p>
        </p:txBody>
      </p:sp>
      <p:grpSp>
        <p:nvGrpSpPr>
          <p:cNvPr id="12" name="グループ化 11">
            <a:extLst>
              <a:ext uri="{FF2B5EF4-FFF2-40B4-BE49-F238E27FC236}">
                <a16:creationId xmlns:a16="http://schemas.microsoft.com/office/drawing/2014/main" id="{B04BBC7A-2DBF-A3A3-9F74-E70DD62BA910}"/>
              </a:ext>
            </a:extLst>
          </p:cNvPr>
          <p:cNvGrpSpPr/>
          <p:nvPr/>
        </p:nvGrpSpPr>
        <p:grpSpPr>
          <a:xfrm>
            <a:off x="7706044" y="2533474"/>
            <a:ext cx="4038599" cy="1791052"/>
            <a:chOff x="3276600" y="3429000"/>
            <a:chExt cx="3285067" cy="2031999"/>
          </a:xfrm>
        </p:grpSpPr>
        <p:sp>
          <p:nvSpPr>
            <p:cNvPr id="13" name="正方形/長方形 12">
              <a:extLst>
                <a:ext uri="{FF2B5EF4-FFF2-40B4-BE49-F238E27FC236}">
                  <a16:creationId xmlns:a16="http://schemas.microsoft.com/office/drawing/2014/main" id="{845631D2-646A-A3E1-75AB-0B334B1909D6}"/>
                </a:ext>
              </a:extLst>
            </p:cNvPr>
            <p:cNvSpPr/>
            <p:nvPr/>
          </p:nvSpPr>
          <p:spPr>
            <a:xfrm>
              <a:off x="3276600" y="4614332"/>
              <a:ext cx="3166533" cy="846667"/>
            </a:xfrm>
            <a:prstGeom prst="rect">
              <a:avLst/>
            </a:prstGeom>
            <a:solidFill>
              <a:schemeClr val="bg1">
                <a:lumMod val="75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kumimoji="1" lang="ja-JP" altLang="en-US" dirty="0"/>
            </a:p>
          </p:txBody>
        </p:sp>
        <p:cxnSp>
          <p:nvCxnSpPr>
            <p:cNvPr id="14" name="直線矢印コネクタ 13">
              <a:extLst>
                <a:ext uri="{FF2B5EF4-FFF2-40B4-BE49-F238E27FC236}">
                  <a16:creationId xmlns:a16="http://schemas.microsoft.com/office/drawing/2014/main" id="{F598D6AA-DA67-F7BE-D6F1-C9372154FF13}"/>
                </a:ext>
              </a:extLst>
            </p:cNvPr>
            <p:cNvCxnSpPr/>
            <p:nvPr/>
          </p:nvCxnSpPr>
          <p:spPr>
            <a:xfrm flipH="1">
              <a:off x="5520267" y="3429000"/>
              <a:ext cx="1041400" cy="1168400"/>
            </a:xfrm>
            <a:prstGeom prst="straightConnector1">
              <a:avLst/>
            </a:prstGeom>
            <a:ln>
              <a:solidFill>
                <a:srgbClr val="FFC000"/>
              </a:solidFill>
              <a:tailEnd type="triangle"/>
            </a:ln>
          </p:spPr>
          <p:style>
            <a:lnRef idx="2">
              <a:schemeClr val="dk1"/>
            </a:lnRef>
            <a:fillRef idx="0">
              <a:schemeClr val="dk1"/>
            </a:fillRef>
            <a:effectRef idx="1">
              <a:schemeClr val="dk1"/>
            </a:effectRef>
            <a:fontRef idx="minor">
              <a:schemeClr val="tx1"/>
            </a:fontRef>
          </p:style>
        </p:cxnSp>
        <p:cxnSp>
          <p:nvCxnSpPr>
            <p:cNvPr id="15" name="直線コネクタ 14">
              <a:extLst>
                <a:ext uri="{FF2B5EF4-FFF2-40B4-BE49-F238E27FC236}">
                  <a16:creationId xmlns:a16="http://schemas.microsoft.com/office/drawing/2014/main" id="{5B7F7657-1D78-0C4F-E9F0-910FB9A121EE}"/>
                </a:ext>
              </a:extLst>
            </p:cNvPr>
            <p:cNvCxnSpPr/>
            <p:nvPr/>
          </p:nvCxnSpPr>
          <p:spPr>
            <a:xfrm flipH="1">
              <a:off x="5334000" y="4614332"/>
              <a:ext cx="194733" cy="406401"/>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D2437AB1-CDDF-E8D2-405E-B72A9AAA1DC9}"/>
                </a:ext>
              </a:extLst>
            </p:cNvPr>
            <p:cNvCxnSpPr/>
            <p:nvPr/>
          </p:nvCxnSpPr>
          <p:spPr>
            <a:xfrm>
              <a:off x="4944533" y="4792133"/>
              <a:ext cx="381000" cy="245534"/>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7" name="直線コネクタ 16">
              <a:extLst>
                <a:ext uri="{FF2B5EF4-FFF2-40B4-BE49-F238E27FC236}">
                  <a16:creationId xmlns:a16="http://schemas.microsoft.com/office/drawing/2014/main" id="{1D786C07-4A49-C7B7-F3BC-8ED231B83412}"/>
                </a:ext>
              </a:extLst>
            </p:cNvPr>
            <p:cNvCxnSpPr/>
            <p:nvPr/>
          </p:nvCxnSpPr>
          <p:spPr>
            <a:xfrm flipH="1">
              <a:off x="4546600" y="4783667"/>
              <a:ext cx="381000" cy="237066"/>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8" name="直線コネクタ 17">
              <a:extLst>
                <a:ext uri="{FF2B5EF4-FFF2-40B4-BE49-F238E27FC236}">
                  <a16:creationId xmlns:a16="http://schemas.microsoft.com/office/drawing/2014/main" id="{930E7E39-BA3D-CBC9-E525-82CEA4B73C97}"/>
                </a:ext>
              </a:extLst>
            </p:cNvPr>
            <p:cNvCxnSpPr/>
            <p:nvPr/>
          </p:nvCxnSpPr>
          <p:spPr>
            <a:xfrm>
              <a:off x="4419600" y="4597400"/>
              <a:ext cx="135467" cy="440267"/>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FBC888EB-AE7F-DCBC-47ED-F6C4CFBB3AF6}"/>
                </a:ext>
              </a:extLst>
            </p:cNvPr>
            <p:cNvCxnSpPr/>
            <p:nvPr/>
          </p:nvCxnSpPr>
          <p:spPr>
            <a:xfrm flipH="1" flipV="1">
              <a:off x="3378200" y="3784600"/>
              <a:ext cx="1041400" cy="829732"/>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grpSp>
      <p:pic>
        <p:nvPicPr>
          <p:cNvPr id="21" name="図 20" descr="手の指&#10;&#10;AI 生成コンテンツは誤りを含む可能性があります。">
            <a:extLst>
              <a:ext uri="{FF2B5EF4-FFF2-40B4-BE49-F238E27FC236}">
                <a16:creationId xmlns:a16="http://schemas.microsoft.com/office/drawing/2014/main" id="{EAD9EEA0-1ED0-0DF3-C82A-89977D291E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089327"/>
            <a:ext cx="1776513" cy="2662689"/>
          </a:xfrm>
          <a:prstGeom prst="rect">
            <a:avLst/>
          </a:prstGeom>
        </p:spPr>
      </p:pic>
      <p:pic>
        <p:nvPicPr>
          <p:cNvPr id="23" name="図 22" descr="木の枝で植えている植物&#10;&#10;AI 生成コンテンツは誤りを含む可能性があります。">
            <a:extLst>
              <a:ext uri="{FF2B5EF4-FFF2-40B4-BE49-F238E27FC236}">
                <a16:creationId xmlns:a16="http://schemas.microsoft.com/office/drawing/2014/main" id="{E379CF84-1FB3-561A-D466-7A2819CA33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6400" y="4102894"/>
            <a:ext cx="3970580" cy="2649122"/>
          </a:xfrm>
          <a:prstGeom prst="rect">
            <a:avLst/>
          </a:prstGeom>
        </p:spPr>
      </p:pic>
      <p:sp>
        <p:nvSpPr>
          <p:cNvPr id="4" name="円: 塗りつぶしなし 3">
            <a:extLst>
              <a:ext uri="{FF2B5EF4-FFF2-40B4-BE49-F238E27FC236}">
                <a16:creationId xmlns:a16="http://schemas.microsoft.com/office/drawing/2014/main" id="{3DA1E43E-2833-735E-CB6D-98F3F2ADAB7F}"/>
              </a:ext>
            </a:extLst>
          </p:cNvPr>
          <p:cNvSpPr/>
          <p:nvPr/>
        </p:nvSpPr>
        <p:spPr>
          <a:xfrm rot="20274091">
            <a:off x="1089505" y="5387599"/>
            <a:ext cx="1235703" cy="640514"/>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5" name="円: 塗りつぶしなし 4">
            <a:extLst>
              <a:ext uri="{FF2B5EF4-FFF2-40B4-BE49-F238E27FC236}">
                <a16:creationId xmlns:a16="http://schemas.microsoft.com/office/drawing/2014/main" id="{CA66F650-6D7B-C5A2-D936-554CE2939A4C}"/>
              </a:ext>
            </a:extLst>
          </p:cNvPr>
          <p:cNvSpPr/>
          <p:nvPr/>
        </p:nvSpPr>
        <p:spPr>
          <a:xfrm rot="20274091">
            <a:off x="4925953" y="4664216"/>
            <a:ext cx="1914398" cy="1634909"/>
          </a:xfrm>
          <a:prstGeom prst="donut">
            <a:avLst>
              <a:gd name="adj" fmla="val 5744"/>
            </a:avLst>
          </a:prstGeom>
          <a:solidFill>
            <a:srgbClr val="C0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7" name="スライド番号プレースホルダー 6">
            <a:extLst>
              <a:ext uri="{FF2B5EF4-FFF2-40B4-BE49-F238E27FC236}">
                <a16:creationId xmlns:a16="http://schemas.microsoft.com/office/drawing/2014/main" id="{169944A4-6E82-A0EA-7541-82C80ADFD346}"/>
              </a:ext>
            </a:extLst>
          </p:cNvPr>
          <p:cNvSpPr>
            <a:spLocks noGrp="1"/>
          </p:cNvSpPr>
          <p:nvPr>
            <p:ph type="sldNum" sz="quarter" idx="12"/>
          </p:nvPr>
        </p:nvSpPr>
        <p:spPr/>
        <p:txBody>
          <a:bodyPr/>
          <a:lstStyle/>
          <a:p>
            <a:fld id="{F9D186E6-336C-46FC-92C1-3353550E4494}" type="slidenum">
              <a:rPr kumimoji="1" lang="ja-JP" altLang="en-US" sz="4000" smtClean="0"/>
              <a:t>5</a:t>
            </a:fld>
            <a:endParaRPr kumimoji="1" lang="ja-JP" altLang="en-US" sz="4000" dirty="0"/>
          </a:p>
        </p:txBody>
      </p:sp>
    </p:spTree>
    <p:extLst>
      <p:ext uri="{BB962C8B-B14F-4D97-AF65-F5344CB8AC3E}">
        <p14:creationId xmlns:p14="http://schemas.microsoft.com/office/powerpoint/2010/main" val="2707612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D258B790-D828-DAB9-236A-16783571E457}"/>
              </a:ext>
            </a:extLst>
          </p:cNvPr>
          <p:cNvSpPr/>
          <p:nvPr/>
        </p:nvSpPr>
        <p:spPr>
          <a:xfrm>
            <a:off x="838200" y="3068320"/>
            <a:ext cx="10144760" cy="10692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8496F439-E139-5F76-6165-5790FDE3BC73}"/>
              </a:ext>
            </a:extLst>
          </p:cNvPr>
          <p:cNvSpPr>
            <a:spLocks noGrp="1"/>
          </p:cNvSpPr>
          <p:nvPr>
            <p:ph type="title"/>
          </p:nvPr>
        </p:nvSpPr>
        <p:spPr/>
        <p:txBody>
          <a:bodyPr/>
          <a:lstStyle/>
          <a:p>
            <a:r>
              <a:rPr lang="en-US" altLang="ja-JP" b="1" dirty="0"/>
              <a:t>BSSRDF</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693B7CE6-D258-79EE-EC78-0EF9938EE5C7}"/>
                  </a:ext>
                </a:extLst>
              </p:cNvPr>
              <p:cNvSpPr>
                <a:spLocks noGrp="1"/>
              </p:cNvSpPr>
              <p:nvPr>
                <p:ph idx="1"/>
              </p:nvPr>
            </p:nvSpPr>
            <p:spPr>
              <a:xfrm>
                <a:off x="838200" y="1862423"/>
                <a:ext cx="10515600" cy="4351338"/>
              </a:xfrm>
            </p:spPr>
            <p:txBody>
              <a:bodyPr/>
              <a:lstStyle/>
              <a:p>
                <a:pPr marL="0" indent="0">
                  <a:buNone/>
                </a:pPr>
                <a:r>
                  <a:rPr lang="ja-JP" altLang="en-US" dirty="0"/>
                  <a:t>表面下散乱を取り扱える反射モデル。</a:t>
                </a:r>
                <a:endParaRPr lang="en-US" altLang="ja-JP" dirty="0"/>
              </a:p>
              <a:p>
                <a:pPr marL="0" indent="0">
                  <a:buNone/>
                </a:pPr>
                <a:r>
                  <a:rPr lang="ja-JP" altLang="en-US" dirty="0"/>
                  <a:t>通常の</a:t>
                </a:r>
                <a:r>
                  <a:rPr lang="en-US" altLang="ja-JP" dirty="0"/>
                  <a:t>BRDF</a:t>
                </a:r>
                <a:r>
                  <a:rPr lang="ja-JP" altLang="en-US" dirty="0"/>
                  <a:t>と異なり、</a:t>
                </a:r>
                <a:r>
                  <a:rPr lang="ja-JP" altLang="en-US" u="sng" dirty="0"/>
                  <a:t>異なる位置間の光のやり取り</a:t>
                </a:r>
                <a:r>
                  <a:rPr lang="ja-JP" altLang="en-US" dirty="0"/>
                  <a:t>を扱える。</a:t>
                </a:r>
                <a:br>
                  <a:rPr lang="en-US" altLang="ja-JP" dirty="0"/>
                </a:br>
                <a:br>
                  <a:rPr lang="en-US" altLang="ja-JP" dirty="0"/>
                </a:br>
                <a14:m>
                  <m:oMathPara xmlns:m="http://schemas.openxmlformats.org/officeDocument/2006/math">
                    <m:oMathParaPr>
                      <m:jc m:val="left"/>
                    </m:oMathParaPr>
                    <m:oMath xmlns:m="http://schemas.openxmlformats.org/officeDocument/2006/math">
                      <m:r>
                        <a:rPr lang="en-US" altLang="ja-JP" b="0" i="1" smtClean="0">
                          <a:latin typeface="Cambria Math" panose="02040503050406030204" pitchFamily="18" charset="0"/>
                        </a:rPr>
                        <m:t>𝑆</m:t>
                      </m:r>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𝑥</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ja-JP" altLang="en-US" b="0" i="1" smtClean="0">
                                  <a:latin typeface="Cambria Math" panose="02040503050406030204" pitchFamily="18" charset="0"/>
                                </a:rPr>
                                <m:t>𝜔</m:t>
                              </m:r>
                            </m:e>
                            <m:sub>
                              <m:r>
                                <a:rPr lang="en-US" altLang="ja-JP" b="0" i="1" smtClean="0">
                                  <a:latin typeface="Cambria Math" panose="02040503050406030204" pitchFamily="18" charset="0"/>
                                </a:rPr>
                                <m:t>0</m:t>
                              </m:r>
                            </m:sub>
                          </m:sSub>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b="0" i="1" smtClean="0">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b="0" i="1" smtClean="0">
                                  <a:latin typeface="Cambria Math" panose="02040503050406030204" pitchFamily="18" charset="0"/>
                                </a:rPr>
                                <m:t>𝑖</m:t>
                              </m:r>
                            </m:sub>
                          </m:sSub>
                        </m:e>
                      </m:d>
                      <m:r>
                        <a:rPr lang="en-US" altLang="ja-JP" b="0" i="1" smtClean="0">
                          <a:latin typeface="Cambria Math" panose="02040503050406030204" pitchFamily="18" charset="0"/>
                        </a:rPr>
                        <m:t>=</m:t>
                      </m:r>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𝑑𝐿</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0</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0</m:t>
                              </m:r>
                            </m:sub>
                          </m:sSub>
                          <m:r>
                            <a:rPr lang="en-US" altLang="ja-JP" b="0" i="1" smtClean="0">
                              <a:latin typeface="Cambria Math" panose="02040503050406030204" pitchFamily="18" charset="0"/>
                            </a:rPr>
                            <m:t>)</m:t>
                          </m:r>
                        </m:num>
                        <m:den>
                          <m:r>
                            <a:rPr lang="en-US" altLang="ja-JP" b="0" i="1" smtClean="0">
                              <a:latin typeface="Cambria Math" panose="02040503050406030204" pitchFamily="18" charset="0"/>
                            </a:rPr>
                            <m:t>𝑑</m:t>
                          </m:r>
                          <m:r>
                            <m:rPr>
                              <m:sty m:val="p"/>
                            </m:rPr>
                            <a:rPr lang="en-US" altLang="ja-JP" i="1">
                              <a:latin typeface="Cambria Math" panose="02040503050406030204" pitchFamily="18" charset="0"/>
                            </a:rPr>
                            <m:t>Φ</m:t>
                          </m:r>
                          <m:r>
                            <a:rPr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𝑥</m:t>
                              </m:r>
                            </m:e>
                            <m:sub>
                              <m:r>
                                <a:rPr lang="en-US" altLang="ja-JP" i="1">
                                  <a:latin typeface="Cambria Math" panose="02040503050406030204" pitchFamily="18" charset="0"/>
                                </a:rPr>
                                <m:t>𝑖</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a:rPr lang="en-US" altLang="ja-JP" i="1">
                                  <a:latin typeface="Cambria Math" panose="02040503050406030204" pitchFamily="18" charset="0"/>
                                </a:rPr>
                                <m:t>𝑖</m:t>
                              </m:r>
                            </m:sub>
                          </m:sSub>
                          <m:r>
                            <a:rPr lang="en-US" altLang="ja-JP" b="0" i="1" smtClean="0">
                              <a:latin typeface="Cambria Math" panose="02040503050406030204" pitchFamily="18" charset="0"/>
                            </a:rPr>
                            <m:t>)</m:t>
                          </m:r>
                        </m:den>
                      </m:f>
                    </m:oMath>
                  </m:oMathPara>
                </a14:m>
                <a:endParaRPr lang="ja-JP" altLang="en-US"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693B7CE6-D258-79EE-EC78-0EF9938EE5C7}"/>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p:pic>
        <p:nvPicPr>
          <p:cNvPr id="7" name="図 6">
            <a:extLst>
              <a:ext uri="{FF2B5EF4-FFF2-40B4-BE49-F238E27FC236}">
                <a16:creationId xmlns:a16="http://schemas.microsoft.com/office/drawing/2014/main" id="{9A4DAF0D-FBB5-A7CD-0F27-60FC59C753DE}"/>
              </a:ext>
            </a:extLst>
          </p:cNvPr>
          <p:cNvPicPr>
            <a:picLocks noChangeAspect="1"/>
          </p:cNvPicPr>
          <p:nvPr/>
        </p:nvPicPr>
        <p:blipFill>
          <a:blip r:embed="rId4"/>
          <a:stretch>
            <a:fillRect/>
          </a:stretch>
        </p:blipFill>
        <p:spPr>
          <a:xfrm>
            <a:off x="838199" y="4137580"/>
            <a:ext cx="3164840" cy="2489015"/>
          </a:xfrm>
          <a:prstGeom prst="rect">
            <a:avLst/>
          </a:prstGeom>
        </p:spPr>
      </p:pic>
      <p:pic>
        <p:nvPicPr>
          <p:cNvPr id="8" name="図 7">
            <a:extLst>
              <a:ext uri="{FF2B5EF4-FFF2-40B4-BE49-F238E27FC236}">
                <a16:creationId xmlns:a16="http://schemas.microsoft.com/office/drawing/2014/main" id="{8598482D-30AF-3750-2CBF-567B35A8FF58}"/>
              </a:ext>
            </a:extLst>
          </p:cNvPr>
          <p:cNvPicPr>
            <a:picLocks noChangeAspect="1"/>
          </p:cNvPicPr>
          <p:nvPr/>
        </p:nvPicPr>
        <p:blipFill>
          <a:blip r:embed="rId5"/>
          <a:stretch>
            <a:fillRect/>
          </a:stretch>
        </p:blipFill>
        <p:spPr>
          <a:xfrm>
            <a:off x="4513580" y="4137581"/>
            <a:ext cx="3164839" cy="2489014"/>
          </a:xfrm>
          <a:prstGeom prst="rect">
            <a:avLst/>
          </a:prstGeom>
        </p:spPr>
      </p:pic>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5C9D29C-20FD-9E00-DDFD-8CAAD0162378}"/>
                  </a:ext>
                </a:extLst>
              </p:cNvPr>
              <p:cNvSpPr txBox="1"/>
              <p:nvPr/>
            </p:nvSpPr>
            <p:spPr>
              <a:xfrm>
                <a:off x="6969760" y="3244334"/>
                <a:ext cx="4990410" cy="830997"/>
              </a:xfrm>
              <a:prstGeom prst="rect">
                <a:avLst/>
              </a:prstGeom>
              <a:noFill/>
            </p:spPr>
            <p:txBody>
              <a:bodyPr wrap="square" rtlCol="0">
                <a:spAutoFit/>
              </a:bodyPr>
              <a:lstStyle/>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0</m:t>
                        </m:r>
                      </m:sub>
                    </m:sSub>
                  </m:oMath>
                </a14:m>
                <a:r>
                  <a:rPr kumimoji="1" lang="en-US" altLang="ja-JP" sz="2400" dirty="0"/>
                  <a:t>=</a:t>
                </a:r>
                <a:r>
                  <a:rPr kumimoji="1" lang="ja-JP" altLang="en-US" sz="2400" dirty="0"/>
                  <a:t>出射点　</a:t>
                </a:r>
                <a:r>
                  <a:rPr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0</m:t>
                        </m:r>
                      </m:sub>
                    </m:sSub>
                  </m:oMath>
                </a14:m>
                <a:r>
                  <a:rPr kumimoji="1" lang="en-US" altLang="ja-JP" sz="2400" dirty="0"/>
                  <a:t>=</a:t>
                </a:r>
                <a:r>
                  <a:rPr kumimoji="1" lang="ja-JP" altLang="en-US" sz="2400" dirty="0"/>
                  <a:t>出射方向</a:t>
                </a:r>
                <a:endParaRPr kumimoji="1" lang="en-US" altLang="ja-JP" sz="2400" dirty="0"/>
              </a:p>
              <a:p>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𝑖</m:t>
                        </m:r>
                      </m:sub>
                    </m:sSub>
                  </m:oMath>
                </a14:m>
                <a:r>
                  <a:rPr lang="en-US" altLang="ja-JP" sz="2400" dirty="0"/>
                  <a:t>=</a:t>
                </a:r>
                <a:r>
                  <a:rPr lang="ja-JP" altLang="en-US" sz="2400" dirty="0"/>
                  <a:t>入射点     </a:t>
                </a:r>
                <a14:m>
                  <m:oMath xmlns:m="http://schemas.openxmlformats.org/officeDocument/2006/math">
                    <m:sSub>
                      <m:sSubPr>
                        <m:ctrlPr>
                          <a:rPr lang="en-US" altLang="ja-JP" sz="2400" i="1">
                            <a:latin typeface="Cambria Math" panose="02040503050406030204" pitchFamily="18" charset="0"/>
                          </a:rPr>
                        </m:ctrlPr>
                      </m:sSubPr>
                      <m:e>
                        <m:r>
                          <a:rPr lang="ja-JP" altLang="en-US" sz="2400" i="1">
                            <a:latin typeface="Cambria Math" panose="02040503050406030204" pitchFamily="18" charset="0"/>
                          </a:rPr>
                          <m:t>𝜔</m:t>
                        </m:r>
                      </m:e>
                      <m:sub>
                        <m:r>
                          <a:rPr lang="en-US" altLang="ja-JP" sz="2400" i="1">
                            <a:latin typeface="Cambria Math" panose="02040503050406030204" pitchFamily="18" charset="0"/>
                          </a:rPr>
                          <m:t>𝑖</m:t>
                        </m:r>
                      </m:sub>
                    </m:sSub>
                  </m:oMath>
                </a14:m>
                <a:r>
                  <a:rPr kumimoji="1" lang="en-US" altLang="ja-JP" sz="2400" dirty="0"/>
                  <a:t>=</a:t>
                </a:r>
                <a:r>
                  <a:rPr kumimoji="1" lang="ja-JP" altLang="en-US" sz="2400" dirty="0"/>
                  <a:t>入射方向</a:t>
                </a:r>
                <a:endParaRPr kumimoji="1" lang="en-US" altLang="ja-JP" sz="2400" dirty="0"/>
              </a:p>
            </p:txBody>
          </p:sp>
        </mc:Choice>
        <mc:Fallback xmlns="">
          <p:sp>
            <p:nvSpPr>
              <p:cNvPr id="9" name="テキスト ボックス 8">
                <a:extLst>
                  <a:ext uri="{FF2B5EF4-FFF2-40B4-BE49-F238E27FC236}">
                    <a16:creationId xmlns:a16="http://schemas.microsoft.com/office/drawing/2014/main" id="{45C9D29C-20FD-9E00-DDFD-8CAAD0162378}"/>
                  </a:ext>
                </a:extLst>
              </p:cNvPr>
              <p:cNvSpPr txBox="1">
                <a:spLocks noRot="1" noChangeAspect="1" noMove="1" noResize="1" noEditPoints="1" noAdjustHandles="1" noChangeArrowheads="1" noChangeShapeType="1" noTextEdit="1"/>
              </p:cNvSpPr>
              <p:nvPr/>
            </p:nvSpPr>
            <p:spPr>
              <a:xfrm>
                <a:off x="6969760" y="3244334"/>
                <a:ext cx="4990410" cy="830997"/>
              </a:xfrm>
              <a:prstGeom prst="rect">
                <a:avLst/>
              </a:prstGeom>
              <a:blipFill>
                <a:blip r:embed="rId6"/>
                <a:stretch>
                  <a:fillRect t="-5839" b="-15328"/>
                </a:stretch>
              </a:blipFill>
            </p:spPr>
            <p:txBody>
              <a:bodyPr/>
              <a:lstStyle/>
              <a:p>
                <a:r>
                  <a:rPr lang="ja-JP" altLang="en-US">
                    <a:noFill/>
                  </a:rPr>
                  <a:t> </a:t>
                </a:r>
              </a:p>
            </p:txBody>
          </p:sp>
        </mc:Fallback>
      </mc:AlternateContent>
      <p:sp>
        <p:nvSpPr>
          <p:cNvPr id="2" name="テキスト ボックス 1">
            <a:extLst>
              <a:ext uri="{FF2B5EF4-FFF2-40B4-BE49-F238E27FC236}">
                <a16:creationId xmlns:a16="http://schemas.microsoft.com/office/drawing/2014/main" id="{D7CE50F2-DCDC-B4E1-1155-3B09D380BA90}"/>
              </a:ext>
            </a:extLst>
          </p:cNvPr>
          <p:cNvSpPr txBox="1"/>
          <p:nvPr/>
        </p:nvSpPr>
        <p:spPr>
          <a:xfrm>
            <a:off x="3085147" y="6584472"/>
            <a:ext cx="3500967" cy="369332"/>
          </a:xfrm>
          <a:prstGeom prst="rect">
            <a:avLst/>
          </a:prstGeom>
          <a:noFill/>
        </p:spPr>
        <p:txBody>
          <a:bodyPr wrap="square" rtlCol="0">
            <a:spAutoFit/>
          </a:bodyPr>
          <a:lstStyle/>
          <a:p>
            <a:r>
              <a:rPr kumimoji="1" lang="ja-JP" altLang="en-US" dirty="0"/>
              <a:t>（</a:t>
            </a:r>
            <a:r>
              <a:rPr kumimoji="1" lang="en-US" altLang="ja-JP" dirty="0"/>
              <a:t>Jensen</a:t>
            </a:r>
            <a:r>
              <a:rPr kumimoji="1" lang="ja-JP" altLang="en-US" dirty="0"/>
              <a:t>　</a:t>
            </a:r>
            <a:r>
              <a:rPr kumimoji="1" lang="en-US" altLang="ja-JP" dirty="0"/>
              <a:t>2001</a:t>
            </a:r>
            <a:r>
              <a:rPr kumimoji="1" lang="ja-JP" altLang="en-US" dirty="0"/>
              <a:t>）</a:t>
            </a:r>
          </a:p>
        </p:txBody>
      </p:sp>
      <p:sp>
        <p:nvSpPr>
          <p:cNvPr id="4" name="スライド番号プレースホルダー 3">
            <a:extLst>
              <a:ext uri="{FF2B5EF4-FFF2-40B4-BE49-F238E27FC236}">
                <a16:creationId xmlns:a16="http://schemas.microsoft.com/office/drawing/2014/main" id="{B4B0FFD7-9EF0-9612-755A-0983830A2774}"/>
              </a:ext>
            </a:extLst>
          </p:cNvPr>
          <p:cNvSpPr>
            <a:spLocks noGrp="1"/>
          </p:cNvSpPr>
          <p:nvPr>
            <p:ph type="sldNum" sz="quarter" idx="12"/>
          </p:nvPr>
        </p:nvSpPr>
        <p:spPr/>
        <p:txBody>
          <a:bodyPr/>
          <a:lstStyle/>
          <a:p>
            <a:fld id="{F9D186E6-336C-46FC-92C1-3353550E4494}" type="slidenum">
              <a:rPr kumimoji="1" lang="ja-JP" altLang="en-US" sz="4000" smtClean="0"/>
              <a:t>6</a:t>
            </a:fld>
            <a:endParaRPr kumimoji="1" lang="ja-JP" altLang="en-US" sz="4000" dirty="0"/>
          </a:p>
        </p:txBody>
      </p:sp>
    </p:spTree>
    <p:extLst>
      <p:ext uri="{BB962C8B-B14F-4D97-AF65-F5344CB8AC3E}">
        <p14:creationId xmlns:p14="http://schemas.microsoft.com/office/powerpoint/2010/main" val="3349332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CF17C24-DD8E-D201-3088-094AF0D9A1B0}"/>
              </a:ext>
            </a:extLst>
          </p:cNvPr>
          <p:cNvSpPr>
            <a:spLocks noGrp="1"/>
          </p:cNvSpPr>
          <p:nvPr>
            <p:ph type="title"/>
          </p:nvPr>
        </p:nvSpPr>
        <p:spPr/>
        <p:txBody>
          <a:bodyPr/>
          <a:lstStyle/>
          <a:p>
            <a:r>
              <a:rPr lang="ja-JP" altLang="en-US" dirty="0"/>
              <a:t>関連研究</a:t>
            </a:r>
            <a:endParaRPr kumimoji="1" lang="ja-JP" altLang="en-US" dirty="0"/>
          </a:p>
        </p:txBody>
      </p:sp>
      <p:sp>
        <p:nvSpPr>
          <p:cNvPr id="3" name="コンテンツ プレースホルダー 2">
            <a:extLst>
              <a:ext uri="{FF2B5EF4-FFF2-40B4-BE49-F238E27FC236}">
                <a16:creationId xmlns:a16="http://schemas.microsoft.com/office/drawing/2014/main" id="{E9C13D29-D218-3D62-2131-93DA6DC63D08}"/>
              </a:ext>
            </a:extLst>
          </p:cNvPr>
          <p:cNvSpPr>
            <a:spLocks noGrp="1"/>
          </p:cNvSpPr>
          <p:nvPr>
            <p:ph idx="1"/>
          </p:nvPr>
        </p:nvSpPr>
        <p:spPr>
          <a:xfrm>
            <a:off x="838200" y="1825625"/>
            <a:ext cx="10515600" cy="4667250"/>
          </a:xfrm>
        </p:spPr>
        <p:txBody>
          <a:bodyPr>
            <a:normAutofit/>
          </a:bodyPr>
          <a:lstStyle/>
          <a:p>
            <a:pPr marL="0" indent="0">
              <a:buNone/>
            </a:pPr>
            <a:r>
              <a:rPr kumimoji="1" lang="ja-JP" altLang="en-US" dirty="0"/>
              <a:t>皮膚の不均質性を扱う研究はこれまでにも存在してきた。</a:t>
            </a:r>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pPr marL="0" indent="0">
              <a:buNone/>
            </a:pPr>
            <a:r>
              <a:rPr kumimoji="1" lang="ja-JP" altLang="en-US" b="1" dirty="0"/>
              <a:t>髭そのもの</a:t>
            </a:r>
            <a:r>
              <a:rPr kumimoji="1" lang="ja-JP" altLang="en-US" dirty="0"/>
              <a:t>を明示的に扱っているものは存在しない</a:t>
            </a:r>
          </a:p>
        </p:txBody>
      </p:sp>
      <p:pic>
        <p:nvPicPr>
          <p:cNvPr id="4" name="コンテンツ プレースホルダー 3">
            <a:extLst>
              <a:ext uri="{FF2B5EF4-FFF2-40B4-BE49-F238E27FC236}">
                <a16:creationId xmlns:a16="http://schemas.microsoft.com/office/drawing/2014/main" id="{A944F24C-F840-D80B-E7DF-76252804DF32}"/>
              </a:ext>
            </a:extLst>
          </p:cNvPr>
          <p:cNvPicPr>
            <a:picLocks noChangeAspect="1"/>
          </p:cNvPicPr>
          <p:nvPr/>
        </p:nvPicPr>
        <p:blipFill>
          <a:blip r:embed="rId3"/>
          <a:stretch>
            <a:fillRect/>
          </a:stretch>
        </p:blipFill>
        <p:spPr>
          <a:xfrm>
            <a:off x="1579231" y="2407151"/>
            <a:ext cx="3031958" cy="2564475"/>
          </a:xfrm>
          <a:prstGeom prst="rect">
            <a:avLst/>
          </a:prstGeom>
        </p:spPr>
      </p:pic>
      <p:pic>
        <p:nvPicPr>
          <p:cNvPr id="5" name="図 4">
            <a:extLst>
              <a:ext uri="{FF2B5EF4-FFF2-40B4-BE49-F238E27FC236}">
                <a16:creationId xmlns:a16="http://schemas.microsoft.com/office/drawing/2014/main" id="{8DC72D72-67C2-79FF-D74F-76099C9D827F}"/>
              </a:ext>
            </a:extLst>
          </p:cNvPr>
          <p:cNvPicPr>
            <a:picLocks noChangeAspect="1"/>
          </p:cNvPicPr>
          <p:nvPr/>
        </p:nvPicPr>
        <p:blipFill>
          <a:blip r:embed="rId4"/>
          <a:stretch>
            <a:fillRect/>
          </a:stretch>
        </p:blipFill>
        <p:spPr>
          <a:xfrm>
            <a:off x="7580813" y="2633577"/>
            <a:ext cx="3389641" cy="2270582"/>
          </a:xfrm>
          <a:prstGeom prst="rect">
            <a:avLst/>
          </a:prstGeom>
        </p:spPr>
      </p:pic>
      <p:sp>
        <p:nvSpPr>
          <p:cNvPr id="6" name="テキスト ボックス 5">
            <a:extLst>
              <a:ext uri="{FF2B5EF4-FFF2-40B4-BE49-F238E27FC236}">
                <a16:creationId xmlns:a16="http://schemas.microsoft.com/office/drawing/2014/main" id="{03B141D6-CAEE-30D4-D4F2-F3BB415F1D3E}"/>
              </a:ext>
            </a:extLst>
          </p:cNvPr>
          <p:cNvSpPr txBox="1"/>
          <p:nvPr/>
        </p:nvSpPr>
        <p:spPr>
          <a:xfrm>
            <a:off x="646782" y="4971626"/>
            <a:ext cx="6087292" cy="646331"/>
          </a:xfrm>
          <a:prstGeom prst="rect">
            <a:avLst/>
          </a:prstGeom>
          <a:noFill/>
        </p:spPr>
        <p:txBody>
          <a:bodyPr wrap="square" rtlCol="0">
            <a:spAutoFit/>
          </a:bodyPr>
          <a:lstStyle/>
          <a:p>
            <a:r>
              <a:rPr lang="en-US" altLang="ja-JP" dirty="0"/>
              <a:t>A Layered, Heterogeneous Reflectance Model for Acquiring and Rendering Human Skin (2008)</a:t>
            </a:r>
            <a:endParaRPr kumimoji="1" lang="ja-JP" altLang="en-US" dirty="0"/>
          </a:p>
        </p:txBody>
      </p:sp>
      <p:sp>
        <p:nvSpPr>
          <p:cNvPr id="7" name="テキスト ボックス 6">
            <a:extLst>
              <a:ext uri="{FF2B5EF4-FFF2-40B4-BE49-F238E27FC236}">
                <a16:creationId xmlns:a16="http://schemas.microsoft.com/office/drawing/2014/main" id="{17EDA9DF-5005-46AC-B7B2-C17FA6B2FC53}"/>
              </a:ext>
            </a:extLst>
          </p:cNvPr>
          <p:cNvSpPr txBox="1"/>
          <p:nvPr/>
        </p:nvSpPr>
        <p:spPr>
          <a:xfrm>
            <a:off x="7038703" y="4971627"/>
            <a:ext cx="5153297" cy="646331"/>
          </a:xfrm>
          <a:prstGeom prst="rect">
            <a:avLst/>
          </a:prstGeom>
          <a:noFill/>
        </p:spPr>
        <p:txBody>
          <a:bodyPr wrap="square" rtlCol="0">
            <a:spAutoFit/>
          </a:bodyPr>
          <a:lstStyle/>
          <a:p>
            <a:r>
              <a:rPr lang="ja-JP" altLang="en-US" dirty="0"/>
              <a:t>多層表面下散乱モデルによる皮膚の異方性散乱と不均一性の表現（</a:t>
            </a:r>
            <a:r>
              <a:rPr lang="en-US" altLang="ja-JP" dirty="0"/>
              <a:t>2009</a:t>
            </a:r>
            <a:r>
              <a:rPr lang="ja-JP" altLang="en-US" dirty="0"/>
              <a:t>）</a:t>
            </a:r>
            <a:endParaRPr kumimoji="1" lang="ja-JP" altLang="en-US" dirty="0"/>
          </a:p>
        </p:txBody>
      </p:sp>
      <p:sp>
        <p:nvSpPr>
          <p:cNvPr id="9" name="スライド番号プレースホルダー 8">
            <a:extLst>
              <a:ext uri="{FF2B5EF4-FFF2-40B4-BE49-F238E27FC236}">
                <a16:creationId xmlns:a16="http://schemas.microsoft.com/office/drawing/2014/main" id="{73800B49-608B-7165-9828-5B40B156F7EB}"/>
              </a:ext>
            </a:extLst>
          </p:cNvPr>
          <p:cNvSpPr>
            <a:spLocks noGrp="1"/>
          </p:cNvSpPr>
          <p:nvPr>
            <p:ph type="sldNum" sz="quarter" idx="12"/>
          </p:nvPr>
        </p:nvSpPr>
        <p:spPr/>
        <p:txBody>
          <a:bodyPr/>
          <a:lstStyle/>
          <a:p>
            <a:fld id="{F9D186E6-336C-46FC-92C1-3353550E4494}" type="slidenum">
              <a:rPr kumimoji="1" lang="ja-JP" altLang="en-US" sz="4000" smtClean="0"/>
              <a:t>7</a:t>
            </a:fld>
            <a:endParaRPr kumimoji="1" lang="ja-JP" altLang="en-US" sz="4000" dirty="0"/>
          </a:p>
        </p:txBody>
      </p:sp>
    </p:spTree>
    <p:extLst>
      <p:ext uri="{BB962C8B-B14F-4D97-AF65-F5344CB8AC3E}">
        <p14:creationId xmlns:p14="http://schemas.microsoft.com/office/powerpoint/2010/main" val="228740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22BA9A-8D6F-6CA1-8D4B-68E308300471}"/>
              </a:ext>
            </a:extLst>
          </p:cNvPr>
          <p:cNvSpPr>
            <a:spLocks noGrp="1"/>
          </p:cNvSpPr>
          <p:nvPr>
            <p:ph type="title"/>
          </p:nvPr>
        </p:nvSpPr>
        <p:spPr/>
        <p:txBody>
          <a:bodyPr/>
          <a:lstStyle/>
          <a:p>
            <a:r>
              <a:rPr kumimoji="1" lang="ja-JP" altLang="en-US" dirty="0"/>
              <a:t>提案手法：全体の流れ</a:t>
            </a:r>
          </a:p>
        </p:txBody>
      </p:sp>
      <p:sp>
        <p:nvSpPr>
          <p:cNvPr id="3" name="コンテンツ プレースホルダー 2">
            <a:extLst>
              <a:ext uri="{FF2B5EF4-FFF2-40B4-BE49-F238E27FC236}">
                <a16:creationId xmlns:a16="http://schemas.microsoft.com/office/drawing/2014/main" id="{5D576106-E825-83E1-499C-8707F4CB42DB}"/>
              </a:ext>
            </a:extLst>
          </p:cNvPr>
          <p:cNvSpPr>
            <a:spLocks noGrp="1"/>
          </p:cNvSpPr>
          <p:nvPr>
            <p:ph idx="1"/>
          </p:nvPr>
        </p:nvSpPr>
        <p:spPr>
          <a:xfrm>
            <a:off x="6733909" y="2983865"/>
            <a:ext cx="5044440" cy="4351338"/>
          </a:xfrm>
        </p:spPr>
        <p:txBody>
          <a:bodyPr/>
          <a:lstStyle/>
          <a:p>
            <a:pPr marL="0" indent="0" algn="ctr">
              <a:buNone/>
            </a:pPr>
            <a:r>
              <a:rPr lang="ja-JP" altLang="en-US" dirty="0"/>
              <a:t>皮膚ジオメトリ</a:t>
            </a:r>
          </a:p>
          <a:p>
            <a:pPr marL="0" indent="0" algn="ctr">
              <a:buNone/>
            </a:pPr>
            <a:r>
              <a:rPr lang="ja-JP" altLang="en-US" dirty="0"/>
              <a:t> </a:t>
            </a:r>
          </a:p>
          <a:p>
            <a:pPr marL="0" indent="0" algn="ctr">
              <a:buNone/>
            </a:pPr>
            <a:r>
              <a:rPr lang="ja-JP" altLang="en-US" dirty="0"/>
              <a:t>髭密度マップによる</a:t>
            </a:r>
            <a:r>
              <a:rPr lang="en-US" altLang="ja-JP" dirty="0"/>
              <a:t>BSSRDF</a:t>
            </a:r>
            <a:r>
              <a:rPr lang="ja-JP" altLang="en-US" dirty="0"/>
              <a:t>の混合</a:t>
            </a:r>
          </a:p>
          <a:p>
            <a:pPr marL="0" indent="0" algn="ctr">
              <a:buNone/>
            </a:pPr>
            <a:r>
              <a:rPr lang="ja-JP" altLang="en-US" dirty="0"/>
              <a:t>  </a:t>
            </a:r>
          </a:p>
          <a:p>
            <a:pPr marL="0" indent="0" algn="ctr">
              <a:buNone/>
            </a:pPr>
            <a:r>
              <a:rPr lang="ja-JP" altLang="en-US" dirty="0"/>
              <a:t>表面下散乱の計算   </a:t>
            </a:r>
          </a:p>
          <a:p>
            <a:endParaRPr kumimoji="1" lang="ja-JP" altLang="en-US" dirty="0"/>
          </a:p>
        </p:txBody>
      </p:sp>
      <p:sp>
        <p:nvSpPr>
          <p:cNvPr id="4" name="コンテンツ プレースホルダー 2">
            <a:extLst>
              <a:ext uri="{FF2B5EF4-FFF2-40B4-BE49-F238E27FC236}">
                <a16:creationId xmlns:a16="http://schemas.microsoft.com/office/drawing/2014/main" id="{A0117247-CCEF-2C24-0D99-A3ABAED7C332}"/>
              </a:ext>
            </a:extLst>
          </p:cNvPr>
          <p:cNvSpPr txBox="1">
            <a:spLocks/>
          </p:cNvSpPr>
          <p:nvPr/>
        </p:nvSpPr>
        <p:spPr>
          <a:xfrm>
            <a:off x="464819" y="3344669"/>
            <a:ext cx="504444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dirty="0"/>
              <a:t>皮膚ジオメトリへレイが衝突</a:t>
            </a:r>
          </a:p>
          <a:p>
            <a:pPr marL="0" indent="0" algn="ctr">
              <a:buFont typeface="Arial" panose="020B0604020202020204" pitchFamily="34" charset="0"/>
              <a:buNone/>
            </a:pPr>
            <a:endParaRPr lang="ja-JP" altLang="en-US" dirty="0"/>
          </a:p>
          <a:p>
            <a:pPr marL="0" indent="0" algn="ctr">
              <a:buFont typeface="Arial" panose="020B0604020202020204" pitchFamily="34" charset="0"/>
              <a:buNone/>
            </a:pPr>
            <a:r>
              <a:rPr lang="ja-JP" altLang="en-US" dirty="0"/>
              <a:t>表面下散乱の計算   </a:t>
            </a:r>
          </a:p>
          <a:p>
            <a:endParaRPr lang="ja-JP" altLang="en-US" dirty="0"/>
          </a:p>
        </p:txBody>
      </p:sp>
      <p:cxnSp>
        <p:nvCxnSpPr>
          <p:cNvPr id="6" name="直線コネクタ 5">
            <a:extLst>
              <a:ext uri="{FF2B5EF4-FFF2-40B4-BE49-F238E27FC236}">
                <a16:creationId xmlns:a16="http://schemas.microsoft.com/office/drawing/2014/main" id="{62F80312-7450-76A0-623C-89314A52258A}"/>
              </a:ext>
            </a:extLst>
          </p:cNvPr>
          <p:cNvCxnSpPr>
            <a:cxnSpLocks/>
          </p:cNvCxnSpPr>
          <p:nvPr/>
        </p:nvCxnSpPr>
        <p:spPr>
          <a:xfrm>
            <a:off x="5917475" y="1844294"/>
            <a:ext cx="0" cy="5013706"/>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7" name="テキスト ボックス 6">
            <a:extLst>
              <a:ext uri="{FF2B5EF4-FFF2-40B4-BE49-F238E27FC236}">
                <a16:creationId xmlns:a16="http://schemas.microsoft.com/office/drawing/2014/main" id="{3BB45129-B67B-31F6-2901-273934C311AC}"/>
              </a:ext>
            </a:extLst>
          </p:cNvPr>
          <p:cNvSpPr txBox="1"/>
          <p:nvPr/>
        </p:nvSpPr>
        <p:spPr>
          <a:xfrm>
            <a:off x="1616528" y="1844294"/>
            <a:ext cx="2978332" cy="646331"/>
          </a:xfrm>
          <a:prstGeom prst="rect">
            <a:avLst/>
          </a:prstGeom>
          <a:noFill/>
        </p:spPr>
        <p:txBody>
          <a:bodyPr wrap="square" rtlCol="0">
            <a:spAutoFit/>
          </a:bodyPr>
          <a:lstStyle/>
          <a:p>
            <a:r>
              <a:rPr kumimoji="1" lang="ja-JP" altLang="en-US" dirty="0"/>
              <a:t>一般的な</a:t>
            </a:r>
            <a:r>
              <a:rPr kumimoji="1" lang="en-US" altLang="ja-JP" dirty="0"/>
              <a:t>BSSRDF</a:t>
            </a:r>
            <a:r>
              <a:rPr kumimoji="1" lang="ja-JP" altLang="en-US" dirty="0"/>
              <a:t>を用いたレンダリング</a:t>
            </a:r>
          </a:p>
        </p:txBody>
      </p:sp>
      <p:cxnSp>
        <p:nvCxnSpPr>
          <p:cNvPr id="10" name="直線コネクタ 9">
            <a:extLst>
              <a:ext uri="{FF2B5EF4-FFF2-40B4-BE49-F238E27FC236}">
                <a16:creationId xmlns:a16="http://schemas.microsoft.com/office/drawing/2014/main" id="{B9355B6C-98C9-FE1E-E436-969FB40D50B9}"/>
              </a:ext>
            </a:extLst>
          </p:cNvPr>
          <p:cNvCxnSpPr/>
          <p:nvPr/>
        </p:nvCxnSpPr>
        <p:spPr>
          <a:xfrm>
            <a:off x="0" y="1844294"/>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1" name="直線コネクタ 10">
            <a:extLst>
              <a:ext uri="{FF2B5EF4-FFF2-40B4-BE49-F238E27FC236}">
                <a16:creationId xmlns:a16="http://schemas.microsoft.com/office/drawing/2014/main" id="{DA3CD8E9-42EA-5AE2-A8BF-F2216A557223}"/>
              </a:ext>
            </a:extLst>
          </p:cNvPr>
          <p:cNvCxnSpPr/>
          <p:nvPr/>
        </p:nvCxnSpPr>
        <p:spPr>
          <a:xfrm>
            <a:off x="0" y="2490625"/>
            <a:ext cx="12192000" cy="0"/>
          </a:xfrm>
          <a:prstGeom prst="line">
            <a:avLst/>
          </a:prstGeom>
          <a:ln w="38100"/>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A4E9BC5D-47B2-D070-A16D-11446BBE4A28}"/>
              </a:ext>
            </a:extLst>
          </p:cNvPr>
          <p:cNvSpPr txBox="1"/>
          <p:nvPr/>
        </p:nvSpPr>
        <p:spPr>
          <a:xfrm>
            <a:off x="8035843" y="1859543"/>
            <a:ext cx="3435523" cy="707886"/>
          </a:xfrm>
          <a:prstGeom prst="rect">
            <a:avLst/>
          </a:prstGeom>
          <a:noFill/>
        </p:spPr>
        <p:txBody>
          <a:bodyPr wrap="square" rtlCol="0">
            <a:spAutoFit/>
          </a:bodyPr>
          <a:lstStyle/>
          <a:p>
            <a:r>
              <a:rPr kumimoji="1" lang="ja-JP" altLang="en-US" sz="4000" dirty="0"/>
              <a:t>提案手法</a:t>
            </a:r>
          </a:p>
        </p:txBody>
      </p:sp>
      <p:cxnSp>
        <p:nvCxnSpPr>
          <p:cNvPr id="14" name="直線矢印コネクタ 13">
            <a:extLst>
              <a:ext uri="{FF2B5EF4-FFF2-40B4-BE49-F238E27FC236}">
                <a16:creationId xmlns:a16="http://schemas.microsoft.com/office/drawing/2014/main" id="{E79C6AF4-EA05-7639-51AB-18A7AD6E5220}"/>
              </a:ext>
            </a:extLst>
          </p:cNvPr>
          <p:cNvCxnSpPr>
            <a:cxnSpLocks/>
          </p:cNvCxnSpPr>
          <p:nvPr/>
        </p:nvCxnSpPr>
        <p:spPr>
          <a:xfrm>
            <a:off x="2947851" y="3865291"/>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6" name="直線矢印コネクタ 15">
            <a:extLst>
              <a:ext uri="{FF2B5EF4-FFF2-40B4-BE49-F238E27FC236}">
                <a16:creationId xmlns:a16="http://schemas.microsoft.com/office/drawing/2014/main" id="{8620185D-AB84-11F2-A74B-C54D8E86E3E5}"/>
              </a:ext>
            </a:extLst>
          </p:cNvPr>
          <p:cNvCxnSpPr>
            <a:cxnSpLocks/>
          </p:cNvCxnSpPr>
          <p:nvPr/>
        </p:nvCxnSpPr>
        <p:spPr>
          <a:xfrm>
            <a:off x="9256129" y="4923795"/>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cxnSp>
        <p:nvCxnSpPr>
          <p:cNvPr id="17" name="直線矢印コネクタ 16">
            <a:extLst>
              <a:ext uri="{FF2B5EF4-FFF2-40B4-BE49-F238E27FC236}">
                <a16:creationId xmlns:a16="http://schemas.microsoft.com/office/drawing/2014/main" id="{F41D4642-386E-E61B-1755-E2AFC25E1926}"/>
              </a:ext>
            </a:extLst>
          </p:cNvPr>
          <p:cNvCxnSpPr>
            <a:cxnSpLocks/>
          </p:cNvCxnSpPr>
          <p:nvPr/>
        </p:nvCxnSpPr>
        <p:spPr>
          <a:xfrm>
            <a:off x="9256129" y="3544997"/>
            <a:ext cx="0" cy="471478"/>
          </a:xfrm>
          <a:prstGeom prst="straightConnector1">
            <a:avLst/>
          </a:prstGeom>
          <a:ln w="57150">
            <a:tailEnd type="triangle"/>
          </a:ln>
        </p:spPr>
        <p:style>
          <a:lnRef idx="2">
            <a:schemeClr val="accent1"/>
          </a:lnRef>
          <a:fillRef idx="0">
            <a:schemeClr val="accent1"/>
          </a:fillRef>
          <a:effectRef idx="1">
            <a:schemeClr val="accent1"/>
          </a:effectRef>
          <a:fontRef idx="minor">
            <a:schemeClr val="tx1"/>
          </a:fontRef>
        </p:style>
      </p:cxnSp>
      <p:sp>
        <p:nvSpPr>
          <p:cNvPr id="19" name="スライド番号プレースホルダー 18">
            <a:extLst>
              <a:ext uri="{FF2B5EF4-FFF2-40B4-BE49-F238E27FC236}">
                <a16:creationId xmlns:a16="http://schemas.microsoft.com/office/drawing/2014/main" id="{80C16E7C-435E-60BB-17ED-E521E06CB1DD}"/>
              </a:ext>
            </a:extLst>
          </p:cNvPr>
          <p:cNvSpPr>
            <a:spLocks noGrp="1"/>
          </p:cNvSpPr>
          <p:nvPr>
            <p:ph type="sldNum" sz="quarter" idx="12"/>
          </p:nvPr>
        </p:nvSpPr>
        <p:spPr/>
        <p:txBody>
          <a:bodyPr/>
          <a:lstStyle/>
          <a:p>
            <a:fld id="{F9D186E6-336C-46FC-92C1-3353550E4494}" type="slidenum">
              <a:rPr kumimoji="1" lang="ja-JP" altLang="en-US" sz="4000" smtClean="0"/>
              <a:t>8</a:t>
            </a:fld>
            <a:endParaRPr kumimoji="1" lang="ja-JP" altLang="en-US" sz="4000" dirty="0"/>
          </a:p>
        </p:txBody>
      </p:sp>
    </p:spTree>
    <p:extLst>
      <p:ext uri="{BB962C8B-B14F-4D97-AF65-F5344CB8AC3E}">
        <p14:creationId xmlns:p14="http://schemas.microsoft.com/office/powerpoint/2010/main" val="267645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F984F3-4234-E43D-0D2E-88EAED093B45}"/>
              </a:ext>
            </a:extLst>
          </p:cNvPr>
          <p:cNvSpPr>
            <a:spLocks noGrp="1"/>
          </p:cNvSpPr>
          <p:nvPr>
            <p:ph type="title"/>
          </p:nvPr>
        </p:nvSpPr>
        <p:spPr/>
        <p:txBody>
          <a:bodyPr/>
          <a:lstStyle/>
          <a:p>
            <a:r>
              <a:rPr lang="en-US" altLang="ja-JP" dirty="0"/>
              <a:t>BSSRDF</a:t>
            </a:r>
            <a:r>
              <a:rPr lang="ja-JP" altLang="en-US" dirty="0"/>
              <a:t>混合</a:t>
            </a:r>
            <a:endParaRPr kumimoji="1" lang="ja-JP" altLang="en-US" dirty="0"/>
          </a:p>
        </p:txBody>
      </p:sp>
      <p:sp>
        <p:nvSpPr>
          <p:cNvPr id="3" name="コンテンツ プレースホルダー 2">
            <a:extLst>
              <a:ext uri="{FF2B5EF4-FFF2-40B4-BE49-F238E27FC236}">
                <a16:creationId xmlns:a16="http://schemas.microsoft.com/office/drawing/2014/main" id="{FD264116-E1A5-1C27-A5BA-3A480D7CEC60}"/>
              </a:ext>
            </a:extLst>
          </p:cNvPr>
          <p:cNvSpPr>
            <a:spLocks noGrp="1"/>
          </p:cNvSpPr>
          <p:nvPr>
            <p:ph idx="1"/>
          </p:nvPr>
        </p:nvSpPr>
        <p:spPr>
          <a:xfrm>
            <a:off x="838200" y="1567543"/>
            <a:ext cx="10515600" cy="4609420"/>
          </a:xfrm>
        </p:spPr>
        <p:txBody>
          <a:bodyPr/>
          <a:lstStyle/>
          <a:p>
            <a:pPr marL="0" indent="0">
              <a:buNone/>
            </a:pPr>
            <a:r>
              <a:rPr kumimoji="1" lang="ja-JP" altLang="en-US" dirty="0"/>
              <a:t>ジオメトリ表面に対して「髭密度マップ」を定義</a:t>
            </a:r>
            <a:endParaRPr kumimoji="1" lang="en-US" altLang="ja-JP" dirty="0"/>
          </a:p>
          <a:p>
            <a:pPr marL="0" indent="0">
              <a:buNone/>
            </a:pPr>
            <a:r>
              <a:rPr lang="ja-JP" altLang="en-US" dirty="0"/>
              <a:t>左の</a:t>
            </a:r>
            <a:r>
              <a:rPr lang="en-US" altLang="ja-JP" dirty="0"/>
              <a:t>2</a:t>
            </a:r>
            <a:r>
              <a:rPr lang="ja-JP" altLang="en-US" dirty="0"/>
              <a:t>枚（髭密度</a:t>
            </a:r>
            <a:r>
              <a:rPr lang="en-US" altLang="ja-JP" dirty="0"/>
              <a:t>0</a:t>
            </a:r>
            <a:r>
              <a:rPr lang="ja-JP" altLang="en-US" dirty="0"/>
              <a:t>と</a:t>
            </a:r>
            <a:r>
              <a:rPr lang="en-US" altLang="ja-JP" dirty="0"/>
              <a:t>1</a:t>
            </a:r>
            <a:r>
              <a:rPr lang="ja-JP" altLang="en-US" dirty="0"/>
              <a:t>）を基準として，中央の髭密度マップで両者を位置ごとに混合し，右のような不均質な皮膚の見えを得る</a:t>
            </a:r>
            <a:endParaRPr kumimoji="1" lang="en-US" altLang="ja-JP" dirty="0"/>
          </a:p>
          <a:p>
            <a:endParaRPr kumimoji="1" lang="ja-JP" altLang="en-US" dirty="0"/>
          </a:p>
        </p:txBody>
      </p:sp>
      <p:pic>
        <p:nvPicPr>
          <p:cNvPr id="7" name="図 6" descr="アイコン&#10;&#10;AI 生成コンテンツは誤りを含む可能性があります。">
            <a:extLst>
              <a:ext uri="{FF2B5EF4-FFF2-40B4-BE49-F238E27FC236}">
                <a16:creationId xmlns:a16="http://schemas.microsoft.com/office/drawing/2014/main" id="{43848720-1E7E-EA6A-9C06-A8B5BA7C15FF}"/>
              </a:ext>
            </a:extLst>
          </p:cNvPr>
          <p:cNvPicPr>
            <a:picLocks noChangeAspect="1"/>
          </p:cNvPicPr>
          <p:nvPr/>
        </p:nvPicPr>
        <p:blipFill>
          <a:blip r:embed="rId3"/>
          <a:stretch>
            <a:fillRect/>
          </a:stretch>
        </p:blipFill>
        <p:spPr>
          <a:xfrm>
            <a:off x="426391" y="3153660"/>
            <a:ext cx="2211734" cy="1658801"/>
          </a:xfrm>
          <a:prstGeom prst="rect">
            <a:avLst/>
          </a:prstGeom>
        </p:spPr>
      </p:pic>
      <p:cxnSp>
        <p:nvCxnSpPr>
          <p:cNvPr id="9" name="直線矢印コネクタ 8">
            <a:extLst>
              <a:ext uri="{FF2B5EF4-FFF2-40B4-BE49-F238E27FC236}">
                <a16:creationId xmlns:a16="http://schemas.microsoft.com/office/drawing/2014/main" id="{7FA41B77-8187-4D95-8006-C001A5A2C8B8}"/>
              </a:ext>
            </a:extLst>
          </p:cNvPr>
          <p:cNvCxnSpPr/>
          <p:nvPr/>
        </p:nvCxnSpPr>
        <p:spPr>
          <a:xfrm>
            <a:off x="6487491" y="4849977"/>
            <a:ext cx="875211"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0" name="AutoShape 2" descr="画像をアップロードしました">
            <a:extLst>
              <a:ext uri="{FF2B5EF4-FFF2-40B4-BE49-F238E27FC236}">
                <a16:creationId xmlns:a16="http://schemas.microsoft.com/office/drawing/2014/main" id="{5142CE5B-7094-1844-1A5D-5C3366BCBDCF}"/>
              </a:ext>
            </a:extLst>
          </p:cNvPr>
          <p:cNvSpPr>
            <a:spLocks noChangeAspect="1" noChangeArrowheads="1"/>
          </p:cNvSpPr>
          <p:nvPr/>
        </p:nvSpPr>
        <p:spPr bwMode="auto">
          <a:xfrm>
            <a:off x="7053943" y="2782162"/>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sp>
        <p:nvSpPr>
          <p:cNvPr id="11" name="AutoShape 4" descr="画像をアップロードしました">
            <a:extLst>
              <a:ext uri="{FF2B5EF4-FFF2-40B4-BE49-F238E27FC236}">
                <a16:creationId xmlns:a16="http://schemas.microsoft.com/office/drawing/2014/main" id="{C2B167C4-0FD3-2D18-5640-28D051CDDFA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3" name="図 12" descr="アイコン が含まれている画像&#10;&#10;AI 生成コンテンツは誤りを含む可能性があります。">
            <a:extLst>
              <a:ext uri="{FF2B5EF4-FFF2-40B4-BE49-F238E27FC236}">
                <a16:creationId xmlns:a16="http://schemas.microsoft.com/office/drawing/2014/main" id="{77DEDEF1-1C41-457C-70A5-8215EA7EF5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040" y="5096885"/>
            <a:ext cx="2211734" cy="1585051"/>
          </a:xfrm>
          <a:prstGeom prst="rect">
            <a:avLst/>
          </a:prstGeom>
        </p:spPr>
      </p:pic>
      <p:sp>
        <p:nvSpPr>
          <p:cNvPr id="16" name="テキスト ボックス 15">
            <a:extLst>
              <a:ext uri="{FF2B5EF4-FFF2-40B4-BE49-F238E27FC236}">
                <a16:creationId xmlns:a16="http://schemas.microsoft.com/office/drawing/2014/main" id="{5F8EC302-BA2F-1C8D-8C46-53E5BAAF91BA}"/>
              </a:ext>
            </a:extLst>
          </p:cNvPr>
          <p:cNvSpPr txBox="1"/>
          <p:nvPr/>
        </p:nvSpPr>
        <p:spPr>
          <a:xfrm>
            <a:off x="3851999" y="6257303"/>
            <a:ext cx="1735002" cy="369332"/>
          </a:xfrm>
          <a:prstGeom prst="rect">
            <a:avLst/>
          </a:prstGeom>
          <a:noFill/>
        </p:spPr>
        <p:txBody>
          <a:bodyPr wrap="square" rtlCol="0">
            <a:spAutoFit/>
          </a:bodyPr>
          <a:lstStyle/>
          <a:p>
            <a:r>
              <a:rPr kumimoji="1" lang="ja-JP" altLang="en-US" dirty="0"/>
              <a:t>髭密度マップ</a:t>
            </a:r>
          </a:p>
        </p:txBody>
      </p:sp>
      <p:pic>
        <p:nvPicPr>
          <p:cNvPr id="12" name="図 11" descr="テーブル, コンピュータ, ノートパソコン が含まれている画像&#10;&#10;AI 生成コンテンツは誤りを含む可能性があります。">
            <a:extLst>
              <a:ext uri="{FF2B5EF4-FFF2-40B4-BE49-F238E27FC236}">
                <a16:creationId xmlns:a16="http://schemas.microsoft.com/office/drawing/2014/main" id="{775C77DB-395F-3CB7-F2EB-1A2DC769834B}"/>
              </a:ext>
            </a:extLst>
          </p:cNvPr>
          <p:cNvPicPr>
            <a:picLocks noChangeAspect="1"/>
          </p:cNvPicPr>
          <p:nvPr/>
        </p:nvPicPr>
        <p:blipFill>
          <a:blip r:embed="rId5"/>
          <a:stretch>
            <a:fillRect/>
          </a:stretch>
        </p:blipFill>
        <p:spPr>
          <a:xfrm>
            <a:off x="7579801" y="3276600"/>
            <a:ext cx="3744992" cy="2808744"/>
          </a:xfrm>
          <a:prstGeom prst="rect">
            <a:avLst/>
          </a:prstGeom>
        </p:spPr>
      </p:pic>
      <p:pic>
        <p:nvPicPr>
          <p:cNvPr id="15" name="図 14" descr="食品, キーボード が含まれている画像&#10;&#10;AI 生成コンテンツは誤りを含む可能性があります。">
            <a:extLst>
              <a:ext uri="{FF2B5EF4-FFF2-40B4-BE49-F238E27FC236}">
                <a16:creationId xmlns:a16="http://schemas.microsoft.com/office/drawing/2014/main" id="{01F10880-8DA5-C030-EB60-2AC45669F9D0}"/>
              </a:ext>
            </a:extLst>
          </p:cNvPr>
          <p:cNvPicPr>
            <a:picLocks noChangeAspect="1"/>
          </p:cNvPicPr>
          <p:nvPr/>
        </p:nvPicPr>
        <p:blipFill>
          <a:blip r:embed="rId6"/>
          <a:stretch>
            <a:fillRect/>
          </a:stretch>
        </p:blipFill>
        <p:spPr>
          <a:xfrm>
            <a:off x="3311273" y="3455493"/>
            <a:ext cx="2438400" cy="2438400"/>
          </a:xfrm>
          <a:prstGeom prst="rect">
            <a:avLst/>
          </a:prstGeom>
        </p:spPr>
      </p:pic>
      <p:sp>
        <p:nvSpPr>
          <p:cNvPr id="5" name="スライド番号プレースホルダー 4">
            <a:extLst>
              <a:ext uri="{FF2B5EF4-FFF2-40B4-BE49-F238E27FC236}">
                <a16:creationId xmlns:a16="http://schemas.microsoft.com/office/drawing/2014/main" id="{553A0EFA-A493-0CCC-2125-3A96A61BBB5C}"/>
              </a:ext>
            </a:extLst>
          </p:cNvPr>
          <p:cNvSpPr>
            <a:spLocks noGrp="1"/>
          </p:cNvSpPr>
          <p:nvPr>
            <p:ph type="sldNum" sz="quarter" idx="12"/>
          </p:nvPr>
        </p:nvSpPr>
        <p:spPr/>
        <p:txBody>
          <a:bodyPr/>
          <a:lstStyle/>
          <a:p>
            <a:fld id="{F9D186E6-336C-46FC-92C1-3353550E4494}" type="slidenum">
              <a:rPr kumimoji="1" lang="ja-JP" altLang="en-US" sz="4000" smtClean="0"/>
              <a:t>9</a:t>
            </a:fld>
            <a:endParaRPr kumimoji="1" lang="ja-JP" altLang="en-US" sz="4000" dirty="0"/>
          </a:p>
        </p:txBody>
      </p:sp>
    </p:spTree>
    <p:extLst>
      <p:ext uri="{BB962C8B-B14F-4D97-AF65-F5344CB8AC3E}">
        <p14:creationId xmlns:p14="http://schemas.microsoft.com/office/powerpoint/2010/main" val="590409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9EFBF-C10C-9E96-08EF-F22B303D0E16}"/>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B819574E-4585-80DE-B348-8C2D659B86A6}"/>
              </a:ext>
            </a:extLst>
          </p:cNvPr>
          <p:cNvSpPr/>
          <p:nvPr/>
        </p:nvSpPr>
        <p:spPr>
          <a:xfrm>
            <a:off x="838200" y="3068320"/>
            <a:ext cx="10395857" cy="1778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a:p>
        </p:txBody>
      </p:sp>
      <p:sp>
        <p:nvSpPr>
          <p:cNvPr id="5" name="タイトル 4">
            <a:extLst>
              <a:ext uri="{FF2B5EF4-FFF2-40B4-BE49-F238E27FC236}">
                <a16:creationId xmlns:a16="http://schemas.microsoft.com/office/drawing/2014/main" id="{F2575F5E-4819-0AD0-4466-7B8091F47BAD}"/>
              </a:ext>
            </a:extLst>
          </p:cNvPr>
          <p:cNvSpPr>
            <a:spLocks noGrp="1"/>
          </p:cNvSpPr>
          <p:nvPr>
            <p:ph type="title"/>
          </p:nvPr>
        </p:nvSpPr>
        <p:spPr>
          <a:xfrm>
            <a:off x="838200" y="992777"/>
            <a:ext cx="10515600" cy="697911"/>
          </a:xfrm>
        </p:spPr>
        <p:txBody>
          <a:bodyPr>
            <a:normAutofit fontScale="90000"/>
          </a:bodyPr>
          <a:lstStyle/>
          <a:p>
            <a:r>
              <a:rPr lang="ja-JP" altLang="en-US" sz="4900" b="1" dirty="0"/>
              <a:t>定式化</a:t>
            </a:r>
            <a:br>
              <a:rPr lang="en-US" altLang="ja-JP" b="1" dirty="0"/>
            </a:br>
            <a:endParaRPr lang="ja-JP" altLang="en-US" dirty="0"/>
          </a:p>
        </p:txBody>
      </p:sp>
      <mc:AlternateContent xmlns:mc="http://schemas.openxmlformats.org/markup-compatibility/2006" xmlns:a14="http://schemas.microsoft.com/office/drawing/2010/main">
        <mc:Choice Requires="a14">
          <p:sp>
            <p:nvSpPr>
              <p:cNvPr id="6" name="コンテンツ プレースホルダー 5">
                <a:extLst>
                  <a:ext uri="{FF2B5EF4-FFF2-40B4-BE49-F238E27FC236}">
                    <a16:creationId xmlns:a16="http://schemas.microsoft.com/office/drawing/2014/main" id="{EFBE3ABC-C439-5BB1-9735-154E893E116B}"/>
                  </a:ext>
                </a:extLst>
              </p:cNvPr>
              <p:cNvSpPr>
                <a:spLocks noGrp="1"/>
              </p:cNvSpPr>
              <p:nvPr>
                <p:ph idx="1"/>
              </p:nvPr>
            </p:nvSpPr>
            <p:spPr>
              <a:xfrm>
                <a:off x="838200" y="1862423"/>
                <a:ext cx="10515600" cy="4351338"/>
              </a:xfrm>
            </p:spPr>
            <p:txBody>
              <a:bodyPr>
                <a:normAutofit/>
              </a:bodyPr>
              <a:lstStyle/>
              <a:p>
                <a:pPr marL="0" indent="0">
                  <a:buNone/>
                </a:pPr>
                <a:r>
                  <a:rPr lang="ja-JP" altLang="en-US" dirty="0"/>
                  <a:t>「素の皮膚」と「髭ありの皮膚」の</a:t>
                </a:r>
                <a:r>
                  <a:rPr lang="en-US" altLang="ja-JP" dirty="0"/>
                  <a:t>BSSRDF</a:t>
                </a:r>
                <a:r>
                  <a:rPr lang="ja-JP" altLang="en-US" dirty="0"/>
                  <a:t>２つを使い、</a:t>
                </a:r>
                <a:endParaRPr lang="en-US" altLang="ja-JP" dirty="0"/>
              </a:p>
              <a:p>
                <a:pPr marL="0" indent="0">
                  <a:buNone/>
                </a:pPr>
                <a:r>
                  <a:rPr lang="ja-JP" altLang="en-US" dirty="0"/>
                  <a:t>髭密度によってその点での放射輝度</a:t>
                </a:r>
                <a14:m>
                  <m:oMath xmlns:m="http://schemas.openxmlformats.org/officeDocument/2006/math">
                    <m:r>
                      <a:rPr lang="en-US" altLang="ja-JP" b="0" i="1" smtClean="0">
                        <a:latin typeface="Cambria Math" panose="02040503050406030204" pitchFamily="18" charset="0"/>
                      </a:rPr>
                      <m:t>𝑅𝑑</m:t>
                    </m:r>
                    <m:r>
                      <a:rPr lang="en-US" altLang="ja-JP" b="0" i="1" smtClean="0">
                        <a:latin typeface="Cambria Math" panose="02040503050406030204" pitchFamily="18" charset="0"/>
                      </a:rPr>
                      <m:t>(</m:t>
                    </m:r>
                    <m:r>
                      <a:rPr lang="en-US" altLang="ja-JP" b="0" i="1" smtClean="0">
                        <a:latin typeface="Cambria Math" panose="02040503050406030204" pitchFamily="18" charset="0"/>
                      </a:rPr>
                      <m:t>𝑥</m:t>
                    </m:r>
                    <m:r>
                      <a:rPr lang="en-US" altLang="ja-JP" b="0" i="1" smtClean="0">
                        <a:latin typeface="Cambria Math" panose="02040503050406030204" pitchFamily="18" charset="0"/>
                      </a:rPr>
                      <m:t>)</m:t>
                    </m:r>
                  </m:oMath>
                </a14:m>
                <a:r>
                  <a:rPr lang="ja-JP" altLang="en-US" dirty="0"/>
                  <a:t>を決定する。</a:t>
                </a:r>
                <a:br>
                  <a:rPr lang="en-US" altLang="ja-JP" dirty="0"/>
                </a:br>
                <a:br>
                  <a:rPr lang="en-US" altLang="ja-JP" dirty="0"/>
                </a:br>
                <a14:m>
                  <m:oMath xmlns:m="http://schemas.openxmlformats.org/officeDocument/2006/math">
                    <m:r>
                      <a:rPr lang="ja-JP" altLang="en-US" sz="3600" i="1" dirty="0">
                        <a:latin typeface="Cambria Math" panose="02040503050406030204" pitchFamily="18" charset="0"/>
                      </a:rPr>
                      <m:t>　　　</m:t>
                    </m:r>
                    <m:r>
                      <a:rPr lang="en-US" altLang="ja-JP" sz="3600" b="0" i="1" dirty="0" smtClean="0">
                        <a:latin typeface="Cambria Math" panose="02040503050406030204" pitchFamily="18" charset="0"/>
                      </a:rPr>
                      <m:t>𝑅𝑑</m:t>
                    </m:r>
                    <m:r>
                      <a:rPr lang="en-US" altLang="ja-JP" sz="3600" i="1" dirty="0" smtClean="0">
                        <a:latin typeface="Cambria Math" panose="02040503050406030204" pitchFamily="18" charset="0"/>
                      </a:rPr>
                      <m:t> </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)=(1−</m:t>
                    </m:r>
                    <m:r>
                      <a:rPr lang="ja-JP" altLang="en-US" sz="3600" b="0" i="1" smtClean="0">
                        <a:latin typeface="Cambria Math" panose="02040503050406030204" pitchFamily="18" charset="0"/>
                      </a:rPr>
                      <m:t>𝜌</m:t>
                    </m:r>
                    <m:r>
                      <a:rPr lang="en-US" altLang="ja-JP" sz="3600" b="0" i="1" smtClean="0">
                        <a:latin typeface="Cambria Math" panose="02040503050406030204" pitchFamily="18" charset="0"/>
                      </a:rPr>
                      <m:t>(</m:t>
                    </m:r>
                    <m:r>
                      <a:rPr lang="en-US" altLang="ja-JP" sz="3600" b="0" i="1" smtClean="0">
                        <a:latin typeface="Cambria Math" panose="02040503050406030204" pitchFamily="18" charset="0"/>
                      </a:rPr>
                      <m:t>𝑥</m:t>
                    </m:r>
                    <m:r>
                      <a:rPr lang="en-US" altLang="ja-JP" sz="3600" b="0" i="1" smtClean="0">
                        <a:latin typeface="Cambria Math" panose="02040503050406030204" pitchFamily="18" charset="0"/>
                      </a:rPr>
                      <m:t>))</m:t>
                    </m:r>
                    <m:sSub>
                      <m:sSubPr>
                        <m:ctrlPr>
                          <a:rPr lang="en-US" altLang="ja-JP" sz="3600" i="1" smtClean="0">
                            <a:latin typeface="Cambria Math" panose="02040503050406030204" pitchFamily="18" charset="0"/>
                          </a:rPr>
                        </m:ctrlPr>
                      </m:sSubPr>
                      <m:e>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𝑠𝑘𝑖𝑛</m:t>
                        </m:r>
                      </m:sub>
                    </m:sSub>
                    <m:r>
                      <a:rPr lang="en-US" altLang="ja-JP" sz="3600" b="0" i="1" smtClean="0">
                        <a:latin typeface="Cambria Math" panose="02040503050406030204" pitchFamily="18" charset="0"/>
                      </a:rPr>
                      <m:t>+</m:t>
                    </m:r>
                  </m:oMath>
                </a14:m>
                <a:r>
                  <a:rPr lang="en-US" altLang="ja-JP" sz="3600" dirty="0"/>
                  <a:t> </a:t>
                </a:r>
                <a14:m>
                  <m:oMath xmlns:m="http://schemas.openxmlformats.org/officeDocument/2006/math">
                    <m:sSub>
                      <m:sSubPr>
                        <m:ctrlPr>
                          <a:rPr lang="en-US" altLang="ja-JP" sz="3600" i="1">
                            <a:latin typeface="Cambria Math" panose="02040503050406030204" pitchFamily="18" charset="0"/>
                          </a:rPr>
                        </m:ctrlPr>
                      </m:sSubPr>
                      <m:e>
                        <m:r>
                          <a:rPr lang="ja-JP" altLang="en-US" sz="3600" i="1">
                            <a:latin typeface="Cambria Math" panose="02040503050406030204" pitchFamily="18" charset="0"/>
                          </a:rPr>
                          <m:t>𝜌</m:t>
                        </m:r>
                        <m:d>
                          <m:dPr>
                            <m:ctrlPr>
                              <a:rPr lang="en-US" altLang="ja-JP" sz="3600" i="1">
                                <a:latin typeface="Cambria Math" panose="02040503050406030204" pitchFamily="18" charset="0"/>
                              </a:rPr>
                            </m:ctrlPr>
                          </m:dPr>
                          <m:e>
                            <m:r>
                              <a:rPr lang="en-US" altLang="ja-JP" sz="3600" i="1">
                                <a:latin typeface="Cambria Math" panose="02040503050406030204" pitchFamily="18" charset="0"/>
                              </a:rPr>
                              <m:t>𝑥</m:t>
                            </m:r>
                          </m:e>
                        </m:d>
                        <m:r>
                          <m:rPr>
                            <m:sty m:val="p"/>
                          </m:rPr>
                          <a:rPr lang="en-US" altLang="ja-JP" sz="3600" b="0" i="1">
                            <a:latin typeface="Cambria Math" panose="02040503050406030204" pitchFamily="18" charset="0"/>
                          </a:rPr>
                          <m:t>S</m:t>
                        </m:r>
                      </m:e>
                      <m:sub>
                        <m:r>
                          <a:rPr lang="en-US" altLang="ja-JP" sz="3600" b="0" i="1" smtClean="0">
                            <a:latin typeface="Cambria Math" panose="02040503050406030204" pitchFamily="18" charset="0"/>
                          </a:rPr>
                          <m:t>𝑏𝑒𝑎𝑟𝑑</m:t>
                        </m:r>
                      </m:sub>
                    </m:sSub>
                  </m:oMath>
                </a14:m>
                <a:endParaRPr lang="ja-JP" altLang="en-US" sz="3600" dirty="0"/>
              </a:p>
              <a:p>
                <a:endParaRPr lang="ja-JP" altLang="en-US" dirty="0"/>
              </a:p>
            </p:txBody>
          </p:sp>
        </mc:Choice>
        <mc:Fallback xmlns="">
          <p:sp>
            <p:nvSpPr>
              <p:cNvPr id="6" name="コンテンツ プレースホルダー 5">
                <a:extLst>
                  <a:ext uri="{FF2B5EF4-FFF2-40B4-BE49-F238E27FC236}">
                    <a16:creationId xmlns:a16="http://schemas.microsoft.com/office/drawing/2014/main" id="{EFBE3ABC-C439-5BB1-9735-154E893E116B}"/>
                  </a:ext>
                </a:extLst>
              </p:cNvPr>
              <p:cNvSpPr>
                <a:spLocks noGrp="1" noRot="1" noChangeAspect="1" noMove="1" noResize="1" noEditPoints="1" noAdjustHandles="1" noChangeArrowheads="1" noChangeShapeType="1" noTextEdit="1"/>
              </p:cNvSpPr>
              <p:nvPr>
                <p:ph idx="1"/>
              </p:nvPr>
            </p:nvSpPr>
            <p:spPr>
              <a:xfrm>
                <a:off x="838200" y="1862423"/>
                <a:ext cx="10515600" cy="4351338"/>
              </a:xfrm>
              <a:blipFill>
                <a:blip r:embed="rId3"/>
                <a:stretch>
                  <a:fillRect l="-1217" t="-238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47759989-BA29-E2CF-7C54-47276C95502A}"/>
                  </a:ext>
                </a:extLst>
              </p:cNvPr>
              <p:cNvSpPr txBox="1"/>
              <p:nvPr/>
            </p:nvSpPr>
            <p:spPr>
              <a:xfrm>
                <a:off x="838200" y="3957320"/>
                <a:ext cx="4844143" cy="830997"/>
              </a:xfrm>
              <a:prstGeom prst="rect">
                <a:avLst/>
              </a:prstGeom>
              <a:noFill/>
            </p:spPr>
            <p:txBody>
              <a:bodyPr wrap="square" rtlCol="0">
                <a:spAutoFit/>
              </a:bodyPr>
              <a:lstStyle/>
              <a:p>
                <a14:m>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𝑅𝑑</m:t>
                        </m:r>
                      </m:e>
                      <m:sub>
                        <m:r>
                          <a:rPr kumimoji="1" lang="en-US" altLang="ja-JP" sz="2400" b="0" i="1" smtClean="0">
                            <a:latin typeface="Cambria Math" panose="02040503050406030204" pitchFamily="18" charset="0"/>
                          </a:rPr>
                          <m:t>𝑠𝑘𝑖𝑛</m:t>
                        </m:r>
                      </m:sub>
                    </m:sSub>
                    <m:r>
                      <a:rPr kumimoji="1" lang="en-US" altLang="ja-JP" sz="2400" b="0" i="1" smtClean="0">
                        <a:latin typeface="Cambria Math" panose="02040503050406030204" pitchFamily="18" charset="0"/>
                      </a:rPr>
                      <m:t>   = </m:t>
                    </m:r>
                  </m:oMath>
                </a14:m>
                <a:r>
                  <a:rPr kumimoji="1" lang="ja-JP" altLang="en-US" sz="2400" dirty="0"/>
                  <a:t>素肌での</a:t>
                </a:r>
                <a:r>
                  <a:rPr lang="ja-JP" altLang="en-US" sz="2400" dirty="0"/>
                  <a:t>放射輝度</a:t>
                </a:r>
                <a:r>
                  <a:rPr kumimoji="1" lang="en-US" altLang="ja-JP" sz="2400" dirty="0"/>
                  <a:t> </a:t>
                </a:r>
                <a14:m>
                  <m:oMath xmlns:m="http://schemas.openxmlformats.org/officeDocument/2006/math">
                    <m:sSub>
                      <m:sSubPr>
                        <m:ctrlPr>
                          <a:rPr lang="en-US" altLang="ja-JP" sz="2400" i="1">
                            <a:latin typeface="Cambria Math" panose="02040503050406030204" pitchFamily="18" charset="0"/>
                          </a:rPr>
                        </m:ctrlPr>
                      </m:sSubPr>
                      <m:e>
                        <m:r>
                          <a:rPr lang="en-US" altLang="ja-JP" sz="2400" b="0" i="1" smtClean="0">
                            <a:latin typeface="Cambria Math" panose="02040503050406030204" pitchFamily="18" charset="0"/>
                          </a:rPr>
                          <m:t>𝑅𝑑</m:t>
                        </m:r>
                      </m:e>
                      <m:sub>
                        <m:r>
                          <a:rPr lang="en-US" altLang="ja-JP" sz="2400" b="0" i="1" smtClean="0">
                            <a:latin typeface="Cambria Math" panose="02040503050406030204" pitchFamily="18" charset="0"/>
                          </a:rPr>
                          <m:t>𝑏𝑒𝑎𝑟𝑑</m:t>
                        </m:r>
                      </m:sub>
                    </m:sSub>
                    <m:r>
                      <a:rPr lang="en-US" altLang="ja-JP" sz="2400" b="0" i="1" smtClean="0">
                        <a:latin typeface="Cambria Math" panose="02040503050406030204" pitchFamily="18" charset="0"/>
                      </a:rPr>
                      <m:t>=</m:t>
                    </m:r>
                    <m:r>
                      <a:rPr lang="ja-JP" altLang="en-US" sz="2400" i="1">
                        <a:latin typeface="Cambria Math" panose="02040503050406030204" pitchFamily="18" charset="0"/>
                      </a:rPr>
                      <m:t>髭込みでの</m:t>
                    </m:r>
                  </m:oMath>
                </a14:m>
                <a:r>
                  <a:rPr kumimoji="1" lang="ja-JP" altLang="en-US" sz="2400" dirty="0"/>
                  <a:t>放射輝度</a:t>
                </a:r>
                <a:endParaRPr kumimoji="1" lang="en-US" altLang="ja-JP" sz="2400" dirty="0"/>
              </a:p>
            </p:txBody>
          </p:sp>
        </mc:Choice>
        <mc:Fallback xmlns="">
          <p:sp>
            <p:nvSpPr>
              <p:cNvPr id="9" name="テキスト ボックス 8">
                <a:extLst>
                  <a:ext uri="{FF2B5EF4-FFF2-40B4-BE49-F238E27FC236}">
                    <a16:creationId xmlns:a16="http://schemas.microsoft.com/office/drawing/2014/main" id="{47759989-BA29-E2CF-7C54-47276C95502A}"/>
                  </a:ext>
                </a:extLst>
              </p:cNvPr>
              <p:cNvSpPr txBox="1">
                <a:spLocks noRot="1" noChangeAspect="1" noMove="1" noResize="1" noEditPoints="1" noAdjustHandles="1" noChangeArrowheads="1" noChangeShapeType="1" noTextEdit="1"/>
              </p:cNvSpPr>
              <p:nvPr/>
            </p:nvSpPr>
            <p:spPr>
              <a:xfrm>
                <a:off x="838200" y="3957320"/>
                <a:ext cx="4844143" cy="830997"/>
              </a:xfrm>
              <a:prstGeom prst="rect">
                <a:avLst/>
              </a:prstGeom>
              <a:blipFill>
                <a:blip r:embed="rId4"/>
                <a:stretch>
                  <a:fillRect l="-378" t="-5882" b="-16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4E2EA6A8-9CC5-6253-7551-811156CBAFFC}"/>
                  </a:ext>
                </a:extLst>
              </p:cNvPr>
              <p:cNvSpPr txBox="1"/>
              <p:nvPr/>
            </p:nvSpPr>
            <p:spPr>
              <a:xfrm>
                <a:off x="6509659" y="3957319"/>
                <a:ext cx="4844143" cy="47493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ja-JP" altLang="en-US" sz="2400" i="1" smtClean="0">
                          <a:latin typeface="Cambria Math" panose="02040503050406030204" pitchFamily="18" charset="0"/>
                        </a:rPr>
                        <m:t>𝜌</m:t>
                      </m:r>
                      <m:r>
                        <a:rPr lang="en-US" altLang="ja-JP" sz="2400" i="1">
                          <a:latin typeface="Cambria Math" panose="02040503050406030204" pitchFamily="18" charset="0"/>
                        </a:rPr>
                        <m:t>(</m:t>
                      </m:r>
                      <m:r>
                        <a:rPr lang="en-US" altLang="ja-JP" sz="2400" i="1">
                          <a:latin typeface="Cambria Math" panose="02040503050406030204" pitchFamily="18" charset="0"/>
                        </a:rPr>
                        <m:t>𝑥</m:t>
                      </m:r>
                      <m:r>
                        <a:rPr lang="en-US" altLang="ja-JP" sz="2400" i="1">
                          <a:latin typeface="Cambria Math" panose="02040503050406030204" pitchFamily="18" charset="0"/>
                        </a:rPr>
                        <m:t>)=</m:t>
                      </m:r>
                      <m:r>
                        <a:rPr lang="ja-JP" altLang="en-US" sz="2400" i="1">
                          <a:latin typeface="Cambria Math" panose="02040503050406030204" pitchFamily="18" charset="0"/>
                        </a:rPr>
                        <m:t>髭密度</m:t>
                      </m:r>
                    </m:oMath>
                  </m:oMathPara>
                </a14:m>
                <a:endParaRPr kumimoji="1" lang="en-US" altLang="ja-JP" sz="2400" dirty="0"/>
              </a:p>
            </p:txBody>
          </p:sp>
        </mc:Choice>
        <mc:Fallback xmlns="">
          <p:sp>
            <p:nvSpPr>
              <p:cNvPr id="2" name="テキスト ボックス 1">
                <a:extLst>
                  <a:ext uri="{FF2B5EF4-FFF2-40B4-BE49-F238E27FC236}">
                    <a16:creationId xmlns:a16="http://schemas.microsoft.com/office/drawing/2014/main" id="{4E2EA6A8-9CC5-6253-7551-811156CBAFFC}"/>
                  </a:ext>
                </a:extLst>
              </p:cNvPr>
              <p:cNvSpPr txBox="1">
                <a:spLocks noRot="1" noChangeAspect="1" noMove="1" noResize="1" noEditPoints="1" noAdjustHandles="1" noChangeArrowheads="1" noChangeShapeType="1" noTextEdit="1"/>
              </p:cNvSpPr>
              <p:nvPr/>
            </p:nvSpPr>
            <p:spPr>
              <a:xfrm>
                <a:off x="6509659" y="3957319"/>
                <a:ext cx="4844143" cy="474938"/>
              </a:xfrm>
              <a:prstGeom prst="rect">
                <a:avLst/>
              </a:prstGeom>
              <a:blipFill>
                <a:blip r:embed="rId5"/>
                <a:stretch>
                  <a:fillRect b="-14103"/>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320A6A4-99AE-E846-6675-E4CCA7241D11}"/>
              </a:ext>
            </a:extLst>
          </p:cNvPr>
          <p:cNvSpPr>
            <a:spLocks noGrp="1"/>
          </p:cNvSpPr>
          <p:nvPr>
            <p:ph type="sldNum" sz="quarter" idx="12"/>
          </p:nvPr>
        </p:nvSpPr>
        <p:spPr/>
        <p:txBody>
          <a:bodyPr/>
          <a:lstStyle/>
          <a:p>
            <a:fld id="{F9D186E6-336C-46FC-92C1-3353550E4494}" type="slidenum">
              <a:rPr kumimoji="1" lang="ja-JP" altLang="en-US" sz="4000" smtClean="0"/>
              <a:t>10</a:t>
            </a:fld>
            <a:endParaRPr kumimoji="1" lang="ja-JP" altLang="en-US" sz="4000" dirty="0"/>
          </a:p>
        </p:txBody>
      </p:sp>
    </p:spTree>
    <p:extLst>
      <p:ext uri="{BB962C8B-B14F-4D97-AF65-F5344CB8AC3E}">
        <p14:creationId xmlns:p14="http://schemas.microsoft.com/office/powerpoint/2010/main" val="1926304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6B4BA0-1C00-7F10-91E6-D5C930052748}"/>
              </a:ext>
            </a:extLst>
          </p:cNvPr>
          <p:cNvSpPr>
            <a:spLocks noGrp="1"/>
          </p:cNvSpPr>
          <p:nvPr>
            <p:ph type="title"/>
          </p:nvPr>
        </p:nvSpPr>
        <p:spPr/>
        <p:txBody>
          <a:bodyPr/>
          <a:lstStyle/>
          <a:p>
            <a:r>
              <a:rPr kumimoji="1" lang="ja-JP" altLang="en-US" dirty="0"/>
              <a:t>結果比較</a:t>
            </a:r>
          </a:p>
        </p:txBody>
      </p:sp>
      <p:sp>
        <p:nvSpPr>
          <p:cNvPr id="3" name="コンテンツ プレースホルダー 2">
            <a:extLst>
              <a:ext uri="{FF2B5EF4-FFF2-40B4-BE49-F238E27FC236}">
                <a16:creationId xmlns:a16="http://schemas.microsoft.com/office/drawing/2014/main" id="{39F51016-98C0-7C45-EB95-6CAEA14A752D}"/>
              </a:ext>
            </a:extLst>
          </p:cNvPr>
          <p:cNvSpPr>
            <a:spLocks noGrp="1"/>
          </p:cNvSpPr>
          <p:nvPr>
            <p:ph idx="1"/>
          </p:nvPr>
        </p:nvSpPr>
        <p:spPr/>
        <p:txBody>
          <a:bodyPr/>
          <a:lstStyle/>
          <a:p>
            <a:endParaRPr kumimoji="1" lang="en-US" altLang="ja-JP" dirty="0"/>
          </a:p>
          <a:p>
            <a:endParaRPr lang="en-US" altLang="ja-JP" dirty="0"/>
          </a:p>
          <a:p>
            <a:endParaRPr kumimoji="1" lang="en-US" altLang="ja-JP" dirty="0"/>
          </a:p>
          <a:p>
            <a:endParaRPr lang="en-US" altLang="ja-JP" dirty="0"/>
          </a:p>
          <a:p>
            <a:endParaRPr kumimoji="1" lang="en-US" altLang="ja-JP" dirty="0"/>
          </a:p>
          <a:p>
            <a:endParaRPr lang="en-US" altLang="ja-JP" dirty="0"/>
          </a:p>
          <a:p>
            <a:endParaRPr kumimoji="1" lang="en-US" altLang="ja-JP" dirty="0"/>
          </a:p>
          <a:p>
            <a:r>
              <a:rPr lang="ja-JP" altLang="en-US" dirty="0"/>
              <a:t>髭の濃い領域で暗さの増加が確認できる</a:t>
            </a:r>
            <a:endParaRPr lang="en-US" altLang="ja-JP" dirty="0"/>
          </a:p>
        </p:txBody>
      </p:sp>
      <p:sp>
        <p:nvSpPr>
          <p:cNvPr id="8" name="テキスト ボックス 7">
            <a:extLst>
              <a:ext uri="{FF2B5EF4-FFF2-40B4-BE49-F238E27FC236}">
                <a16:creationId xmlns:a16="http://schemas.microsoft.com/office/drawing/2014/main" id="{CCE3865F-8CEA-568A-C150-D9176C02A8A7}"/>
              </a:ext>
            </a:extLst>
          </p:cNvPr>
          <p:cNvSpPr txBox="1"/>
          <p:nvPr/>
        </p:nvSpPr>
        <p:spPr>
          <a:xfrm>
            <a:off x="2247901" y="1860240"/>
            <a:ext cx="2612571" cy="369332"/>
          </a:xfrm>
          <a:prstGeom prst="rect">
            <a:avLst/>
          </a:prstGeom>
          <a:noFill/>
        </p:spPr>
        <p:txBody>
          <a:bodyPr wrap="square" rtlCol="0">
            <a:spAutoFit/>
          </a:bodyPr>
          <a:lstStyle/>
          <a:p>
            <a:r>
              <a:rPr kumimoji="1" lang="ja-JP" altLang="en-US" dirty="0"/>
              <a:t>髭密度マップ適用無し</a:t>
            </a:r>
          </a:p>
        </p:txBody>
      </p:sp>
      <p:sp>
        <p:nvSpPr>
          <p:cNvPr id="9" name="正方形/長方形 8">
            <a:extLst>
              <a:ext uri="{FF2B5EF4-FFF2-40B4-BE49-F238E27FC236}">
                <a16:creationId xmlns:a16="http://schemas.microsoft.com/office/drawing/2014/main" id="{F1DFF7B5-F619-C4ED-6C54-A689196B83C9}"/>
              </a:ext>
            </a:extLst>
          </p:cNvPr>
          <p:cNvSpPr/>
          <p:nvPr/>
        </p:nvSpPr>
        <p:spPr>
          <a:xfrm>
            <a:off x="1748246" y="2270285"/>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D45C7D7C-BD2F-D812-7F82-C3B7B61641A5}"/>
              </a:ext>
            </a:extLst>
          </p:cNvPr>
          <p:cNvSpPr/>
          <p:nvPr/>
        </p:nvSpPr>
        <p:spPr>
          <a:xfrm>
            <a:off x="7389223" y="2361527"/>
            <a:ext cx="3002280" cy="29440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58C5D65D-49FE-A23E-BA4C-98B09E9E05DB}"/>
              </a:ext>
            </a:extLst>
          </p:cNvPr>
          <p:cNvSpPr txBox="1"/>
          <p:nvPr/>
        </p:nvSpPr>
        <p:spPr>
          <a:xfrm>
            <a:off x="7733212" y="1860240"/>
            <a:ext cx="2612571" cy="369332"/>
          </a:xfrm>
          <a:prstGeom prst="rect">
            <a:avLst/>
          </a:prstGeom>
          <a:noFill/>
        </p:spPr>
        <p:txBody>
          <a:bodyPr wrap="square" rtlCol="0">
            <a:spAutoFit/>
          </a:bodyPr>
          <a:lstStyle/>
          <a:p>
            <a:r>
              <a:rPr kumimoji="1" lang="ja-JP" altLang="en-US" dirty="0"/>
              <a:t>髭密度マップ適用あり</a:t>
            </a:r>
          </a:p>
        </p:txBody>
      </p:sp>
      <p:pic>
        <p:nvPicPr>
          <p:cNvPr id="16" name="図 15" descr="男性の白黒写真&#10;&#10;AI 生成コンテンツは誤りを含む可能性があります。">
            <a:extLst>
              <a:ext uri="{FF2B5EF4-FFF2-40B4-BE49-F238E27FC236}">
                <a16:creationId xmlns:a16="http://schemas.microsoft.com/office/drawing/2014/main" id="{975D876E-5C58-9022-D182-F8C748D875E1}"/>
              </a:ext>
            </a:extLst>
          </p:cNvPr>
          <p:cNvPicPr>
            <a:picLocks noChangeAspect="1"/>
          </p:cNvPicPr>
          <p:nvPr/>
        </p:nvPicPr>
        <p:blipFill>
          <a:blip r:embed="rId3"/>
          <a:srcRect t="8476" r="50000" b="29048"/>
          <a:stretch>
            <a:fillRect/>
          </a:stretch>
        </p:blipFill>
        <p:spPr>
          <a:xfrm>
            <a:off x="7203077" y="2209670"/>
            <a:ext cx="3429000" cy="3213463"/>
          </a:xfrm>
          <a:prstGeom prst="rect">
            <a:avLst/>
          </a:prstGeom>
        </p:spPr>
      </p:pic>
      <p:pic>
        <p:nvPicPr>
          <p:cNvPr id="18" name="図 17" descr="白い背景に刷っている男性の白黒写真&#10;&#10;AI 生成コンテンツは誤りを含む可能性があります。">
            <a:extLst>
              <a:ext uri="{FF2B5EF4-FFF2-40B4-BE49-F238E27FC236}">
                <a16:creationId xmlns:a16="http://schemas.microsoft.com/office/drawing/2014/main" id="{439771CA-1190-A81D-6351-B9E46730B76F}"/>
              </a:ext>
            </a:extLst>
          </p:cNvPr>
          <p:cNvPicPr>
            <a:picLocks noChangeAspect="1"/>
          </p:cNvPicPr>
          <p:nvPr/>
        </p:nvPicPr>
        <p:blipFill>
          <a:blip r:embed="rId4"/>
          <a:srcRect t="9238" r="51461" b="30572"/>
          <a:stretch>
            <a:fillRect/>
          </a:stretch>
        </p:blipFill>
        <p:spPr>
          <a:xfrm>
            <a:off x="1721031" y="2209670"/>
            <a:ext cx="3429000" cy="3095899"/>
          </a:xfrm>
          <a:prstGeom prst="rect">
            <a:avLst/>
          </a:prstGeom>
        </p:spPr>
      </p:pic>
      <p:sp>
        <p:nvSpPr>
          <p:cNvPr id="19" name="楕円 18">
            <a:extLst>
              <a:ext uri="{FF2B5EF4-FFF2-40B4-BE49-F238E27FC236}">
                <a16:creationId xmlns:a16="http://schemas.microsoft.com/office/drawing/2014/main" id="{C0442AC9-46DC-595C-7626-FEDFC3A57B35}"/>
              </a:ext>
            </a:extLst>
          </p:cNvPr>
          <p:cNvSpPr/>
          <p:nvPr/>
        </p:nvSpPr>
        <p:spPr>
          <a:xfrm>
            <a:off x="2774766" y="3391018"/>
            <a:ext cx="1471750" cy="13255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600C8909-2648-400A-7757-C94ADBA1CCFF}"/>
              </a:ext>
            </a:extLst>
          </p:cNvPr>
          <p:cNvSpPr/>
          <p:nvPr/>
        </p:nvSpPr>
        <p:spPr>
          <a:xfrm>
            <a:off x="8334102" y="3490912"/>
            <a:ext cx="1471750" cy="132556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スライド番号プレースホルダー 21">
            <a:extLst>
              <a:ext uri="{FF2B5EF4-FFF2-40B4-BE49-F238E27FC236}">
                <a16:creationId xmlns:a16="http://schemas.microsoft.com/office/drawing/2014/main" id="{DC0DA6DC-A407-58E9-3AB2-0072DA4B51BE}"/>
              </a:ext>
            </a:extLst>
          </p:cNvPr>
          <p:cNvSpPr>
            <a:spLocks noGrp="1"/>
          </p:cNvSpPr>
          <p:nvPr>
            <p:ph type="sldNum" sz="quarter" idx="12"/>
          </p:nvPr>
        </p:nvSpPr>
        <p:spPr/>
        <p:txBody>
          <a:bodyPr/>
          <a:lstStyle/>
          <a:p>
            <a:fld id="{F9D186E6-336C-46FC-92C1-3353550E4494}" type="slidenum">
              <a:rPr kumimoji="1" lang="ja-JP" altLang="en-US" sz="4000" smtClean="0"/>
              <a:t>11</a:t>
            </a:fld>
            <a:endParaRPr kumimoji="1" lang="ja-JP" altLang="en-US" sz="4000" dirty="0"/>
          </a:p>
        </p:txBody>
      </p:sp>
    </p:spTree>
    <p:extLst>
      <p:ext uri="{BB962C8B-B14F-4D97-AF65-F5344CB8AC3E}">
        <p14:creationId xmlns:p14="http://schemas.microsoft.com/office/powerpoint/2010/main" val="31645719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C3B0D8-7AC1-0F5B-DCD3-748E6FED36D3}"/>
              </a:ext>
            </a:extLst>
          </p:cNvPr>
          <p:cNvSpPr>
            <a:spLocks noGrp="1"/>
          </p:cNvSpPr>
          <p:nvPr>
            <p:ph type="title"/>
          </p:nvPr>
        </p:nvSpPr>
        <p:spPr/>
        <p:txBody>
          <a:bodyPr/>
          <a:lstStyle/>
          <a:p>
            <a:r>
              <a:rPr kumimoji="1" lang="ja-JP" altLang="en-US" dirty="0"/>
              <a:t>検証方針</a:t>
            </a:r>
          </a:p>
        </p:txBody>
      </p:sp>
      <p:sp>
        <p:nvSpPr>
          <p:cNvPr id="3" name="コンテンツ プレースホルダー 2">
            <a:extLst>
              <a:ext uri="{FF2B5EF4-FFF2-40B4-BE49-F238E27FC236}">
                <a16:creationId xmlns:a16="http://schemas.microsoft.com/office/drawing/2014/main" id="{E158FE7C-40F8-B37F-3B3B-186A442B3853}"/>
              </a:ext>
            </a:extLst>
          </p:cNvPr>
          <p:cNvSpPr>
            <a:spLocks noGrp="1"/>
          </p:cNvSpPr>
          <p:nvPr>
            <p:ph idx="1"/>
          </p:nvPr>
        </p:nvSpPr>
        <p:spPr/>
        <p:txBody>
          <a:bodyPr/>
          <a:lstStyle/>
          <a:p>
            <a:r>
              <a:rPr kumimoji="1" lang="en-US" altLang="ja-JP" dirty="0"/>
              <a:t>Mitsuba</a:t>
            </a:r>
            <a:r>
              <a:rPr kumimoji="1" lang="ja-JP" altLang="en-US" dirty="0"/>
              <a:t>を用いて髭ジオメトリを含むシーンと</a:t>
            </a:r>
            <a:endParaRPr kumimoji="1" lang="en-US" altLang="ja-JP" dirty="0"/>
          </a:p>
          <a:p>
            <a:pPr marL="0" indent="0">
              <a:buNone/>
            </a:pPr>
            <a:r>
              <a:rPr lang="ja-JP" altLang="en-US" dirty="0"/>
              <a:t>含まないシーン</a:t>
            </a:r>
            <a:r>
              <a:rPr kumimoji="1" lang="ja-JP" altLang="en-US" dirty="0"/>
              <a:t>をそれぞれ構築し、</a:t>
            </a:r>
            <a:endParaRPr kumimoji="1" lang="en-US" altLang="ja-JP" dirty="0"/>
          </a:p>
          <a:p>
            <a:pPr marL="0" indent="0">
              <a:buNone/>
            </a:pPr>
            <a:r>
              <a:rPr kumimoji="1" lang="ja-JP" altLang="en-US" dirty="0"/>
              <a:t>放射エネルギー分布を測定する</a:t>
            </a:r>
            <a:endParaRPr kumimoji="1" lang="en-US" altLang="ja-JP" dirty="0"/>
          </a:p>
          <a:p>
            <a:pPr marL="0" indent="0">
              <a:buNone/>
            </a:pPr>
            <a:endParaRPr lang="en-US" altLang="ja-JP" dirty="0"/>
          </a:p>
          <a:p>
            <a:r>
              <a:rPr kumimoji="1" lang="ja-JP" altLang="en-US" dirty="0"/>
              <a:t>それぞれのシーンのエネルギー分布を比較し、</a:t>
            </a:r>
            <a:endParaRPr kumimoji="1" lang="en-US" altLang="ja-JP" dirty="0"/>
          </a:p>
          <a:p>
            <a:pPr marL="0" indent="0">
              <a:buNone/>
            </a:pPr>
            <a:r>
              <a:rPr lang="ja-JP" altLang="en-US" dirty="0"/>
              <a:t>髭が表面化散乱にどのような影響を与えるのかを</a:t>
            </a:r>
            <a:endParaRPr lang="en-US" altLang="ja-JP" dirty="0"/>
          </a:p>
          <a:p>
            <a:pPr marL="0" indent="0">
              <a:buNone/>
            </a:pPr>
            <a:r>
              <a:rPr kumimoji="1" lang="ja-JP" altLang="en-US" dirty="0"/>
              <a:t>考察する。</a:t>
            </a:r>
            <a:endParaRPr kumimoji="1" lang="en-US" altLang="ja-JP" dirty="0"/>
          </a:p>
          <a:p>
            <a:pPr marL="0" indent="0">
              <a:buNone/>
            </a:pPr>
            <a:endParaRPr kumimoji="1" lang="ja-JP" altLang="en-US" dirty="0"/>
          </a:p>
        </p:txBody>
      </p:sp>
      <p:sp>
        <p:nvSpPr>
          <p:cNvPr id="6" name="スライド番号プレースホルダー 5">
            <a:extLst>
              <a:ext uri="{FF2B5EF4-FFF2-40B4-BE49-F238E27FC236}">
                <a16:creationId xmlns:a16="http://schemas.microsoft.com/office/drawing/2014/main" id="{2FF9C910-5496-EB66-9517-94F7BF7502B8}"/>
              </a:ext>
            </a:extLst>
          </p:cNvPr>
          <p:cNvSpPr>
            <a:spLocks noGrp="1"/>
          </p:cNvSpPr>
          <p:nvPr>
            <p:ph type="sldNum" sz="quarter" idx="12"/>
          </p:nvPr>
        </p:nvSpPr>
        <p:spPr/>
        <p:txBody>
          <a:bodyPr/>
          <a:lstStyle/>
          <a:p>
            <a:fld id="{F9D186E6-336C-46FC-92C1-3353550E4494}" type="slidenum">
              <a:rPr kumimoji="1" lang="ja-JP" altLang="en-US" sz="4000" smtClean="0"/>
              <a:t>12</a:t>
            </a:fld>
            <a:endParaRPr kumimoji="1" lang="ja-JP" altLang="en-US" sz="4000" dirty="0"/>
          </a:p>
        </p:txBody>
      </p:sp>
    </p:spTree>
    <p:extLst>
      <p:ext uri="{BB962C8B-B14F-4D97-AF65-F5344CB8AC3E}">
        <p14:creationId xmlns:p14="http://schemas.microsoft.com/office/powerpoint/2010/main" val="2967381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14121-660E-74A6-FF75-F241020E7BA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BFA6143-54A7-B525-674B-C8C16DC56176}"/>
              </a:ext>
            </a:extLst>
          </p:cNvPr>
          <p:cNvSpPr>
            <a:spLocks noGrp="1"/>
          </p:cNvSpPr>
          <p:nvPr>
            <p:ph type="title"/>
          </p:nvPr>
        </p:nvSpPr>
        <p:spPr/>
        <p:txBody>
          <a:bodyPr/>
          <a:lstStyle/>
          <a:p>
            <a:r>
              <a:rPr kumimoji="1" lang="ja-JP" altLang="en-US" dirty="0"/>
              <a:t>評価方法　（</a:t>
            </a:r>
            <a:r>
              <a:rPr lang="en-US" altLang="ja-JP" dirty="0" err="1"/>
              <a:t>R_d</a:t>
            </a:r>
            <a:r>
              <a:rPr lang="en-US" altLang="ja-JP" dirty="0"/>
              <a:t>(r) </a:t>
            </a:r>
            <a:r>
              <a:rPr lang="ja-JP" altLang="en-US" dirty="0"/>
              <a:t>計測）</a:t>
            </a:r>
            <a:endParaRPr kumimoji="1" lang="ja-JP" altLang="en-US" dirty="0"/>
          </a:p>
        </p:txBody>
      </p:sp>
      <p:sp>
        <p:nvSpPr>
          <p:cNvPr id="3" name="コンテンツ プレースホルダー 2">
            <a:extLst>
              <a:ext uri="{FF2B5EF4-FFF2-40B4-BE49-F238E27FC236}">
                <a16:creationId xmlns:a16="http://schemas.microsoft.com/office/drawing/2014/main" id="{448169F5-6FDD-F109-CF94-34855F85FB8A}"/>
              </a:ext>
            </a:extLst>
          </p:cNvPr>
          <p:cNvSpPr>
            <a:spLocks noGrp="1"/>
          </p:cNvSpPr>
          <p:nvPr>
            <p:ph idx="1"/>
          </p:nvPr>
        </p:nvSpPr>
        <p:spPr/>
        <p:txBody>
          <a:bodyPr/>
          <a:lstStyle/>
          <a:p>
            <a:r>
              <a:rPr lang="ja-JP" altLang="en-US" dirty="0"/>
              <a:t>リング上の観測点で平均を取って </a:t>
            </a:r>
            <a:r>
              <a:rPr lang="en-US" altLang="ja-JP" dirty="0" err="1"/>
              <a:t>R_d</a:t>
            </a:r>
            <a:r>
              <a:rPr lang="en-US" altLang="ja-JP" dirty="0"/>
              <a:t>(r) </a:t>
            </a:r>
            <a:r>
              <a:rPr lang="ja-JP" altLang="en-US" dirty="0"/>
              <a:t>を算出</a:t>
            </a:r>
          </a:p>
          <a:p>
            <a:r>
              <a:rPr lang="ja-JP" altLang="en-US" dirty="0"/>
              <a:t>正規化して減衰特性を比較</a:t>
            </a:r>
          </a:p>
          <a:p>
            <a:pPr marL="0" indent="0">
              <a:buNone/>
            </a:pPr>
            <a:endParaRPr kumimoji="1" lang="en-US" altLang="ja-JP" dirty="0"/>
          </a:p>
        </p:txBody>
      </p:sp>
      <p:pic>
        <p:nvPicPr>
          <p:cNvPr id="6" name="図 5" descr="グラフ&#10;&#10;AI 生成コンテンツは誤りを含む可能性があります。">
            <a:extLst>
              <a:ext uri="{FF2B5EF4-FFF2-40B4-BE49-F238E27FC236}">
                <a16:creationId xmlns:a16="http://schemas.microsoft.com/office/drawing/2014/main" id="{54203BB1-255B-FC96-5442-5B08E906BBF1}"/>
              </a:ext>
            </a:extLst>
          </p:cNvPr>
          <p:cNvPicPr>
            <a:picLocks noChangeAspect="1"/>
          </p:cNvPicPr>
          <p:nvPr/>
        </p:nvPicPr>
        <p:blipFill>
          <a:blip r:embed="rId3"/>
          <a:stretch>
            <a:fillRect/>
          </a:stretch>
        </p:blipFill>
        <p:spPr>
          <a:xfrm>
            <a:off x="6358432" y="3651822"/>
            <a:ext cx="4385768" cy="3206178"/>
          </a:xfrm>
          <a:prstGeom prst="rect">
            <a:avLst/>
          </a:prstGeom>
        </p:spPr>
      </p:pic>
      <p:pic>
        <p:nvPicPr>
          <p:cNvPr id="8" name="図 7" descr="太陽の光&#10;&#10;AI 生成コンテンツは誤りを含む可能性があります。">
            <a:extLst>
              <a:ext uri="{FF2B5EF4-FFF2-40B4-BE49-F238E27FC236}">
                <a16:creationId xmlns:a16="http://schemas.microsoft.com/office/drawing/2014/main" id="{9709A5FF-7B88-CE3E-E753-643DA6DFED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0" y="3651822"/>
            <a:ext cx="3166568" cy="3166568"/>
          </a:xfrm>
          <a:prstGeom prst="rect">
            <a:avLst/>
          </a:prstGeom>
        </p:spPr>
      </p:pic>
      <p:sp>
        <p:nvSpPr>
          <p:cNvPr id="5" name="スライド番号プレースホルダー 4">
            <a:extLst>
              <a:ext uri="{FF2B5EF4-FFF2-40B4-BE49-F238E27FC236}">
                <a16:creationId xmlns:a16="http://schemas.microsoft.com/office/drawing/2014/main" id="{84C16292-ED8C-92CE-F303-1A9268788D72}"/>
              </a:ext>
            </a:extLst>
          </p:cNvPr>
          <p:cNvSpPr>
            <a:spLocks noGrp="1"/>
          </p:cNvSpPr>
          <p:nvPr>
            <p:ph type="sldNum" sz="quarter" idx="12"/>
          </p:nvPr>
        </p:nvSpPr>
        <p:spPr/>
        <p:txBody>
          <a:bodyPr/>
          <a:lstStyle/>
          <a:p>
            <a:fld id="{F9D186E6-336C-46FC-92C1-3353550E4494}" type="slidenum">
              <a:rPr kumimoji="1" lang="ja-JP" altLang="en-US" sz="4000" smtClean="0"/>
              <a:t>13</a:t>
            </a:fld>
            <a:endParaRPr kumimoji="1" lang="ja-JP" altLang="en-US" sz="4000" dirty="0"/>
          </a:p>
        </p:txBody>
      </p:sp>
    </p:spTree>
    <p:extLst>
      <p:ext uri="{BB962C8B-B14F-4D97-AF65-F5344CB8AC3E}">
        <p14:creationId xmlns:p14="http://schemas.microsoft.com/office/powerpoint/2010/main" val="1751077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4B590-550C-5514-88F9-638702A3EC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7FEC45A-7771-7069-9074-264549A8D96F}"/>
              </a:ext>
            </a:extLst>
          </p:cNvPr>
          <p:cNvSpPr>
            <a:spLocks noGrp="1"/>
          </p:cNvSpPr>
          <p:nvPr>
            <p:ph type="title"/>
          </p:nvPr>
        </p:nvSpPr>
        <p:spPr>
          <a:xfrm>
            <a:off x="838200" y="365125"/>
            <a:ext cx="10515600" cy="1460500"/>
          </a:xfrm>
        </p:spPr>
        <p:txBody>
          <a:bodyPr/>
          <a:lstStyle/>
          <a:p>
            <a:r>
              <a:rPr lang="ja-JP" altLang="en-US" dirty="0"/>
              <a:t>検証結果と考察：</a:t>
            </a:r>
            <a:br>
              <a:rPr lang="en-US" altLang="ja-JP" dirty="0"/>
            </a:br>
            <a:r>
              <a:rPr lang="ja-JP" altLang="en-US" dirty="0"/>
              <a:t>（表面下散乱分布の比較</a:t>
            </a:r>
            <a:r>
              <a:rPr kumimoji="1" lang="ja-JP" altLang="en-US" dirty="0"/>
              <a:t>）</a:t>
            </a:r>
          </a:p>
        </p:txBody>
      </p:sp>
      <p:sp>
        <p:nvSpPr>
          <p:cNvPr id="3" name="コンテンツ プレースホルダー 2">
            <a:extLst>
              <a:ext uri="{FF2B5EF4-FFF2-40B4-BE49-F238E27FC236}">
                <a16:creationId xmlns:a16="http://schemas.microsoft.com/office/drawing/2014/main" id="{4D7AB59E-A8BF-CC3C-4F43-E50DD78C8C1F}"/>
              </a:ext>
            </a:extLst>
          </p:cNvPr>
          <p:cNvSpPr>
            <a:spLocks noGrp="1"/>
          </p:cNvSpPr>
          <p:nvPr>
            <p:ph idx="1"/>
          </p:nvPr>
        </p:nvSpPr>
        <p:spPr>
          <a:xfrm>
            <a:off x="6818810" y="1825625"/>
            <a:ext cx="5172893" cy="4351338"/>
          </a:xfrm>
        </p:spPr>
        <p:txBody>
          <a:bodyPr>
            <a:normAutofit/>
          </a:bodyPr>
          <a:lstStyle/>
          <a:p>
            <a:pPr marL="0" indent="0">
              <a:buNone/>
            </a:pPr>
            <a:r>
              <a:rPr lang="ja-JP" altLang="en-US" dirty="0"/>
              <a:t>結果</a:t>
            </a:r>
            <a:endParaRPr lang="en-US" altLang="ja-JP" dirty="0"/>
          </a:p>
          <a:p>
            <a:r>
              <a:rPr lang="ja-JP" altLang="en-US" dirty="0"/>
              <a:t>近傍は髭ありがやや低いが、全体形状は概ね同じ</a:t>
            </a:r>
            <a:endParaRPr lang="en-US" altLang="ja-JP" dirty="0"/>
          </a:p>
          <a:p>
            <a:endParaRPr kumimoji="1" lang="en-US" altLang="ja-JP" dirty="0"/>
          </a:p>
          <a:p>
            <a:pPr marL="0" indent="0">
              <a:buNone/>
            </a:pPr>
            <a:r>
              <a:rPr lang="ja-JP" altLang="en-US" dirty="0"/>
              <a:t>考察</a:t>
            </a:r>
            <a:endParaRPr lang="en-US" altLang="ja-JP" dirty="0"/>
          </a:p>
          <a:p>
            <a:r>
              <a:rPr lang="ja-JP" altLang="en-US" dirty="0"/>
              <a:t>近傍差は髭密度の高い領域の遮蔽・吸収がよく作用する</a:t>
            </a:r>
          </a:p>
          <a:p>
            <a:r>
              <a:rPr lang="ja-JP" altLang="en-US" dirty="0"/>
              <a:t>距離が大きいほど</a:t>
            </a:r>
            <a:endParaRPr lang="en-US" altLang="ja-JP" dirty="0"/>
          </a:p>
          <a:p>
            <a:pPr marL="0" indent="0">
              <a:buNone/>
            </a:pPr>
            <a:r>
              <a:rPr lang="ja-JP" altLang="en-US" dirty="0"/>
              <a:t>影響が平均化</a:t>
            </a:r>
          </a:p>
          <a:p>
            <a:pPr marL="0" indent="0">
              <a:buNone/>
            </a:pPr>
            <a:endParaRPr lang="en-US" altLang="ja-JP" dirty="0"/>
          </a:p>
          <a:p>
            <a:pPr marL="0" indent="0">
              <a:buNone/>
            </a:pPr>
            <a:endParaRPr kumimoji="1" lang="ja-JP" altLang="en-US" dirty="0"/>
          </a:p>
        </p:txBody>
      </p:sp>
      <p:pic>
        <p:nvPicPr>
          <p:cNvPr id="5" name="図 4" descr="グラフ, 折れ線グラフ&#10;&#10;AI 生成コンテンツは誤りを含む可能性があります。">
            <a:extLst>
              <a:ext uri="{FF2B5EF4-FFF2-40B4-BE49-F238E27FC236}">
                <a16:creationId xmlns:a16="http://schemas.microsoft.com/office/drawing/2014/main" id="{A396A407-86DE-B5F8-641F-E658308EEE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509" y="1943191"/>
            <a:ext cx="5836340" cy="3647712"/>
          </a:xfrm>
          <a:prstGeom prst="rect">
            <a:avLst/>
          </a:prstGeom>
        </p:spPr>
      </p:pic>
      <p:sp>
        <p:nvSpPr>
          <p:cNvPr id="6" name="スライド番号プレースホルダー 5">
            <a:extLst>
              <a:ext uri="{FF2B5EF4-FFF2-40B4-BE49-F238E27FC236}">
                <a16:creationId xmlns:a16="http://schemas.microsoft.com/office/drawing/2014/main" id="{FBC6CD1B-D56B-A1BE-C13C-08DE136F3027}"/>
              </a:ext>
            </a:extLst>
          </p:cNvPr>
          <p:cNvSpPr>
            <a:spLocks noGrp="1"/>
          </p:cNvSpPr>
          <p:nvPr>
            <p:ph type="sldNum" sz="quarter" idx="12"/>
          </p:nvPr>
        </p:nvSpPr>
        <p:spPr/>
        <p:txBody>
          <a:bodyPr/>
          <a:lstStyle/>
          <a:p>
            <a:fld id="{F9D186E6-336C-46FC-92C1-3353550E4494}" type="slidenum">
              <a:rPr kumimoji="1" lang="ja-JP" altLang="en-US" sz="4000" smtClean="0"/>
              <a:t>14</a:t>
            </a:fld>
            <a:endParaRPr kumimoji="1" lang="ja-JP" altLang="en-US" sz="4000" dirty="0"/>
          </a:p>
        </p:txBody>
      </p:sp>
    </p:spTree>
    <p:extLst>
      <p:ext uri="{BB962C8B-B14F-4D97-AF65-F5344CB8AC3E}">
        <p14:creationId xmlns:p14="http://schemas.microsoft.com/office/powerpoint/2010/main" val="577268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4">
            <a:extLst>
              <a:ext uri="{FF2B5EF4-FFF2-40B4-BE49-F238E27FC236}">
                <a16:creationId xmlns:a16="http://schemas.microsoft.com/office/drawing/2014/main" id="{2F614E72-032B-5556-5830-AB2E40F49729}"/>
              </a:ext>
            </a:extLst>
          </p:cNvPr>
          <p:cNvSpPr>
            <a:spLocks noGrp="1"/>
          </p:cNvSpPr>
          <p:nvPr>
            <p:ph idx="1"/>
          </p:nvPr>
        </p:nvSpPr>
        <p:spPr>
          <a:xfrm>
            <a:off x="838200" y="1097279"/>
            <a:ext cx="10515600" cy="5079683"/>
          </a:xfrm>
        </p:spPr>
        <p:txBody>
          <a:bodyPr>
            <a:normAutofit lnSpcReduction="10000"/>
          </a:bodyPr>
          <a:lstStyle/>
          <a:p>
            <a:pPr marL="0" indent="0">
              <a:buNone/>
            </a:pPr>
            <a:r>
              <a:rPr lang="ja-JP" altLang="en-US" sz="4000" dirty="0"/>
              <a:t>まとめ</a:t>
            </a:r>
            <a:endParaRPr lang="en-US" altLang="ja-JP" sz="4000" dirty="0"/>
          </a:p>
          <a:p>
            <a:r>
              <a:rPr lang="ja-JP" altLang="en-US" dirty="0"/>
              <a:t>髭密度マップを用いて、皮膚の不均質性を </a:t>
            </a:r>
            <a:r>
              <a:rPr lang="en-US" altLang="ja-JP" dirty="0"/>
              <a:t>BSSRDF </a:t>
            </a:r>
            <a:r>
              <a:rPr lang="ja-JP" altLang="en-US" dirty="0"/>
              <a:t>の枠組みで表現する手法を提案した</a:t>
            </a:r>
            <a:endParaRPr lang="en-US" altLang="ja-JP" dirty="0"/>
          </a:p>
          <a:p>
            <a:r>
              <a:rPr lang="ja-JP" altLang="en-US" dirty="0"/>
              <a:t>幾何的な髭モデルを用いずに、</a:t>
            </a:r>
            <a:br>
              <a:rPr lang="ja-JP" altLang="en-US" dirty="0"/>
            </a:br>
            <a:r>
              <a:rPr lang="ja-JP" altLang="en-US" dirty="0"/>
              <a:t>髭の影響を考慮した皮膚表現が可能であることを示した</a:t>
            </a:r>
            <a:endParaRPr lang="en-US" altLang="ja-JP" dirty="0"/>
          </a:p>
          <a:p>
            <a:pPr marL="0" indent="0">
              <a:buNone/>
            </a:pPr>
            <a:endParaRPr lang="en-US" altLang="ja-JP" dirty="0"/>
          </a:p>
          <a:p>
            <a:pPr marL="0" indent="0">
              <a:buNone/>
            </a:pPr>
            <a:endParaRPr lang="en-US" altLang="ja-JP" dirty="0"/>
          </a:p>
          <a:p>
            <a:pPr marL="0" indent="0">
              <a:buNone/>
            </a:pPr>
            <a:r>
              <a:rPr lang="ja-JP" altLang="en-US" sz="4000" dirty="0"/>
              <a:t>今後の展望</a:t>
            </a:r>
            <a:endParaRPr lang="en-US" altLang="ja-JP" dirty="0"/>
          </a:p>
          <a:p>
            <a:r>
              <a:rPr lang="ja-JP" altLang="en-US" dirty="0"/>
              <a:t>高次元な要素への対応</a:t>
            </a:r>
            <a:endParaRPr lang="en-US" altLang="ja-JP" dirty="0"/>
          </a:p>
          <a:p>
            <a:r>
              <a:rPr lang="ja-JP" altLang="en-US" dirty="0"/>
              <a:t>他部位、他要素への拡張</a:t>
            </a:r>
            <a:endParaRPr lang="en-US" altLang="ja-JP" dirty="0"/>
          </a:p>
          <a:p>
            <a:pPr marL="0" indent="0">
              <a:buNone/>
            </a:pPr>
            <a:endParaRPr lang="ja-JP" altLang="en-US" dirty="0"/>
          </a:p>
        </p:txBody>
      </p:sp>
      <p:sp>
        <p:nvSpPr>
          <p:cNvPr id="7" name="スライド番号プレースホルダー 6">
            <a:extLst>
              <a:ext uri="{FF2B5EF4-FFF2-40B4-BE49-F238E27FC236}">
                <a16:creationId xmlns:a16="http://schemas.microsoft.com/office/drawing/2014/main" id="{A796EC5F-48FF-974D-E0B9-670C6DA1A8C9}"/>
              </a:ext>
            </a:extLst>
          </p:cNvPr>
          <p:cNvSpPr>
            <a:spLocks noGrp="1"/>
          </p:cNvSpPr>
          <p:nvPr>
            <p:ph type="sldNum" sz="quarter" idx="12"/>
          </p:nvPr>
        </p:nvSpPr>
        <p:spPr/>
        <p:txBody>
          <a:bodyPr/>
          <a:lstStyle/>
          <a:p>
            <a:fld id="{F9D186E6-336C-46FC-92C1-3353550E4494}" type="slidenum">
              <a:rPr kumimoji="1" lang="ja-JP" altLang="en-US" sz="4000" smtClean="0"/>
              <a:t>15</a:t>
            </a:fld>
            <a:endParaRPr kumimoji="1" lang="ja-JP" altLang="en-US" sz="4000" dirty="0"/>
          </a:p>
        </p:txBody>
      </p:sp>
    </p:spTree>
    <p:extLst>
      <p:ext uri="{BB962C8B-B14F-4D97-AF65-F5344CB8AC3E}">
        <p14:creationId xmlns:p14="http://schemas.microsoft.com/office/powerpoint/2010/main" val="157540359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131654</TotalTime>
  <Words>2462</Words>
  <Application>Microsoft Office PowerPoint</Application>
  <PresentationFormat>ワイド画面</PresentationFormat>
  <Paragraphs>224</Paragraphs>
  <Slides>15</Slides>
  <Notes>15</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游ゴシック</vt:lpstr>
      <vt:lpstr>游ゴシック Light</vt:lpstr>
      <vt:lpstr>Arial</vt:lpstr>
      <vt:lpstr>Cambria Math</vt:lpstr>
      <vt:lpstr>Office テーマ</vt:lpstr>
      <vt:lpstr>髭密度マップを用いた 皮膚の不均質性の再現</vt:lpstr>
      <vt:lpstr>研究動機</vt:lpstr>
      <vt:lpstr>研究動機</vt:lpstr>
      <vt:lpstr>反射特性</vt:lpstr>
      <vt:lpstr>表面下散乱 （Sub Surface Scattering ,SSS）</vt:lpstr>
      <vt:lpstr>BSSRDF </vt:lpstr>
      <vt:lpstr>関連研究</vt:lpstr>
      <vt:lpstr>提案手法：全体の流れ</vt:lpstr>
      <vt:lpstr>BSSRDF混合</vt:lpstr>
      <vt:lpstr>定式化 </vt:lpstr>
      <vt:lpstr>結果比較</vt:lpstr>
      <vt:lpstr>検証方針</vt:lpstr>
      <vt:lpstr>評価方法　（R_d(r) 計測）</vt:lpstr>
      <vt:lpstr>検証結果と考察： （表面下散乱分布の比較）</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RAIKA YAMAMOTO</dc:creator>
  <cp:lastModifiedBy>RAIKA YAMAMOTO</cp:lastModifiedBy>
  <cp:revision>19</cp:revision>
  <dcterms:created xsi:type="dcterms:W3CDTF">2025-06-20T03:30:57Z</dcterms:created>
  <dcterms:modified xsi:type="dcterms:W3CDTF">2026-02-03T18:52:46Z</dcterms:modified>
</cp:coreProperties>
</file>