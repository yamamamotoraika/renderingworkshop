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1" r:id="rId3"/>
    <p:sldId id="273" r:id="rId4"/>
    <p:sldId id="257" r:id="rId5"/>
    <p:sldId id="258" r:id="rId6"/>
    <p:sldId id="266" r:id="rId7"/>
    <p:sldId id="284" r:id="rId8"/>
    <p:sldId id="286" r:id="rId9"/>
    <p:sldId id="275" r:id="rId10"/>
    <p:sldId id="278" r:id="rId11"/>
    <p:sldId id="285" r:id="rId12"/>
    <p:sldId id="279" r:id="rId13"/>
    <p:sldId id="280" r:id="rId14"/>
    <p:sldId id="288" r:id="rId15"/>
    <p:sldId id="290"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2670" autoAdjust="0"/>
  </p:normalViewPr>
  <p:slideViewPr>
    <p:cSldViewPr snapToGrid="0">
      <p:cViewPr varScale="1">
        <p:scale>
          <a:sx n="59" d="100"/>
          <a:sy n="59" d="100"/>
        </p:scale>
        <p:origin x="1570"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FFB22-E9B8-4BB2-B185-1521F81AE3F0}" type="datetimeFigureOut">
              <a:rPr kumimoji="1" lang="ja-JP" altLang="en-US" smtClean="0"/>
              <a:t>2026/2/3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F6BBB-7673-494F-8505-704B89C97274}" type="slidenum">
              <a:rPr kumimoji="1" lang="ja-JP" altLang="en-US" smtClean="0"/>
              <a:t>‹#›</a:t>
            </a:fld>
            <a:endParaRPr kumimoji="1" lang="ja-JP" altLang="en-US"/>
          </a:p>
        </p:txBody>
      </p:sp>
    </p:spTree>
    <p:extLst>
      <p:ext uri="{BB962C8B-B14F-4D97-AF65-F5344CB8AC3E}">
        <p14:creationId xmlns:p14="http://schemas.microsoft.com/office/powerpoint/2010/main" val="22144490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1</a:t>
            </a:r>
            <a:r>
              <a:rPr kumimoji="1" lang="ja-JP" altLang="en-US" dirty="0"/>
              <a:t>枚目）</a:t>
            </a:r>
            <a:br>
              <a:rPr kumimoji="1" lang="en-US" altLang="ja-JP" dirty="0"/>
            </a:br>
            <a:r>
              <a:rPr kumimoji="1" lang="en-US" altLang="ja-JP" dirty="0"/>
              <a:t>CG</a:t>
            </a:r>
            <a:r>
              <a:rPr kumimoji="1" lang="ja-JP" altLang="en-US" dirty="0"/>
              <a:t>研学部</a:t>
            </a:r>
            <a:r>
              <a:rPr kumimoji="1" lang="en-US" altLang="ja-JP" dirty="0"/>
              <a:t>4</a:t>
            </a:r>
            <a:r>
              <a:rPr kumimoji="1" lang="ja-JP" altLang="en-US" dirty="0"/>
              <a:t>年のヤマモトライカです。</a:t>
            </a:r>
            <a:endParaRPr kumimoji="1" lang="en-US" altLang="ja-JP" dirty="0"/>
          </a:p>
          <a:p>
            <a:r>
              <a:rPr kumimoji="1" lang="ja-JP" altLang="en-US" dirty="0"/>
              <a:t>髭密度マップを用いた</a:t>
            </a:r>
            <a:r>
              <a:rPr kumimoji="1" lang="ja-JP" altLang="en-US" sz="1100" dirty="0"/>
              <a:t>皮膚の不均質性の再現</a:t>
            </a:r>
            <a:r>
              <a:rPr kumimoji="1" lang="ja-JP" altLang="en-US" sz="1200" dirty="0"/>
              <a:t>というタイトルで発表させていただきます。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本日はよろしくお願いします。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a:t>
            </a:fld>
            <a:endParaRPr kumimoji="1" lang="ja-JP" altLang="en-US"/>
          </a:p>
        </p:txBody>
      </p:sp>
    </p:spTree>
    <p:extLst>
      <p:ext uri="{BB962C8B-B14F-4D97-AF65-F5344CB8AC3E}">
        <p14:creationId xmlns:p14="http://schemas.microsoft.com/office/powerpoint/2010/main" val="1397404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2</a:t>
            </a:r>
            <a:r>
              <a:rPr kumimoji="1" lang="ja-JP" altLang="en-US" dirty="0"/>
              <a:t>枚目）</a:t>
            </a:r>
            <a:br>
              <a:rPr kumimoji="1" lang="en-US" altLang="ja-JP" dirty="0"/>
            </a:br>
            <a:r>
              <a:rPr kumimoji="1" lang="ja-JP" altLang="en-US" dirty="0"/>
              <a:t>まず研究動機についてです。</a:t>
            </a:r>
            <a:endParaRPr kumimoji="1" lang="en-US" altLang="ja-JP" dirty="0"/>
          </a:p>
          <a:p>
            <a:endParaRPr kumimoji="1" lang="en-US" altLang="ja-JP" dirty="0"/>
          </a:p>
          <a:p>
            <a:r>
              <a:rPr kumimoji="1" lang="ja-JP" altLang="en-US" dirty="0"/>
              <a:t>人の第一印象のうち、大きな影響を与えるのは視覚です。そして人間というのは大部分が皮膚で覆われており、当然それらの状態は見た目にも大きな影響をあたえます。</a:t>
            </a:r>
            <a:endParaRPr kumimoji="1" lang="en-US" altLang="ja-JP" dirty="0"/>
          </a:p>
          <a:p>
            <a:endParaRPr kumimoji="1" lang="en-US" altLang="ja-JP" dirty="0"/>
          </a:p>
          <a:p>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2</a:t>
            </a:fld>
            <a:endParaRPr kumimoji="1" lang="ja-JP" altLang="en-US"/>
          </a:p>
        </p:txBody>
      </p:sp>
    </p:spTree>
    <p:extLst>
      <p:ext uri="{BB962C8B-B14F-4D97-AF65-F5344CB8AC3E}">
        <p14:creationId xmlns:p14="http://schemas.microsoft.com/office/powerpoint/2010/main" val="1704455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（３枚目）</a:t>
            </a:r>
            <a:endParaRPr lang="en-US" altLang="ja-JP" dirty="0"/>
          </a:p>
          <a:p>
            <a:r>
              <a:rPr lang="ja-JP" altLang="en-US" dirty="0"/>
              <a:t>肌は均一な表面ではなく、色素の分布や毛穴、髭の密度など、その内部構造が部位ごとに異なる性質を持っています。</a:t>
            </a:r>
          </a:p>
          <a:p>
            <a:r>
              <a:rPr lang="ja-JP" altLang="en-US" dirty="0"/>
              <a:t>そうした内部構造の違いが、血色の差のように、視覚的な違いとして現れます。。</a:t>
            </a:r>
          </a:p>
          <a:p>
            <a:r>
              <a:rPr lang="ja-JP" altLang="en-US" dirty="0"/>
              <a:t>本研究では、</a:t>
            </a:r>
            <a:r>
              <a:rPr lang="ja-JP" altLang="en-US" b="1" dirty="0"/>
              <a:t>レンダリングにて</a:t>
            </a:r>
            <a:r>
              <a:rPr lang="ja-JP" altLang="en-US" dirty="0"/>
              <a:t>そうした</a:t>
            </a:r>
            <a:r>
              <a:rPr lang="ja-JP" altLang="en-US" b="1" dirty="0"/>
              <a:t>内部構造の違いによって生まれる皮膚の不均質性を、</a:t>
            </a:r>
            <a:r>
              <a:rPr lang="ja-JP" altLang="en-US" dirty="0"/>
              <a:t>特に髭に着目して取り組んでいます。</a:t>
            </a:r>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3</a:t>
            </a:fld>
            <a:endParaRPr kumimoji="1" lang="ja-JP" altLang="en-US"/>
          </a:p>
        </p:txBody>
      </p:sp>
    </p:spTree>
    <p:extLst>
      <p:ext uri="{BB962C8B-B14F-4D97-AF65-F5344CB8AC3E}">
        <p14:creationId xmlns:p14="http://schemas.microsoft.com/office/powerpoint/2010/main" val="1398274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4</a:t>
            </a:r>
            <a:r>
              <a:rPr kumimoji="1" lang="ja-JP" altLang="en-US" dirty="0"/>
              <a:t>枚目）</a:t>
            </a:r>
            <a:endParaRPr kumimoji="1" lang="en-US" altLang="ja-JP" dirty="0"/>
          </a:p>
          <a:p>
            <a:r>
              <a:rPr kumimoji="1" lang="ja-JP" altLang="en-US" dirty="0"/>
              <a:t>レンダリングを行う上で重要な要素の</a:t>
            </a:r>
            <a:r>
              <a:rPr kumimoji="1" lang="en-US" altLang="ja-JP" dirty="0"/>
              <a:t>1</a:t>
            </a:r>
            <a:r>
              <a:rPr kumimoji="1" lang="ja-JP" altLang="en-US" dirty="0"/>
              <a:t>つとしてあげられるのが物体表面での光の反射特性です。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物体表面に衝突した光の振る舞いによって、物体そのものの見え方、印象は大きく変わります。</a:t>
            </a:r>
            <a:endParaRPr kumimoji="1" lang="en-US" altLang="ja-JP" dirty="0"/>
          </a:p>
          <a:p>
            <a:endParaRPr kumimoji="1" lang="en-US" altLang="ja-JP" dirty="0"/>
          </a:p>
          <a:p>
            <a:r>
              <a:rPr kumimoji="1" lang="ja-JP" altLang="en-US" dirty="0"/>
              <a:t>そのような光の振る舞いを表現する際によく用いられる計算モデルの</a:t>
            </a:r>
            <a:r>
              <a:rPr kumimoji="1" lang="en-US" altLang="ja-JP" dirty="0"/>
              <a:t>1</a:t>
            </a:r>
            <a:r>
              <a:rPr kumimoji="1" lang="ja-JP" altLang="en-US" dirty="0"/>
              <a:t>つが</a:t>
            </a:r>
            <a:r>
              <a:rPr kumimoji="1" lang="en-US" altLang="ja-JP" dirty="0"/>
              <a:t>BRDF</a:t>
            </a:r>
            <a:r>
              <a:rPr kumimoji="1" lang="ja-JP" altLang="en-US" dirty="0"/>
              <a:t>です。</a:t>
            </a:r>
            <a:endParaRPr kumimoji="1" lang="en-US" altLang="ja-JP" dirty="0"/>
          </a:p>
          <a:p>
            <a:r>
              <a:rPr kumimoji="1" lang="ja-JP" altLang="en-US" sz="1200" b="0" i="0" kern="1200" dirty="0">
                <a:solidFill>
                  <a:schemeClr val="tx1"/>
                </a:solidFill>
                <a:effectLst/>
                <a:latin typeface="+mn-lt"/>
                <a:ea typeface="+mn-ea"/>
                <a:cs typeface="+mn-cs"/>
              </a:rPr>
              <a:t>直感的に説明するならば、物体表面での光の散らばり具合を表した式になります。</a:t>
            </a:r>
            <a:br>
              <a:rPr kumimoji="1" lang="en-US" altLang="ja-JP" sz="1200" b="0" i="0" kern="1200" dirty="0">
                <a:solidFill>
                  <a:schemeClr val="tx1"/>
                </a:solidFill>
                <a:effectLst/>
                <a:latin typeface="+mn-lt"/>
                <a:ea typeface="+mn-ea"/>
                <a:cs typeface="+mn-cs"/>
              </a:rPr>
            </a:br>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4</a:t>
            </a:fld>
            <a:endParaRPr kumimoji="1" lang="ja-JP" altLang="en-US"/>
          </a:p>
        </p:txBody>
      </p:sp>
    </p:spTree>
    <p:extLst>
      <p:ext uri="{BB962C8B-B14F-4D97-AF65-F5344CB8AC3E}">
        <p14:creationId xmlns:p14="http://schemas.microsoft.com/office/powerpoint/2010/main" val="2476542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（５枚目）</a:t>
            </a:r>
            <a:endParaRPr lang="en-US" altLang="ja-JP" dirty="0"/>
          </a:p>
          <a:p>
            <a:pPr>
              <a:buNone/>
            </a:pPr>
            <a:r>
              <a:rPr lang="ja-JP" altLang="en-US" dirty="0"/>
              <a:t>体表面の光の振る舞いの中でも、実際の皮膚で見られる現象として表面下散乱というものがあります。</a:t>
            </a:r>
          </a:p>
          <a:p>
            <a:pPr>
              <a:buNone/>
            </a:pPr>
            <a:r>
              <a:rPr lang="ja-JP" altLang="en-US" dirty="0"/>
              <a:t>表面下散乱とは、スライド右の図にあるように、</a:t>
            </a:r>
            <a:r>
              <a:rPr lang="ja-JP" altLang="en-US" b="1" dirty="0"/>
              <a:t>物体の表面から入射した光が、内部で散乱を繰り返したのち、異なる位置から出射してくる</a:t>
            </a:r>
            <a:r>
              <a:rPr lang="ja-JP" altLang="en-US" dirty="0"/>
              <a:t>という現象を指します。</a:t>
            </a:r>
          </a:p>
          <a:p>
            <a:pPr>
              <a:buNone/>
            </a:pPr>
            <a:r>
              <a:rPr lang="ja-JP" altLang="en-US" dirty="0"/>
              <a:t>このような光の振る舞いは、私たちの身の回りのさまざまな物体で見られます。</a:t>
            </a:r>
          </a:p>
          <a:p>
            <a:pPr>
              <a:buNone/>
            </a:pPr>
            <a:r>
              <a:rPr lang="ja-JP" altLang="en-US" dirty="0"/>
              <a:t>しかし、こうした</a:t>
            </a:r>
            <a:r>
              <a:rPr lang="ja-JP" altLang="en-US" b="1" dirty="0"/>
              <a:t>入射点と出射点が異なる</a:t>
            </a:r>
            <a:r>
              <a:rPr lang="ja-JP" altLang="en-US" dirty="0"/>
              <a:t>性質は、従来の</a:t>
            </a:r>
            <a:r>
              <a:rPr lang="en-US" altLang="ja-JP" dirty="0"/>
              <a:t>BRDF</a:t>
            </a:r>
            <a:r>
              <a:rPr lang="ja-JP" altLang="en-US" dirty="0"/>
              <a:t>（</a:t>
            </a:r>
            <a:r>
              <a:rPr lang="en-US" altLang="ja-JP" dirty="0"/>
              <a:t>Bidirectional Reflectance Distribution Function</a:t>
            </a:r>
            <a:r>
              <a:rPr lang="ja-JP" altLang="en-US" dirty="0"/>
              <a:t>）では扱うことができません。</a:t>
            </a:r>
            <a:br>
              <a:rPr lang="ja-JP" altLang="en-US" dirty="0"/>
            </a:br>
            <a:r>
              <a:rPr lang="ja-JP" altLang="en-US" dirty="0"/>
              <a:t>そこで、このような物理的現象を正しく扱うために必要となるのが、**</a:t>
            </a:r>
            <a:r>
              <a:rPr lang="en-US" altLang="ja-JP" dirty="0"/>
              <a:t>BSSRDF</a:t>
            </a:r>
            <a:r>
              <a:rPr lang="ja-JP" altLang="en-US" dirty="0"/>
              <a:t>（後ほど詳しく紹介します）**というより高度な反射モデルです。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5</a:t>
            </a:fld>
            <a:endParaRPr kumimoji="1" lang="ja-JP" altLang="en-US"/>
          </a:p>
        </p:txBody>
      </p:sp>
    </p:spTree>
    <p:extLst>
      <p:ext uri="{BB962C8B-B14F-4D97-AF65-F5344CB8AC3E}">
        <p14:creationId xmlns:p14="http://schemas.microsoft.com/office/powerpoint/2010/main" val="1301031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ja-JP" altLang="en-US" b="1" dirty="0"/>
              <a:t>（</a:t>
            </a:r>
            <a:r>
              <a:rPr lang="en-US" altLang="ja-JP" b="1" dirty="0"/>
              <a:t>6</a:t>
            </a:r>
            <a:r>
              <a:rPr lang="ja-JP" altLang="en-US" b="1" dirty="0"/>
              <a:t>枚目）</a:t>
            </a:r>
            <a:endParaRPr lang="en-US" altLang="ja-JP" b="1" dirty="0"/>
          </a:p>
          <a:p>
            <a:pPr marL="0" indent="0">
              <a:buNone/>
            </a:pPr>
            <a:r>
              <a:rPr lang="en-US" altLang="ja-JP" b="1" dirty="0"/>
              <a:t>BSSRDF</a:t>
            </a:r>
            <a:br>
              <a:rPr lang="en-US" altLang="ja-JP" b="1" dirty="0"/>
            </a:br>
            <a:r>
              <a:rPr lang="ja-JP" altLang="en-US" dirty="0"/>
              <a:t>表面下散乱を取り扱える反射モデルです。</a:t>
            </a:r>
            <a:endParaRPr lang="en-US" altLang="ja-JP" b="1" dirty="0"/>
          </a:p>
          <a:p>
            <a:pPr>
              <a:buNone/>
            </a:pPr>
            <a:r>
              <a:rPr lang="ja-JP" altLang="en-US" dirty="0"/>
              <a:t>通常の</a:t>
            </a:r>
            <a:r>
              <a:rPr lang="en-US" altLang="ja-JP" dirty="0"/>
              <a:t>BRDF</a:t>
            </a:r>
            <a:r>
              <a:rPr lang="ja-JP" altLang="en-US" dirty="0"/>
              <a:t>では、光が入ってきた点と出ていく点が同一であることを前提としていますが、</a:t>
            </a:r>
            <a:br>
              <a:rPr lang="ja-JP" altLang="en-US" dirty="0"/>
            </a:br>
            <a:r>
              <a:rPr lang="en-US" altLang="ja-JP" dirty="0"/>
              <a:t>BSSRDF</a:t>
            </a:r>
            <a:r>
              <a:rPr lang="ja-JP" altLang="en-US" dirty="0"/>
              <a:t>は、</a:t>
            </a:r>
            <a:r>
              <a:rPr lang="ja-JP" altLang="en-US" u="sng" dirty="0"/>
              <a:t>異なる位置間の光のやり取り</a:t>
            </a:r>
            <a:r>
              <a:rPr lang="ja-JP" altLang="en-US" dirty="0"/>
              <a:t>を扱えます。</a:t>
            </a:r>
            <a:endParaRPr lang="en-US" altLang="ja-JP" dirty="0"/>
          </a:p>
          <a:p>
            <a:pPr>
              <a:buNone/>
            </a:pPr>
            <a:endParaRPr lang="ja-JP" altLang="en-US" dirty="0"/>
          </a:p>
          <a:p>
            <a:pPr>
              <a:buNone/>
            </a:pPr>
            <a:r>
              <a:rPr lang="ja-JP" altLang="en-US" dirty="0"/>
              <a:t>画面下の比較画像をご覧いただくと、左の</a:t>
            </a:r>
            <a:r>
              <a:rPr lang="en-US" altLang="ja-JP" dirty="0"/>
              <a:t>BRDF</a:t>
            </a:r>
            <a:r>
              <a:rPr lang="ja-JP" altLang="en-US" dirty="0"/>
              <a:t>では硬くのっぺりしていますが、</a:t>
            </a:r>
            <a:br>
              <a:rPr lang="ja-JP" altLang="en-US" dirty="0"/>
            </a:br>
            <a:r>
              <a:rPr lang="ja-JP" altLang="en-US" dirty="0"/>
              <a:t>右の</a:t>
            </a:r>
            <a:r>
              <a:rPr lang="en-US" altLang="ja-JP" dirty="0"/>
              <a:t>BSSRDF</a:t>
            </a:r>
            <a:r>
              <a:rPr lang="ja-JP" altLang="en-US" dirty="0"/>
              <a:t>では光が柔らかく肌の内部に広がるような表現がされています。</a:t>
            </a:r>
          </a:p>
          <a:p>
            <a:r>
              <a:rPr lang="ja-JP" altLang="en-US" dirty="0"/>
              <a:t>★ 本研究でも、この </a:t>
            </a:r>
            <a:r>
              <a:rPr lang="en-US" altLang="ja-JP" dirty="0"/>
              <a:t>BSSRDF </a:t>
            </a:r>
            <a:r>
              <a:rPr lang="ja-JP" altLang="en-US" dirty="0"/>
              <a:t>を皮膚のベースのモデルとして用います。</a:t>
            </a:r>
            <a:br>
              <a:rPr lang="ja-JP" altLang="en-US" dirty="0"/>
            </a:br>
            <a:br>
              <a:rPr lang="en-US" altLang="ja-JP" dirty="0"/>
            </a:br>
            <a:br>
              <a:rPr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6F018766-D927-423C-997B-33B886F71A70}" type="slidenum">
              <a:rPr kumimoji="1" lang="ja-JP" altLang="en-US" smtClean="0"/>
              <a:t>6</a:t>
            </a:fld>
            <a:endParaRPr kumimoji="1" lang="ja-JP" altLang="en-US"/>
          </a:p>
        </p:txBody>
      </p:sp>
    </p:spTree>
    <p:extLst>
      <p:ext uri="{BB962C8B-B14F-4D97-AF65-F5344CB8AC3E}">
        <p14:creationId xmlns:p14="http://schemas.microsoft.com/office/powerpoint/2010/main" val="3923446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a:t>
            </a:r>
            <a:r>
              <a:rPr lang="en-US" altLang="ja-JP" dirty="0"/>
              <a:t>7</a:t>
            </a:r>
            <a:r>
              <a:rPr lang="ja-JP" altLang="en-US" dirty="0"/>
              <a:t>枚目）</a:t>
            </a:r>
            <a:endParaRPr lang="en-US" altLang="ja-JP" dirty="0"/>
          </a:p>
          <a:p>
            <a:r>
              <a:rPr lang="ja-JP" altLang="en-US" dirty="0"/>
              <a:t>皮膚の不均質性そのものについては、</a:t>
            </a:r>
            <a:br>
              <a:rPr lang="ja-JP" altLang="en-US" dirty="0"/>
            </a:br>
            <a:r>
              <a:rPr lang="ja-JP" altLang="en-US" dirty="0"/>
              <a:t>これまでにもいくつかの研究が行われています。</a:t>
            </a:r>
          </a:p>
          <a:p>
            <a:r>
              <a:rPr lang="ja-JP" altLang="en-US" dirty="0"/>
              <a:t>例えば </a:t>
            </a:r>
            <a:r>
              <a:rPr lang="en-US" altLang="ja-JP" dirty="0"/>
              <a:t>2008 </a:t>
            </a:r>
            <a:r>
              <a:rPr lang="ja-JP" altLang="en-US" dirty="0"/>
              <a:t>年の </a:t>
            </a:r>
            <a:r>
              <a:rPr lang="en-US" altLang="ja-JP" dirty="0"/>
              <a:t>Donner </a:t>
            </a:r>
            <a:r>
              <a:rPr lang="ja-JP" altLang="en-US" dirty="0"/>
              <a:t>らの研究では、</a:t>
            </a:r>
            <a:br>
              <a:rPr lang="ja-JP" altLang="en-US" dirty="0"/>
            </a:br>
            <a:r>
              <a:rPr lang="ja-JP" altLang="en-US" dirty="0"/>
              <a:t>皮膚を複数の層としてモデル化し、</a:t>
            </a:r>
            <a:br>
              <a:rPr lang="ja-JP" altLang="en-US" dirty="0"/>
            </a:br>
            <a:r>
              <a:rPr lang="ja-JP" altLang="en-US" dirty="0"/>
              <a:t>層ごとの特性差によって不均質性を表現しています。</a:t>
            </a:r>
          </a:p>
          <a:p>
            <a:r>
              <a:rPr lang="ja-JP" altLang="en-US" dirty="0"/>
              <a:t>また、</a:t>
            </a:r>
            <a:r>
              <a:rPr lang="en-US" altLang="ja-JP" dirty="0"/>
              <a:t>2009 </a:t>
            </a:r>
            <a:r>
              <a:rPr lang="ja-JP" altLang="en-US" dirty="0"/>
              <a:t>年の研究では、</a:t>
            </a:r>
            <a:br>
              <a:rPr lang="ja-JP" altLang="en-US" dirty="0"/>
            </a:br>
            <a:r>
              <a:rPr lang="ja-JP" altLang="en-US" dirty="0"/>
              <a:t>多層構造を用いて皮膚内部の異方性散乱や</a:t>
            </a:r>
            <a:br>
              <a:rPr lang="ja-JP" altLang="en-US" dirty="0"/>
            </a:br>
            <a:r>
              <a:rPr lang="ja-JP" altLang="en-US" dirty="0"/>
              <a:t>不均一性を表現しています。</a:t>
            </a:r>
          </a:p>
          <a:p>
            <a:r>
              <a:rPr lang="ja-JP" altLang="en-US" dirty="0"/>
              <a:t>ただし、これらはいずれも</a:t>
            </a:r>
            <a:br>
              <a:rPr lang="ja-JP" altLang="en-US" dirty="0"/>
            </a:br>
            <a:r>
              <a:rPr lang="ja-JP" altLang="en-US" dirty="0"/>
              <a:t>髭のような局所的で高密度な要素が</a:t>
            </a:r>
            <a:br>
              <a:rPr lang="ja-JP" altLang="en-US" dirty="0"/>
            </a:br>
            <a:r>
              <a:rPr lang="ja-JP" altLang="en-US" dirty="0"/>
              <a:t>表面下散乱に与える影響を</a:t>
            </a:r>
            <a:br>
              <a:rPr lang="ja-JP" altLang="en-US" dirty="0"/>
            </a:br>
            <a:r>
              <a:rPr lang="ja-JP" altLang="en-US" dirty="0"/>
              <a:t>明示的に扱ったものではありません。</a:t>
            </a:r>
          </a:p>
          <a:p>
            <a:br>
              <a:rPr lang="ja-JP" altLang="en-US" dirty="0"/>
            </a:br>
            <a:r>
              <a:rPr lang="ja-JP" altLang="en-US" dirty="0"/>
              <a:t>そこで 本研究では</a:t>
            </a:r>
            <a:r>
              <a:rPr lang="en-US" altLang="ja-JP" dirty="0"/>
              <a:t>BSSRDF </a:t>
            </a:r>
            <a:r>
              <a:rPr lang="ja-JP" altLang="en-US" dirty="0"/>
              <a:t>の枠組みを保ったまま、髭の有無や濃さを位置ごとのパラメータとして組み込むことを考えました。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7</a:t>
            </a:fld>
            <a:endParaRPr kumimoji="1" lang="ja-JP" altLang="en-US"/>
          </a:p>
        </p:txBody>
      </p:sp>
    </p:spTree>
    <p:extLst>
      <p:ext uri="{BB962C8B-B14F-4D97-AF65-F5344CB8AC3E}">
        <p14:creationId xmlns:p14="http://schemas.microsoft.com/office/powerpoint/2010/main" val="3732031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a:t>
            </a:r>
            <a:r>
              <a:rPr lang="en-US" altLang="ja-JP" dirty="0"/>
              <a:t>8</a:t>
            </a:r>
            <a:r>
              <a:rPr lang="ja-JP" altLang="en-US" dirty="0"/>
              <a:t>枚目）</a:t>
            </a:r>
            <a:endParaRPr lang="en-US" altLang="ja-JP" dirty="0"/>
          </a:p>
          <a:p>
            <a:r>
              <a:rPr lang="ja-JP" altLang="en-US" dirty="0"/>
              <a:t>次に、</a:t>
            </a:r>
            <a:br>
              <a:rPr lang="ja-JP" altLang="en-US" dirty="0"/>
            </a:br>
            <a:r>
              <a:rPr lang="ja-JP" altLang="en-US" dirty="0"/>
              <a:t>本研究で実装した</a:t>
            </a:r>
            <a:br>
              <a:rPr lang="ja-JP" altLang="en-US" dirty="0"/>
            </a:br>
            <a:r>
              <a:rPr lang="ja-JP" altLang="en-US" dirty="0"/>
              <a:t>髭密度モデルを用いたレンダリングの全体の流れを示します。</a:t>
            </a:r>
            <a:endParaRPr lang="en-US" altLang="ja-JP" dirty="0"/>
          </a:p>
          <a:p>
            <a:r>
              <a:rPr lang="ja-JP" altLang="en-US" dirty="0"/>
              <a:t>左側が、</a:t>
            </a:r>
            <a:br>
              <a:rPr lang="ja-JP" altLang="en-US" dirty="0"/>
            </a:br>
            <a:r>
              <a:rPr lang="ja-JP" altLang="en-US" dirty="0"/>
              <a:t>一般的な </a:t>
            </a:r>
            <a:r>
              <a:rPr lang="en-US" altLang="ja-JP" dirty="0"/>
              <a:t>BSSRDF </a:t>
            </a:r>
            <a:r>
              <a:rPr lang="ja-JP" altLang="en-US" dirty="0"/>
              <a:t>を用いたレンダリング、</a:t>
            </a:r>
          </a:p>
          <a:p>
            <a:r>
              <a:rPr lang="ja-JP" altLang="en-US" dirty="0"/>
              <a:t>右側が本研究で実装した提案手法です。</a:t>
            </a:r>
            <a:endParaRPr lang="en-US" altLang="ja-JP" dirty="0"/>
          </a:p>
          <a:p>
            <a:r>
              <a:rPr lang="ja-JP" altLang="en-US" dirty="0"/>
              <a:t>皮膚ジオメトリに対して、</a:t>
            </a:r>
            <a:br>
              <a:rPr lang="ja-JP" altLang="en-US" dirty="0"/>
            </a:br>
            <a:r>
              <a:rPr lang="ja-JP" altLang="en-US" dirty="0"/>
              <a:t>あらかじめ作成した</a:t>
            </a:r>
            <a:br>
              <a:rPr lang="ja-JP" altLang="en-US" dirty="0"/>
            </a:br>
            <a:r>
              <a:rPr lang="ja-JP" altLang="en-US" dirty="0"/>
              <a:t>髭密度マップを対応付け、</a:t>
            </a:r>
            <a:br>
              <a:rPr lang="ja-JP" altLang="en-US" dirty="0"/>
            </a:br>
            <a:r>
              <a:rPr lang="ja-JP" altLang="en-US" dirty="0"/>
              <a:t>位置ごとに </a:t>
            </a:r>
            <a:r>
              <a:rPr lang="en-US" altLang="ja-JP" dirty="0"/>
              <a:t>BSSRDF </a:t>
            </a:r>
            <a:r>
              <a:rPr lang="ja-JP" altLang="en-US" dirty="0"/>
              <a:t>混合を行い、皮膚での拡散特性を変化させます。</a:t>
            </a:r>
          </a:p>
          <a:p>
            <a:r>
              <a:rPr lang="ja-JP" altLang="en-US" dirty="0"/>
              <a:t>その結果、レイの衝突位置によって色味が変わる不均質な皮膚表現が可能になります。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8</a:t>
            </a:fld>
            <a:endParaRPr kumimoji="1" lang="ja-JP" altLang="en-US"/>
          </a:p>
        </p:txBody>
      </p:sp>
    </p:spTree>
    <p:extLst>
      <p:ext uri="{BB962C8B-B14F-4D97-AF65-F5344CB8AC3E}">
        <p14:creationId xmlns:p14="http://schemas.microsoft.com/office/powerpoint/2010/main" val="898718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p:cNvSpPr>
                <a:spLocks noGrp="1"/>
              </p:cNvSpPr>
              <p:nvPr>
                <p:ph type="body" idx="1"/>
              </p:nvPr>
            </p:nvSpPr>
            <p:spPr/>
            <p:txBody>
              <a:bodyPr/>
              <a:lstStyle/>
              <a:p>
                <a:r>
                  <a:rPr lang="ja-JP" altLang="en-US" dirty="0"/>
                  <a:t>（</a:t>
                </a:r>
                <a:r>
                  <a:rPr lang="en-US" altLang="ja-JP" dirty="0"/>
                  <a:t>9</a:t>
                </a:r>
                <a:r>
                  <a:rPr lang="ja-JP" altLang="en-US" dirty="0"/>
                  <a:t>枚目）</a:t>
                </a:r>
                <a:endParaRPr lang="en-US" altLang="ja-JP" dirty="0"/>
              </a:p>
              <a:p>
                <a:r>
                  <a:rPr lang="ja-JP" altLang="en-US" dirty="0"/>
                  <a:t>ここから提案手法について説明します。</a:t>
                </a:r>
              </a:p>
              <a:p>
                <a:r>
                  <a:rPr lang="ja-JP" altLang="en-US" dirty="0"/>
                  <a:t>本研究では、髭の影響を</a:t>
                </a:r>
                <a:br>
                  <a:rPr lang="ja-JP" altLang="en-US" dirty="0"/>
                </a:br>
                <a:r>
                  <a:rPr lang="ja-JP" altLang="en-US" dirty="0"/>
                  <a:t>「髭密度マップ」として表現します。</a:t>
                </a:r>
              </a:p>
              <a:p>
                <a:r>
                  <a:rPr lang="ja-JP" altLang="en-US" dirty="0"/>
                  <a:t>顔表面上の各位置 </a:t>
                </a:r>
                <a14:m>
                  <m:oMath xmlns:m="http://schemas.openxmlformats.org/officeDocument/2006/math">
                    <m:r>
                      <a:rPr kumimoji="1" lang="ja-JP" altLang="en-US" sz="1200" i="1" kern="1200">
                        <a:solidFill>
                          <a:schemeClr val="tx1"/>
                        </a:solidFill>
                        <a:latin typeface="+mn-lt"/>
                        <a:ea typeface="+mn-ea"/>
                        <a:cs typeface="+mn-cs"/>
                      </a:rPr>
                      <m:t>𝑥</m:t>
                    </m:r>
                  </m:oMath>
                </a14:m>
                <a:r>
                  <a:rPr lang="ja-JP" altLang="en-US" dirty="0"/>
                  <a:t>に対して</a:t>
                </a:r>
                <a:br>
                  <a:rPr lang="ja-JP" altLang="en-US" dirty="0"/>
                </a:b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mn-lt"/>
                            <a:ea typeface="+mn-ea"/>
                            <a:cs typeface="+mn-cs"/>
                          </a:rPr>
                        </m:ctrlPr>
                      </m:dPr>
                      <m:e>
                        <m:r>
                          <a:rPr kumimoji="1" lang="ja-JP" altLang="en-US" sz="1200" b="0" i="1" kern="1200">
                            <a:solidFill>
                              <a:schemeClr val="tx1"/>
                            </a:solidFill>
                            <a:latin typeface="+mn-lt"/>
                            <a:ea typeface="+mn-ea"/>
                            <a:cs typeface="+mn-cs"/>
                          </a:rPr>
                          <m:t>𝑥</m:t>
                        </m:r>
                      </m:e>
                    </m:d>
                  </m:oMath>
                </a14:m>
                <a:r>
                  <a:rPr lang="ja-JP" altLang="en-US" dirty="0"/>
                  <a:t>という値を定義します。</a:t>
                </a:r>
                <a:br>
                  <a:rPr lang="ja-JP" altLang="en-US" dirty="0"/>
                </a:br>
                <a:r>
                  <a:rPr lang="en-US" altLang="ja-JP" dirty="0"/>
                  <a:t>0 </a:t>
                </a:r>
                <a:r>
                  <a:rPr lang="ja-JP" altLang="en-US" dirty="0"/>
                  <a:t>なら髭がなく、</a:t>
                </a:r>
                <a:r>
                  <a:rPr lang="en-US" altLang="ja-JP" dirty="0"/>
                  <a:t>1 </a:t>
                </a:r>
                <a:r>
                  <a:rPr lang="ja-JP" altLang="en-US" dirty="0"/>
                  <a:t>なら非常に濃い状態を表します。</a:t>
                </a:r>
                <a:endParaRPr lang="en-US" altLang="ja-JP" dirty="0"/>
              </a:p>
              <a:p>
                <a:endParaRPr lang="en-US" altLang="ja-JP" dirty="0"/>
              </a:p>
              <a:p>
                <a:r>
                  <a:rPr lang="ja-JP" altLang="en-US" dirty="0"/>
                  <a:t>マップが白くなっているほど髭が濃くなっているという感じです。</a:t>
                </a:r>
                <a:endParaRPr lang="en-US" altLang="ja-JP" dirty="0"/>
              </a:p>
              <a:p>
                <a:endParaRPr lang="ja-JP" altLang="en-US" dirty="0"/>
              </a:p>
              <a:p>
                <a:r>
                  <a:rPr lang="ja-JP" altLang="en-US" dirty="0"/>
                  <a:t>あらかじめ、</a:t>
                </a:r>
                <a:br>
                  <a:rPr lang="ja-JP" altLang="en-US" dirty="0"/>
                </a:br>
                <a:r>
                  <a:rPr lang="ja-JP" altLang="en-US" dirty="0"/>
                  <a:t>髭のない皮膚と、髭が非常に濃い場合の</a:t>
                </a:r>
                <a:br>
                  <a:rPr lang="ja-JP" altLang="en-US" dirty="0"/>
                </a:br>
                <a:r>
                  <a:rPr lang="en-US" altLang="ja-JP" dirty="0"/>
                  <a:t>2 </a:t>
                </a:r>
                <a:r>
                  <a:rPr lang="ja-JP" altLang="en-US" dirty="0"/>
                  <a:t>種類の </a:t>
                </a:r>
                <a:r>
                  <a:rPr lang="en-US" altLang="ja-JP" dirty="0"/>
                  <a:t>BSSRDF </a:t>
                </a:r>
                <a:r>
                  <a:rPr lang="ja-JP" altLang="en-US" dirty="0"/>
                  <a:t>を用意しておき、</a:t>
                </a:r>
                <a:br>
                  <a:rPr lang="ja-JP" altLang="en-US" dirty="0"/>
                </a:br>
                <a:r>
                  <a:rPr lang="ja-JP" altLang="en-US" dirty="0"/>
                  <a:t>レンダリング時には、</a:t>
                </a:r>
                <a:br>
                  <a:rPr lang="ja-JP" altLang="en-US" dirty="0"/>
                </a:br>
                <a:r>
                  <a:rPr lang="ja-JP" altLang="en-US" dirty="0"/>
                  <a:t>この髭密度に応じて</a:t>
                </a:r>
                <a:br>
                  <a:rPr lang="ja-JP" altLang="en-US" dirty="0"/>
                </a:br>
                <a:r>
                  <a:rPr lang="en-US" altLang="ja-JP" dirty="0"/>
                  <a:t>BSSRDF </a:t>
                </a:r>
                <a:r>
                  <a:rPr lang="ja-JP" altLang="en-US" dirty="0"/>
                  <a:t>の拡散特性そのものを混合します。</a:t>
                </a:r>
              </a:p>
              <a:p>
                <a:r>
                  <a:rPr lang="ja-JP" altLang="en-US" dirty="0"/>
                  <a:t>これにより、</a:t>
                </a:r>
                <a:br>
                  <a:rPr lang="ja-JP" altLang="en-US" dirty="0"/>
                </a:br>
                <a:r>
                  <a:rPr lang="ja-JP" altLang="en-US" dirty="0"/>
                  <a:t>髭の濃い領域ほど</a:t>
                </a:r>
                <a:br>
                  <a:rPr lang="ja-JP" altLang="en-US" dirty="0"/>
                </a:br>
                <a:r>
                  <a:rPr lang="ja-JP" altLang="en-US" dirty="0"/>
                  <a:t>表面下散乱の広がり方が抑制されるような、</a:t>
                </a:r>
                <a:br>
                  <a:rPr lang="ja-JP" altLang="en-US" dirty="0"/>
                </a:br>
                <a:r>
                  <a:rPr lang="ja-JP" altLang="en-US" dirty="0"/>
                  <a:t>不均質な皮膚表現を実現します。</a:t>
                </a:r>
              </a:p>
            </p:txBody>
          </p:sp>
        </mc:Choice>
        <mc:Fallback>
          <p:sp>
            <p:nvSpPr>
              <p:cNvPr id="3" name="ノート プレースホルダー 2"/>
              <p:cNvSpPr>
                <a:spLocks noGrp="1"/>
              </p:cNvSpPr>
              <p:nvPr>
                <p:ph type="body" idx="1"/>
              </p:nvPr>
            </p:nvSpPr>
            <p:spPr/>
            <p:txBody>
              <a:bodyPr/>
              <a:lstStyle/>
              <a:p>
                <a:r>
                  <a:rPr lang="ja-JP" altLang="en-US" dirty="0"/>
                  <a:t>（</a:t>
                </a:r>
                <a:r>
                  <a:rPr lang="en-US" altLang="ja-JP" dirty="0"/>
                  <a:t>9</a:t>
                </a:r>
                <a:r>
                  <a:rPr lang="ja-JP" altLang="en-US" dirty="0"/>
                  <a:t>枚目）</a:t>
                </a:r>
                <a:endParaRPr lang="en-US" altLang="ja-JP" dirty="0"/>
              </a:p>
              <a:p>
                <a:r>
                  <a:rPr lang="ja-JP" altLang="en-US" dirty="0"/>
                  <a:t>ここから提案手法について説明します。</a:t>
                </a:r>
              </a:p>
              <a:p>
                <a:r>
                  <a:rPr lang="ja-JP" altLang="en-US" dirty="0"/>
                  <a:t>本研究では、髭の影響を</a:t>
                </a:r>
                <a:br>
                  <a:rPr lang="ja-JP" altLang="en-US" dirty="0"/>
                </a:br>
                <a:r>
                  <a:rPr lang="ja-JP" altLang="en-US" dirty="0"/>
                  <a:t>「髭密度マップ」として表現します。</a:t>
                </a:r>
              </a:p>
              <a:p>
                <a:r>
                  <a:rPr lang="ja-JP" altLang="en-US" dirty="0"/>
                  <a:t>顔表面上の各位置 </a:t>
                </a:r>
                <a:r>
                  <a:rPr kumimoji="1" lang="ja-JP" altLang="en-US" sz="1200" i="0" kern="1200">
                    <a:solidFill>
                      <a:schemeClr val="tx1"/>
                    </a:solidFill>
                    <a:latin typeface="+mn-lt"/>
                    <a:ea typeface="+mn-ea"/>
                    <a:cs typeface="+mn-cs"/>
                  </a:rPr>
                  <a:t>𝑥</a:t>
                </a:r>
                <a:r>
                  <a:rPr lang="ja-JP" altLang="en-US" dirty="0"/>
                  <a:t>に対して</a:t>
                </a:r>
                <a:br>
                  <a:rPr lang="ja-JP" altLang="en-US" dirty="0"/>
                </a:b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a:t>
                </a:r>
                <a:r>
                  <a:rPr lang="ja-JP" altLang="en-US" dirty="0"/>
                  <a:t>という値を定義します。</a:t>
                </a:r>
                <a:br>
                  <a:rPr lang="ja-JP" altLang="en-US" dirty="0"/>
                </a:br>
                <a:r>
                  <a:rPr lang="en-US" altLang="ja-JP" dirty="0"/>
                  <a:t>0 </a:t>
                </a:r>
                <a:r>
                  <a:rPr lang="ja-JP" altLang="en-US" dirty="0"/>
                  <a:t>なら髭がなく、</a:t>
                </a:r>
                <a:r>
                  <a:rPr lang="en-US" altLang="ja-JP" dirty="0"/>
                  <a:t>1 </a:t>
                </a:r>
                <a:r>
                  <a:rPr lang="ja-JP" altLang="en-US" dirty="0"/>
                  <a:t>なら非常に濃い状態を表します。</a:t>
                </a:r>
                <a:endParaRPr lang="en-US" altLang="ja-JP" dirty="0"/>
              </a:p>
              <a:p>
                <a:endParaRPr lang="en-US" altLang="ja-JP" dirty="0"/>
              </a:p>
              <a:p>
                <a:r>
                  <a:rPr lang="ja-JP" altLang="en-US" dirty="0"/>
                  <a:t>マップが白くなっているほど髭が濃くなっているという感じです。</a:t>
                </a:r>
                <a:endParaRPr lang="en-US" altLang="ja-JP" dirty="0"/>
              </a:p>
              <a:p>
                <a:endParaRPr lang="ja-JP" altLang="en-US" dirty="0"/>
              </a:p>
              <a:p>
                <a:r>
                  <a:rPr lang="ja-JP" altLang="en-US" dirty="0"/>
                  <a:t>あらかじめ、</a:t>
                </a:r>
                <a:br>
                  <a:rPr lang="ja-JP" altLang="en-US" dirty="0"/>
                </a:br>
                <a:r>
                  <a:rPr lang="ja-JP" altLang="en-US" dirty="0"/>
                  <a:t>髭のない皮膚と、髭が非常に濃い場合の</a:t>
                </a:r>
                <a:br>
                  <a:rPr lang="ja-JP" altLang="en-US" dirty="0"/>
                </a:br>
                <a:r>
                  <a:rPr lang="en-US" altLang="ja-JP" dirty="0"/>
                  <a:t>2 </a:t>
                </a:r>
                <a:r>
                  <a:rPr lang="ja-JP" altLang="en-US" dirty="0"/>
                  <a:t>種類の </a:t>
                </a:r>
                <a:r>
                  <a:rPr lang="en-US" altLang="ja-JP" dirty="0"/>
                  <a:t>BSSRDF </a:t>
                </a:r>
                <a:r>
                  <a:rPr lang="ja-JP" altLang="en-US" dirty="0"/>
                  <a:t>を用意しておき、</a:t>
                </a:r>
                <a:br>
                  <a:rPr lang="ja-JP" altLang="en-US" dirty="0"/>
                </a:br>
                <a:r>
                  <a:rPr lang="ja-JP" altLang="en-US" dirty="0"/>
                  <a:t>レンダリング時には、</a:t>
                </a:r>
                <a:br>
                  <a:rPr lang="ja-JP" altLang="en-US" dirty="0"/>
                </a:br>
                <a:r>
                  <a:rPr lang="ja-JP" altLang="en-US" dirty="0"/>
                  <a:t>この髭密度に応じて</a:t>
                </a:r>
                <a:br>
                  <a:rPr lang="ja-JP" altLang="en-US" dirty="0"/>
                </a:br>
                <a:r>
                  <a:rPr lang="en-US" altLang="ja-JP" dirty="0"/>
                  <a:t>BSSRDF </a:t>
                </a:r>
                <a:r>
                  <a:rPr lang="ja-JP" altLang="en-US" dirty="0"/>
                  <a:t>の拡散特性そのものを混合します。</a:t>
                </a:r>
              </a:p>
              <a:p>
                <a:r>
                  <a:rPr lang="ja-JP" altLang="en-US" dirty="0"/>
                  <a:t>これにより、</a:t>
                </a:r>
                <a:br>
                  <a:rPr lang="ja-JP" altLang="en-US" dirty="0"/>
                </a:br>
                <a:r>
                  <a:rPr lang="ja-JP" altLang="en-US" dirty="0"/>
                  <a:t>髭の濃い領域ほど</a:t>
                </a:r>
                <a:br>
                  <a:rPr lang="ja-JP" altLang="en-US" dirty="0"/>
                </a:br>
                <a:r>
                  <a:rPr lang="ja-JP" altLang="en-US" dirty="0"/>
                  <a:t>表面下散乱の広がり方が抑制されるような、</a:t>
                </a:r>
                <a:br>
                  <a:rPr lang="ja-JP" altLang="en-US" dirty="0"/>
                </a:br>
                <a:r>
                  <a:rPr lang="ja-JP" altLang="en-US" dirty="0"/>
                  <a:t>不均質な皮膚表現を実現します。</a:t>
                </a:r>
              </a:p>
            </p:txBody>
          </p:sp>
        </mc:Fallback>
      </mc:AlternateContent>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9</a:t>
            </a:fld>
            <a:endParaRPr kumimoji="1" lang="ja-JP" altLang="en-US"/>
          </a:p>
        </p:txBody>
      </p:sp>
    </p:spTree>
    <p:extLst>
      <p:ext uri="{BB962C8B-B14F-4D97-AF65-F5344CB8AC3E}">
        <p14:creationId xmlns:p14="http://schemas.microsoft.com/office/powerpoint/2010/main" val="4109515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5E9FF-76D4-C150-254D-0A2CA7D4E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FF6FE2-12A0-9207-03A6-7A3A4BE4F07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9D71F7A5-31C1-F9D4-DC2C-97927B2E6FC4}"/>
                  </a:ext>
                </a:extLst>
              </p:cNvPr>
              <p:cNvSpPr>
                <a:spLocks noGrp="1"/>
              </p:cNvSpPr>
              <p:nvPr>
                <p:ph type="body" idx="1"/>
              </p:nvPr>
            </p:nvSpPr>
            <p:spPr/>
            <p:txBody>
              <a:bodyPr/>
              <a:lstStyle/>
              <a:p>
                <a:pPr/>
                <a:r>
                  <a:rPr lang="ja-JP" altLang="en-US" dirty="0"/>
                  <a:t>（</a:t>
                </a:r>
                <a:r>
                  <a:rPr lang="en-US" altLang="ja-JP" dirty="0"/>
                  <a:t>10</a:t>
                </a:r>
                <a:r>
                  <a:rPr lang="ja-JP" altLang="en-US" dirty="0"/>
                  <a:t>枚目）</a:t>
                </a:r>
                <a:endParaRPr lang="en-US" altLang="ja-JP" dirty="0"/>
              </a:p>
              <a:p>
                <a:pPr/>
                <a:r>
                  <a:rPr lang="ja-JP" altLang="en-US" dirty="0"/>
                  <a:t>数式で書くと、まず「髭がない素の皮膚」の </a:t>
                </a:r>
                <a:r>
                  <a:rPr lang="en-US" altLang="ja-JP" dirty="0"/>
                  <a:t>BSSRDF </a:t>
                </a:r>
                <a14:m>
                  <m:oMath xmlns:m="http://schemas.openxmlformats.org/officeDocument/2006/math">
                    <m:sSubSup>
                      <m:sSubSupPr>
                        <m:ctrlPr>
                          <a:rPr kumimoji="1" lang="ja-JP" altLang="en-US" sz="1200" i="1" kern="1200">
                            <a:solidFill>
                              <a:schemeClr val="tx1"/>
                            </a:solidFill>
                            <a:latin typeface="Cambria Math" panose="02040503050406030204" pitchFamily="18" charset="0"/>
                            <a:ea typeface="+mn-ea"/>
                            <a:cs typeface="+mn-cs"/>
                          </a:rPr>
                        </m:ctrlPr>
                      </m:sSubSupPr>
                      <m:e>
                        <m:r>
                          <a:rPr kumimoji="1" lang="ja-JP" altLang="en-US" sz="1200" i="1" kern="1200">
                            <a:solidFill>
                              <a:schemeClr val="tx1"/>
                            </a:solidFill>
                            <a:latin typeface="Cambria Math" panose="02040503050406030204" pitchFamily="18" charset="0"/>
                            <a:ea typeface="+mn-ea"/>
                            <a:cs typeface="+mn-cs"/>
                          </a:rPr>
                          <m:t>𝑅</m:t>
                        </m:r>
                      </m:e>
                      <m:sub>
                        <m:r>
                          <a:rPr kumimoji="1" lang="ja-JP" altLang="en-US" sz="120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skin</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a14:m>
                <a:r>
                  <a:rPr lang="ja-JP" altLang="en-US" dirty="0"/>
                  <a:t>と、</a:t>
                </a:r>
                <a:br>
                  <a:rPr lang="ja-JP" altLang="en-US" dirty="0"/>
                </a:br>
                <a:r>
                  <a:rPr lang="ja-JP" altLang="en-US" dirty="0"/>
                  <a:t>「髭がとても濃いとき」の </a:t>
                </a:r>
                <a:r>
                  <a:rPr lang="en-US" altLang="ja-JP" dirty="0"/>
                  <a:t>BSSRDF </a:t>
                </a:r>
                <a14:m>
                  <m:oMath xmlns:m="http://schemas.openxmlformats.org/officeDocument/2006/math">
                    <m:sSubSup>
                      <m:sSubSupPr>
                        <m:ctrlPr>
                          <a:rPr kumimoji="1" lang="ja-JP" altLang="en-US" sz="1200" i="1" kern="1200">
                            <a:solidFill>
                              <a:schemeClr val="tx1"/>
                            </a:solidFill>
                            <a:latin typeface="Cambria Math" panose="02040503050406030204" pitchFamily="18" charset="0"/>
                            <a:ea typeface="+mn-ea"/>
                            <a:cs typeface="+mn-cs"/>
                          </a:rPr>
                        </m:ctrlPr>
                      </m:sSubSupPr>
                      <m:e>
                        <m:r>
                          <a:rPr kumimoji="1" lang="ja-JP" altLang="en-US" sz="1200" i="1" kern="1200">
                            <a:solidFill>
                              <a:schemeClr val="tx1"/>
                            </a:solidFill>
                            <a:latin typeface="Cambria Math" panose="02040503050406030204" pitchFamily="18" charset="0"/>
                            <a:ea typeface="+mn-ea"/>
                            <a:cs typeface="+mn-cs"/>
                          </a:rPr>
                          <m:t>𝑅</m:t>
                        </m:r>
                      </m:e>
                      <m:sub>
                        <m:r>
                          <a:rPr kumimoji="1" lang="ja-JP" altLang="en-US" sz="120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beard</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a14:m>
                <a:r>
                  <a:rPr lang="ja-JP" altLang="en-US" dirty="0"/>
                  <a:t>を用意しておきます。</a:t>
                </a:r>
                <a:br>
                  <a:rPr lang="ja-JP" altLang="en-US" dirty="0"/>
                </a:br>
                <a:r>
                  <a:rPr lang="ja-JP" altLang="en-US" dirty="0"/>
                  <a:t>そして、実際の位置 </a:t>
                </a:r>
                <a14:m>
                  <m:oMath xmlns:m="http://schemas.openxmlformats.org/officeDocument/2006/math">
                    <m:r>
                      <a:rPr kumimoji="1" lang="ja-JP" altLang="en-US" sz="1200" i="1" kern="1200">
                        <a:solidFill>
                          <a:schemeClr val="tx1"/>
                        </a:solidFill>
                        <a:latin typeface="Cambria Math" panose="02040503050406030204" pitchFamily="18" charset="0"/>
                        <a:ea typeface="+mn-ea"/>
                        <a:cs typeface="+mn-cs"/>
                      </a:rPr>
                      <m:t>𝑥</m:t>
                    </m:r>
                  </m:oMath>
                </a14:m>
                <a:r>
                  <a:rPr lang="ja-JP" altLang="en-US" dirty="0"/>
                  <a:t>での見え方は、髭密度 </a:t>
                </a:r>
                <a14:m>
                  <m:oMath xmlns:m="http://schemas.openxmlformats.org/officeDocument/2006/math">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oMath>
                </a14:m>
                <a:r>
                  <a:rPr lang="ja-JP" altLang="en-US" dirty="0"/>
                  <a:t>に応じて</a:t>
                </a:r>
                <a:br>
                  <a:rPr lang="ja-JP" altLang="en-US" dirty="0"/>
                </a:br>
                <a14:m>
                  <m:oMathPara xmlns:m="http://schemas.openxmlformats.org/officeDocument/2006/math">
                    <m:oMathParaPr>
                      <m:jc m:val="centerGroup"/>
                    </m:oMathParaPr>
                    <m:oMath xmlns:m="http://schemas.openxmlformats.org/officeDocument/2006/math">
                      <m:d>
                        <m:dPr>
                          <m:ctrlPr>
                            <a:rPr kumimoji="1" lang="ja-JP" altLang="en-US" sz="1200" i="1" kern="1200">
                              <a:solidFill>
                                <a:schemeClr val="tx1"/>
                              </a:solidFill>
                              <a:latin typeface="Cambria Math" panose="02040503050406030204" pitchFamily="18" charset="0"/>
                              <a:ea typeface="+mn-ea"/>
                              <a:cs typeface="+mn-cs"/>
                            </a:rPr>
                          </m:ctrlPr>
                        </m:dPr>
                        <m:e>
                          <m:r>
                            <a:rPr kumimoji="1" lang="en-US" altLang="ja-JP" sz="1200" kern="1200">
                              <a:solidFill>
                                <a:schemeClr val="tx1"/>
                              </a:solidFill>
                              <a:latin typeface="Cambria Math" panose="02040503050406030204" pitchFamily="18" charset="0"/>
                              <a:ea typeface="+mn-ea"/>
                              <a:cs typeface="+mn-cs"/>
                            </a:rPr>
                            <m:t>1</m:t>
                          </m:r>
                          <m:r>
                            <a:rPr kumimoji="1" lang="ja-JP" altLang="en-US" sz="1200" i="0" kern="1200">
                              <a:solidFill>
                                <a:schemeClr val="tx1"/>
                              </a:solidFill>
                              <a:latin typeface="Cambria Math" panose="02040503050406030204" pitchFamily="18" charset="0"/>
                              <a:ea typeface="+mn-ea"/>
                              <a:cs typeface="+mn-cs"/>
                            </a:rPr>
                            <m:t>−</m:t>
                          </m:r>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e>
                      </m:d>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a:solidFill>
                                <a:schemeClr val="tx1"/>
                              </a:solidFill>
                              <a:latin typeface="Cambria Math" panose="02040503050406030204" pitchFamily="18" charset="0"/>
                              <a:ea typeface="+mn-ea"/>
                              <a:cs typeface="+mn-cs"/>
                            </a:rPr>
                            <m:t>𝑅</m:t>
                          </m:r>
                        </m:e>
                        <m:sub>
                          <m:r>
                            <a:rPr kumimoji="1" lang="ja-JP" altLang="en-US" sz="1200" b="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skin</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r>
                        <a:rPr kumimoji="1" lang="en-US" altLang="ja-JP" sz="1200" b="0" i="0" kern="1200">
                          <a:solidFill>
                            <a:schemeClr val="tx1"/>
                          </a:solidFill>
                          <a:latin typeface="Cambria Math" panose="02040503050406030204" pitchFamily="18" charset="0"/>
                          <a:ea typeface="+mn-ea"/>
                          <a:cs typeface="+mn-cs"/>
                        </a:rPr>
                        <m:t>+</m:t>
                      </m:r>
                      <m:sSub>
                        <m:sSubPr>
                          <m:ctrlPr>
                            <a:rPr kumimoji="1" lang="ja-JP" altLang="en-US" sz="1200" b="0" i="1" kern="1200">
                              <a:solidFill>
                                <a:schemeClr val="tx1"/>
                              </a:solidFill>
                              <a:latin typeface="Cambria Math" panose="02040503050406030204" pitchFamily="18" charset="0"/>
                              <a:ea typeface="+mn-ea"/>
                              <a:cs typeface="+mn-cs"/>
                            </a:rPr>
                          </m:ctrlPr>
                        </m:sSubPr>
                        <m:e>
                          <m:r>
                            <a:rPr kumimoji="1" lang="ja-JP" altLang="en-US" sz="1200" b="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a:solidFill>
                                <a:schemeClr val="tx1"/>
                              </a:solidFill>
                              <a:latin typeface="Cambria Math" panose="02040503050406030204" pitchFamily="18" charset="0"/>
                              <a:ea typeface="+mn-ea"/>
                              <a:cs typeface="+mn-cs"/>
                            </a:rPr>
                            <m:t>𝑅</m:t>
                          </m:r>
                        </m:e>
                        <m:sub>
                          <m:r>
                            <a:rPr kumimoji="1" lang="ja-JP" altLang="en-US" sz="1200" b="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beard</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m:oMathPara>
                </a14:m>
                <a:br>
                  <a:rPr lang="ja-JP" altLang="en-US" dirty="0"/>
                </a:br>
                <a:r>
                  <a:rPr lang="ja-JP" altLang="en-US" dirty="0"/>
                  <a:t>のように </a:t>
                </a:r>
                <a:r>
                  <a:rPr lang="en-US" altLang="ja-JP" dirty="0"/>
                  <a:t>2 </a:t>
                </a:r>
                <a:r>
                  <a:rPr lang="ja-JP" altLang="en-US" dirty="0"/>
                  <a:t>つの </a:t>
                </a:r>
                <a:r>
                  <a:rPr lang="en-US" altLang="ja-JP" dirty="0"/>
                  <a:t>BSSRDF </a:t>
                </a:r>
                <a:r>
                  <a:rPr lang="ja-JP" altLang="en-US" dirty="0"/>
                  <a:t>を線形に混合して決めます。</a:t>
                </a:r>
                <a:br>
                  <a:rPr lang="ja-JP" altLang="en-US" dirty="0"/>
                </a:br>
                <a14:m>
                  <m:oMath xmlns:m="http://schemas.openxmlformats.org/officeDocument/2006/math">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oMath>
                </a14:m>
                <a:r>
                  <a:rPr lang="ja-JP" altLang="en-US" dirty="0"/>
                  <a:t>が </a:t>
                </a:r>
                <a:r>
                  <a:rPr lang="en-US" altLang="ja-JP" dirty="0"/>
                  <a:t>0 </a:t>
                </a:r>
                <a:r>
                  <a:rPr lang="ja-JP" altLang="en-US" dirty="0"/>
                  <a:t>なら素の皮膚だけが効き、</a:t>
                </a:r>
                <a:r>
                  <a:rPr lang="en-US" altLang="ja-JP" dirty="0"/>
                  <a:t>1 </a:t>
                </a:r>
                <a:r>
                  <a:rPr lang="ja-JP" altLang="en-US" dirty="0"/>
                  <a:t>なら髭の影響だけが効く状態になります。</a:t>
                </a:r>
                <a:br>
                  <a:rPr lang="ja-JP" altLang="en-US" dirty="0"/>
                </a:br>
                <a:r>
                  <a:rPr lang="ja-JP" altLang="en-US" dirty="0"/>
                  <a:t>その間は連続的に変化するので、頬のように髭が薄い部分と、顎のように髭が濃い部分で、</a:t>
                </a:r>
                <a:br>
                  <a:rPr lang="ja-JP" altLang="en-US" dirty="0"/>
                </a:br>
                <a:r>
                  <a:rPr lang="ja-JP" altLang="en-US" dirty="0"/>
                  <a:t>表面下散乱の広がり方や色味が滑らかに変化するような表現ができます</a:t>
                </a:r>
                <a:br>
                  <a:rPr lang="en-US" altLang="ja-JP" dirty="0"/>
                </a:br>
                <a:br>
                  <a:rPr lang="en-US" altLang="ja-JP" dirty="0"/>
                </a:br>
                <a:r>
                  <a:rPr lang="ja-JP" altLang="en-US" dirty="0"/>
                  <a:t>：</a:t>
                </a:r>
                <a:endParaRPr kumimoji="1" lang="ja-JP" altLang="en-US" dirty="0"/>
              </a:p>
            </p:txBody>
          </p:sp>
        </mc:Choice>
        <mc:Fallback xmlns="">
          <p:sp>
            <p:nvSpPr>
              <p:cNvPr id="3" name="ノート プレースホルダー 2">
                <a:extLst>
                  <a:ext uri="{FF2B5EF4-FFF2-40B4-BE49-F238E27FC236}">
                    <a16:creationId xmlns:a16="http://schemas.microsoft.com/office/drawing/2014/main" id="{9D71F7A5-31C1-F9D4-DC2C-97927B2E6FC4}"/>
                  </a:ext>
                </a:extLst>
              </p:cNvPr>
              <p:cNvSpPr>
                <a:spLocks noGrp="1"/>
              </p:cNvSpPr>
              <p:nvPr>
                <p:ph type="body" idx="1"/>
              </p:nvPr>
            </p:nvSpPr>
            <p:spPr/>
            <p:txBody>
              <a:bodyPr/>
              <a:lstStyle/>
              <a:p>
                <a:r>
                  <a:rPr lang="ja-JP" altLang="en-US" dirty="0"/>
                  <a:t>数式で書くと、まず「髭がない素の皮膚」の </a:t>
                </a:r>
                <a:r>
                  <a:rPr lang="en-US" altLang="ja-JP" dirty="0"/>
                  <a:t>BSSRDF </a:t>
                </a:r>
                <a:r>
                  <a:rPr kumimoji="1" lang="ja-JP" altLang="en-US" sz="1200" i="0" kern="1200">
                    <a:solidFill>
                      <a:schemeClr val="tx1"/>
                    </a:solidFill>
                    <a:latin typeface="+mn-lt"/>
                    <a:ea typeface="+mn-ea"/>
                    <a:cs typeface="+mn-cs"/>
                  </a:rPr>
                  <a:t>𝑅_𝑑^</a:t>
                </a:r>
                <a:r>
                  <a:rPr kumimoji="1" lang="en-US" altLang="ja-JP" sz="1200" b="0" i="0" kern="1200">
                    <a:solidFill>
                      <a:schemeClr val="tx1"/>
                    </a:solidFill>
                    <a:latin typeface="+mn-lt"/>
                    <a:ea typeface="+mn-ea"/>
                    <a:cs typeface="+mn-cs"/>
                  </a:rPr>
                  <a:t>"skin</a:t>
                </a:r>
                <a:r>
                  <a:rPr kumimoji="1" lang="ja-JP" altLang="en-US" sz="1200" b="0" i="0" kern="1200">
                    <a:solidFill>
                      <a:schemeClr val="tx1"/>
                    </a:solidFill>
                    <a:latin typeface="+mn-lt"/>
                    <a:ea typeface="+mn-ea"/>
                    <a:cs typeface="+mn-cs"/>
                  </a:rPr>
                  <a:t>"  (𝑟)</a:t>
                </a:r>
                <a:r>
                  <a:rPr lang="ja-JP" altLang="en-US" dirty="0"/>
                  <a:t>と、</a:t>
                </a:r>
                <a:br>
                  <a:rPr lang="ja-JP" altLang="en-US" dirty="0"/>
                </a:br>
                <a:r>
                  <a:rPr lang="ja-JP" altLang="en-US" dirty="0"/>
                  <a:t>「髭がとても濃いとき」の </a:t>
                </a:r>
                <a:r>
                  <a:rPr lang="en-US" altLang="ja-JP" dirty="0"/>
                  <a:t>BSSRDF </a:t>
                </a:r>
                <a:r>
                  <a:rPr kumimoji="1" lang="ja-JP" altLang="en-US" sz="1200" i="0" kern="1200">
                    <a:solidFill>
                      <a:schemeClr val="tx1"/>
                    </a:solidFill>
                    <a:latin typeface="+mn-lt"/>
                    <a:ea typeface="+mn-ea"/>
                    <a:cs typeface="+mn-cs"/>
                  </a:rPr>
                  <a:t>𝑅_𝑑^</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(𝑟)</a:t>
                </a:r>
                <a:r>
                  <a:rPr lang="ja-JP" altLang="en-US" dirty="0"/>
                  <a:t>を用意しておきます。</a:t>
                </a:r>
                <a:br>
                  <a:rPr lang="ja-JP" altLang="en-US" dirty="0"/>
                </a:br>
                <a:r>
                  <a:rPr lang="ja-JP" altLang="en-US" dirty="0"/>
                  <a:t>そして、実際の位置 </a:t>
                </a:r>
                <a:r>
                  <a:rPr kumimoji="1" lang="ja-JP" altLang="en-US" sz="1200" i="0" kern="1200">
                    <a:solidFill>
                      <a:schemeClr val="tx1"/>
                    </a:solidFill>
                    <a:latin typeface="+mn-lt"/>
                    <a:ea typeface="+mn-ea"/>
                    <a:cs typeface="+mn-cs"/>
                  </a:rPr>
                  <a:t>𝑥</a:t>
                </a:r>
                <a:r>
                  <a:rPr lang="ja-JP" altLang="en-US" dirty="0"/>
                  <a:t>での見え方は、髭密度 </a:t>
                </a: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a:t>
                </a:r>
                <a:r>
                  <a:rPr lang="ja-JP" altLang="en-US" dirty="0"/>
                  <a:t>に応じて</a:t>
                </a:r>
                <a:br>
                  <a:rPr lang="ja-JP" altLang="en-US" dirty="0"/>
                </a:br>
                <a:r>
                  <a:rPr kumimoji="1" lang="ja-JP" altLang="en-US" sz="1200" i="0" kern="1200">
                    <a:solidFill>
                      <a:schemeClr val="tx1"/>
                    </a:solidFill>
                    <a:latin typeface="+mn-lt"/>
                    <a:ea typeface="+mn-ea"/>
                    <a:cs typeface="+mn-cs"/>
                  </a:rPr>
                  <a:t>(</a:t>
                </a:r>
                <a:r>
                  <a:rPr kumimoji="1" lang="en-US" altLang="ja-JP" sz="1200" i="0" kern="1200">
                    <a:solidFill>
                      <a:schemeClr val="tx1"/>
                    </a:solidFill>
                    <a:latin typeface="+mn-lt"/>
                    <a:ea typeface="+mn-ea"/>
                    <a:cs typeface="+mn-cs"/>
                  </a:rPr>
                  <a:t>1</a:t>
                </a: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 𝑅_𝑑^</a:t>
                </a:r>
                <a:r>
                  <a:rPr kumimoji="1" lang="en-US" altLang="ja-JP" sz="1200" b="0" i="0" kern="1200">
                    <a:solidFill>
                      <a:schemeClr val="tx1"/>
                    </a:solidFill>
                    <a:latin typeface="+mn-lt"/>
                    <a:ea typeface="+mn-ea"/>
                    <a:cs typeface="+mn-cs"/>
                  </a:rPr>
                  <a:t>"skin</a:t>
                </a:r>
                <a:r>
                  <a:rPr kumimoji="1" lang="ja-JP" altLang="en-US" sz="1200" b="0" i="0" kern="1200">
                    <a:solidFill>
                      <a:schemeClr val="tx1"/>
                    </a:solidFill>
                    <a:latin typeface="+mn-lt"/>
                    <a:ea typeface="+mn-ea"/>
                    <a:cs typeface="+mn-cs"/>
                  </a:rPr>
                  <a:t>"  (𝑟)</a:t>
                </a:r>
                <a:r>
                  <a:rPr kumimoji="1" lang="en-US" altLang="ja-JP" sz="1200" b="0" i="0" kern="1200">
                    <a:solidFill>
                      <a:schemeClr val="tx1"/>
                    </a:solidFill>
                    <a:latin typeface="+mn-lt"/>
                    <a:ea typeface="+mn-ea"/>
                    <a:cs typeface="+mn-cs"/>
                  </a:rPr>
                  <a:t>+</a:t>
                </a:r>
                <a:r>
                  <a:rPr kumimoji="1" lang="ja-JP" altLang="en-US" sz="1200" b="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 𝑅_𝑑^</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(𝑟)</a:t>
                </a:r>
                <a:br>
                  <a:rPr lang="ja-JP" altLang="en-US" dirty="0"/>
                </a:br>
                <a:r>
                  <a:rPr lang="ja-JP" altLang="en-US" dirty="0"/>
                  <a:t>のように </a:t>
                </a:r>
                <a:r>
                  <a:rPr lang="en-US" altLang="ja-JP" dirty="0"/>
                  <a:t>2 </a:t>
                </a:r>
                <a:r>
                  <a:rPr lang="ja-JP" altLang="en-US" dirty="0"/>
                  <a:t>つの </a:t>
                </a:r>
                <a:r>
                  <a:rPr lang="en-US" altLang="ja-JP" dirty="0"/>
                  <a:t>BSSRDF </a:t>
                </a:r>
                <a:r>
                  <a:rPr lang="ja-JP" altLang="en-US" dirty="0"/>
                  <a:t>を線形に混合して決めます。</a:t>
                </a:r>
                <a:br>
                  <a:rPr lang="ja-JP" altLang="en-US" dirty="0"/>
                </a:b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a:t>
                </a:r>
                <a:r>
                  <a:rPr lang="ja-JP" altLang="en-US" dirty="0"/>
                  <a:t>が </a:t>
                </a:r>
                <a:r>
                  <a:rPr lang="en-US" altLang="ja-JP" dirty="0"/>
                  <a:t>0 </a:t>
                </a:r>
                <a:r>
                  <a:rPr lang="ja-JP" altLang="en-US" dirty="0"/>
                  <a:t>なら素の皮膚だけが効き、</a:t>
                </a:r>
                <a:r>
                  <a:rPr lang="en-US" altLang="ja-JP" dirty="0"/>
                  <a:t>1 </a:t>
                </a:r>
                <a:r>
                  <a:rPr lang="ja-JP" altLang="en-US" dirty="0"/>
                  <a:t>なら髭の影響だけが効く状態になります。</a:t>
                </a:r>
                <a:br>
                  <a:rPr lang="ja-JP" altLang="en-US" dirty="0"/>
                </a:br>
                <a:r>
                  <a:rPr lang="ja-JP" altLang="en-US" dirty="0"/>
                  <a:t>その間は連続的に変化するので、頬のように髭が薄い部分と、顎のように髭が濃い部分で、</a:t>
                </a:r>
                <a:br>
                  <a:rPr lang="ja-JP" altLang="en-US" dirty="0"/>
                </a:br>
                <a:r>
                  <a:rPr lang="ja-JP" altLang="en-US" dirty="0"/>
                  <a:t>表面下散乱の広がり方や色味が滑らかに変化するような表現ができます</a:t>
                </a:r>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5304BC8D-173F-9B08-C608-EBCB53824503}"/>
              </a:ext>
            </a:extLst>
          </p:cNvPr>
          <p:cNvSpPr>
            <a:spLocks noGrp="1"/>
          </p:cNvSpPr>
          <p:nvPr>
            <p:ph type="sldNum" sz="quarter" idx="5"/>
          </p:nvPr>
        </p:nvSpPr>
        <p:spPr/>
        <p:txBody>
          <a:bodyPr/>
          <a:lstStyle/>
          <a:p>
            <a:fld id="{6F018766-D927-423C-997B-33B886F71A70}" type="slidenum">
              <a:rPr kumimoji="1" lang="ja-JP" altLang="en-US" smtClean="0"/>
              <a:t>10</a:t>
            </a:fld>
            <a:endParaRPr kumimoji="1" lang="ja-JP" altLang="en-US"/>
          </a:p>
        </p:txBody>
      </p:sp>
    </p:spTree>
    <p:extLst>
      <p:ext uri="{BB962C8B-B14F-4D97-AF65-F5344CB8AC3E}">
        <p14:creationId xmlns:p14="http://schemas.microsoft.com/office/powerpoint/2010/main" val="3730414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11</a:t>
            </a:r>
            <a:r>
              <a:rPr kumimoji="1" lang="ja-JP" altLang="en-US" dirty="0"/>
              <a:t>枚目）</a:t>
            </a:r>
            <a:endParaRPr kumimoji="1" lang="en-US" altLang="ja-JP" dirty="0"/>
          </a:p>
          <a:p>
            <a:r>
              <a:rPr kumimoji="1" lang="ja-JP" altLang="en-US" dirty="0"/>
              <a:t>こ</a:t>
            </a:r>
            <a:r>
              <a:rPr lang="ja-JP" altLang="en-US" dirty="0"/>
              <a:t>ちらは、</a:t>
            </a:r>
            <a:br>
              <a:rPr lang="ja-JP" altLang="en-US" dirty="0"/>
            </a:br>
            <a:r>
              <a:rPr lang="ja-JP" altLang="en-US" dirty="0"/>
              <a:t>髭密度モデルを適用した場合と、</a:t>
            </a:r>
            <a:br>
              <a:rPr lang="ja-JP" altLang="en-US" dirty="0"/>
            </a:br>
            <a:r>
              <a:rPr lang="ja-JP" altLang="en-US" dirty="0"/>
              <a:t>適用していない場合の</a:t>
            </a:r>
            <a:br>
              <a:rPr lang="ja-JP" altLang="en-US" dirty="0"/>
            </a:br>
            <a:r>
              <a:rPr lang="ja-JP" altLang="en-US" dirty="0"/>
              <a:t>レンダリング結果の比較です。</a:t>
            </a:r>
          </a:p>
          <a:p>
            <a:r>
              <a:rPr lang="ja-JP" altLang="en-US" dirty="0"/>
              <a:t>左は髭密度を考慮しない均質な皮膚モデル、</a:t>
            </a:r>
            <a:br>
              <a:rPr lang="ja-JP" altLang="en-US" dirty="0"/>
            </a:br>
            <a:r>
              <a:rPr lang="ja-JP" altLang="en-US" dirty="0"/>
              <a:t>右は髭密度マップを適用した結果になります。</a:t>
            </a:r>
          </a:p>
          <a:p>
            <a:r>
              <a:rPr lang="ja-JP" altLang="en-US" dirty="0"/>
              <a:t>顎や口周りといった</a:t>
            </a:r>
            <a:br>
              <a:rPr lang="ja-JP" altLang="en-US" dirty="0"/>
            </a:br>
            <a:r>
              <a:rPr lang="ja-JP" altLang="en-US" dirty="0"/>
              <a:t>髭密度の高い領域において、</a:t>
            </a:r>
            <a:br>
              <a:rPr lang="ja-JP" altLang="en-US" dirty="0"/>
            </a:br>
            <a:r>
              <a:rPr lang="ja-JP" altLang="en-US" dirty="0"/>
              <a:t>暗さの増加や、</a:t>
            </a:r>
            <a:br>
              <a:rPr lang="ja-JP" altLang="en-US" dirty="0"/>
            </a:br>
            <a:r>
              <a:rPr lang="ja-JP" altLang="en-US" dirty="0"/>
              <a:t>表面下散乱のにじみが抑制されていることが確認できます。</a:t>
            </a:r>
          </a:p>
          <a:p>
            <a:r>
              <a:rPr lang="ja-JP" altLang="en-US" dirty="0"/>
              <a:t>このように、</a:t>
            </a:r>
            <a:br>
              <a:rPr lang="ja-JP" altLang="en-US" dirty="0"/>
            </a:br>
            <a:r>
              <a:rPr lang="ja-JP" altLang="en-US" dirty="0"/>
              <a:t>髭密度に応じて</a:t>
            </a:r>
            <a:br>
              <a:rPr lang="ja-JP" altLang="en-US" dirty="0"/>
            </a:br>
            <a:r>
              <a:rPr lang="ja-JP" altLang="en-US" dirty="0"/>
              <a:t>見えが局所的に変化していることが</a:t>
            </a:r>
            <a:br>
              <a:rPr lang="ja-JP" altLang="en-US" dirty="0"/>
            </a:br>
            <a:r>
              <a:rPr lang="ja-JP" altLang="en-US" dirty="0"/>
              <a:t>視覚的にも確認できます。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11</a:t>
            </a:fld>
            <a:endParaRPr kumimoji="1" lang="ja-JP" altLang="en-US"/>
          </a:p>
        </p:txBody>
      </p:sp>
    </p:spTree>
    <p:extLst>
      <p:ext uri="{BB962C8B-B14F-4D97-AF65-F5344CB8AC3E}">
        <p14:creationId xmlns:p14="http://schemas.microsoft.com/office/powerpoint/2010/main" val="45911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a:t>
            </a:r>
            <a:r>
              <a:rPr lang="en-US" altLang="ja-JP" dirty="0"/>
              <a:t>12</a:t>
            </a:r>
            <a:r>
              <a:rPr lang="ja-JP" altLang="en-US" dirty="0"/>
              <a:t>枚目）</a:t>
            </a:r>
            <a:br>
              <a:rPr lang="en-US" altLang="ja-JP" dirty="0"/>
            </a:br>
            <a:r>
              <a:rPr lang="ja-JP" altLang="en-US" dirty="0"/>
              <a:t>次に、ここまで説明した提案手法が</a:t>
            </a:r>
            <a:br>
              <a:rPr lang="ja-JP" altLang="en-US" dirty="0"/>
            </a:br>
            <a:r>
              <a:rPr lang="ja-JP" altLang="en-US" b="1" dirty="0"/>
              <a:t>意図どおりに機能しているかを確認するための検証</a:t>
            </a:r>
            <a:r>
              <a:rPr lang="ja-JP" altLang="en-US" dirty="0"/>
              <a:t> について説明します。</a:t>
            </a:r>
            <a:endParaRPr lang="en-US" altLang="ja-JP" dirty="0"/>
          </a:p>
          <a:p>
            <a:r>
              <a:rPr lang="ja-JP" altLang="en-US" dirty="0"/>
              <a:t>本検証は、</a:t>
            </a:r>
            <a:br>
              <a:rPr lang="ja-JP" altLang="en-US" dirty="0"/>
            </a:br>
            <a:r>
              <a:rPr lang="ja-JP" altLang="en-US" dirty="0"/>
              <a:t>髭がある場合とない場合とで、</a:t>
            </a:r>
            <a:br>
              <a:rPr lang="ja-JP" altLang="en-US" dirty="0"/>
            </a:br>
            <a:r>
              <a:rPr lang="ja-JP" altLang="en-US" dirty="0"/>
              <a:t>表面下散乱の挙動に</a:t>
            </a:r>
            <a:br>
              <a:rPr lang="ja-JP" altLang="en-US" dirty="0"/>
            </a:br>
            <a:r>
              <a:rPr lang="ja-JP" altLang="en-US" dirty="0"/>
              <a:t>どのような差が現れるかを確認します。</a:t>
            </a:r>
          </a:p>
          <a:p>
            <a:r>
              <a:rPr lang="ja-JP" altLang="en-US" dirty="0"/>
              <a:t>そのために、</a:t>
            </a:r>
            <a:br>
              <a:rPr lang="ja-JP" altLang="en-US" dirty="0"/>
            </a:br>
            <a:r>
              <a:rPr lang="ja-JP" altLang="en-US" dirty="0"/>
              <a:t>髭を円柱ジオメトリとして明示的に配置したシーンを</a:t>
            </a:r>
            <a:br>
              <a:rPr lang="ja-JP" altLang="en-US" dirty="0"/>
            </a:br>
            <a:r>
              <a:rPr lang="en-US" altLang="ja-JP" dirty="0"/>
              <a:t>Mitsuba </a:t>
            </a:r>
            <a:r>
              <a:rPr lang="ja-JP" altLang="en-US" dirty="0"/>
              <a:t>上で構築し、</a:t>
            </a:r>
            <a:br>
              <a:rPr lang="ja-JP" altLang="en-US" dirty="0"/>
            </a:br>
            <a:r>
              <a:rPr lang="ja-JP" altLang="en-US" dirty="0"/>
              <a:t>そこで得られた分布と</a:t>
            </a:r>
            <a:br>
              <a:rPr lang="ja-JP" altLang="en-US" dirty="0"/>
            </a:br>
            <a:r>
              <a:rPr lang="ja-JP" altLang="en-US" dirty="0"/>
              <a:t>髭密度モデルによる結果を比較しました</a:t>
            </a:r>
          </a:p>
          <a:p>
            <a:r>
              <a:rPr lang="ja-JP" altLang="en-US" dirty="0"/>
              <a:t>。</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12</a:t>
            </a:fld>
            <a:endParaRPr kumimoji="1" lang="ja-JP" altLang="en-US"/>
          </a:p>
        </p:txBody>
      </p:sp>
    </p:spTree>
    <p:extLst>
      <p:ext uri="{BB962C8B-B14F-4D97-AF65-F5344CB8AC3E}">
        <p14:creationId xmlns:p14="http://schemas.microsoft.com/office/powerpoint/2010/main" val="629256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4EB4E-9F38-6D3A-B37E-4CD2D62D36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D08E90B-3663-7CEB-FEDA-3FAE815419E2}"/>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a:extLst>
                  <a:ext uri="{FF2B5EF4-FFF2-40B4-BE49-F238E27FC236}">
                    <a16:creationId xmlns:a16="http://schemas.microsoft.com/office/drawing/2014/main" id="{9CA0D740-0695-314D-4ACC-F177773CBFC7}"/>
                  </a:ext>
                </a:extLst>
              </p:cNvPr>
              <p:cNvSpPr>
                <a:spLocks noGrp="1"/>
              </p:cNvSpPr>
              <p:nvPr>
                <p:ph type="body" idx="1"/>
              </p:nvPr>
            </p:nvSpPr>
            <p:spPr/>
            <p:txBody>
              <a:bodyPr/>
              <a:lstStyle/>
              <a:p>
                <a:r>
                  <a:rPr lang="ja-JP" altLang="en-US" dirty="0"/>
                  <a:t>（</a:t>
                </a:r>
                <a:r>
                  <a:rPr lang="en-US" altLang="ja-JP" dirty="0"/>
                  <a:t>13</a:t>
                </a:r>
                <a:r>
                  <a:rPr lang="ja-JP" altLang="en-US" dirty="0"/>
                  <a:t>枚目）</a:t>
                </a:r>
              </a:p>
              <a:p>
                <a:r>
                  <a:rPr lang="ja-JP" altLang="en-US" dirty="0"/>
                  <a:t>評価は定量評価で行います。</a:t>
                </a:r>
              </a:p>
              <a:p>
                <a:r>
                  <a:rPr lang="ja-JP" altLang="en-US" dirty="0"/>
                  <a:t>点光源を皮膚表面に垂直入射させ、</a:t>
                </a:r>
                <a:br>
                  <a:rPr lang="ja-JP" altLang="en-US" dirty="0"/>
                </a:br>
                <a:r>
                  <a:rPr lang="ja-JP" altLang="en-US" dirty="0"/>
                  <a:t>入射点から距離 </a:t>
                </a:r>
                <a14:m>
                  <m:oMath xmlns:m="http://schemas.openxmlformats.org/officeDocument/2006/math">
                    <m:r>
                      <a:rPr kumimoji="1" lang="ja-JP" altLang="en-US" sz="1200" i="1" kern="1200">
                        <a:solidFill>
                          <a:schemeClr val="tx1"/>
                        </a:solidFill>
                        <a:latin typeface="+mn-lt"/>
                        <a:ea typeface="+mn-ea"/>
                        <a:cs typeface="+mn-cs"/>
                      </a:rPr>
                      <m:t>𝑟</m:t>
                    </m:r>
                  </m:oMath>
                </a14:m>
                <a:r>
                  <a:rPr lang="ja-JP" altLang="en-US" dirty="0"/>
                  <a:t>のリング上で</a:t>
                </a:r>
                <a:br>
                  <a:rPr lang="ja-JP" altLang="en-US" dirty="0"/>
                </a:br>
                <a:r>
                  <a:rPr lang="ja-JP" altLang="en-US" dirty="0"/>
                  <a:t>放射エネルギー分布 </a:t>
                </a: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𝑅</m:t>
                        </m:r>
                      </m:e>
                      <m:sub>
                        <m:r>
                          <a:rPr kumimoji="1" lang="ja-JP" altLang="en-US" sz="1200" i="1" kern="1200">
                            <a:solidFill>
                              <a:schemeClr val="tx1"/>
                            </a:solidFill>
                            <a:latin typeface="+mn-lt"/>
                            <a:ea typeface="+mn-ea"/>
                            <a:cs typeface="+mn-cs"/>
                          </a:rPr>
                          <m:t>𝑑</m:t>
                        </m:r>
                      </m:sub>
                    </m:sSub>
                    <m:d>
                      <m:dPr>
                        <m:ctrlPr>
                          <a:rPr kumimoji="1" lang="ja-JP" altLang="en-US" sz="1200" i="1" kern="1200">
                            <a:solidFill>
                              <a:schemeClr val="tx1"/>
                            </a:solidFill>
                            <a:latin typeface="+mn-lt"/>
                            <a:ea typeface="+mn-ea"/>
                            <a:cs typeface="+mn-cs"/>
                          </a:rPr>
                        </m:ctrlPr>
                      </m:dPr>
                      <m:e>
                        <m:r>
                          <a:rPr kumimoji="1" lang="ja-JP" altLang="en-US" sz="1200" i="1" kern="1200">
                            <a:solidFill>
                              <a:schemeClr val="tx1"/>
                            </a:solidFill>
                            <a:latin typeface="+mn-lt"/>
                            <a:ea typeface="+mn-ea"/>
                            <a:cs typeface="+mn-cs"/>
                          </a:rPr>
                          <m:t>𝑟</m:t>
                        </m:r>
                      </m:e>
                    </m:d>
                  </m:oMath>
                </a14:m>
                <a:r>
                  <a:rPr lang="ja-JP" altLang="en-US" dirty="0"/>
                  <a:t>を計測します。</a:t>
                </a:r>
              </a:p>
              <a:p>
                <a:r>
                  <a:rPr lang="ja-JP" altLang="en-US" dirty="0"/>
                  <a:t>分布は正規化し、距離方向の減衰特性を比較します。</a:t>
                </a:r>
              </a:p>
              <a:p>
                <a:endParaRPr lang="ja-JP" altLang="en-US" dirty="0"/>
              </a:p>
            </p:txBody>
          </p:sp>
        </mc:Choice>
        <mc:Fallback>
          <p:sp>
            <p:nvSpPr>
              <p:cNvPr id="3" name="ノート プレースホルダー 2">
                <a:extLst>
                  <a:ext uri="{FF2B5EF4-FFF2-40B4-BE49-F238E27FC236}">
                    <a16:creationId xmlns:a16="http://schemas.microsoft.com/office/drawing/2014/main" id="{9CA0D740-0695-314D-4ACC-F177773CBFC7}"/>
                  </a:ext>
                </a:extLst>
              </p:cNvPr>
              <p:cNvSpPr>
                <a:spLocks noGrp="1"/>
              </p:cNvSpPr>
              <p:nvPr>
                <p:ph type="body" idx="1"/>
              </p:nvPr>
            </p:nvSpPr>
            <p:spPr/>
            <p:txBody>
              <a:bodyPr/>
              <a:lstStyle/>
              <a:p>
                <a:r>
                  <a:rPr lang="ja-JP" altLang="en-US" dirty="0"/>
                  <a:t>（</a:t>
                </a:r>
                <a:r>
                  <a:rPr lang="en-US" altLang="ja-JP" dirty="0"/>
                  <a:t>13</a:t>
                </a:r>
                <a:r>
                  <a:rPr lang="ja-JP" altLang="en-US" dirty="0"/>
                  <a:t>枚目）</a:t>
                </a:r>
              </a:p>
              <a:p>
                <a:r>
                  <a:rPr lang="ja-JP" altLang="en-US" dirty="0"/>
                  <a:t>評価は定量評価で行います。</a:t>
                </a:r>
              </a:p>
              <a:p>
                <a:r>
                  <a:rPr lang="ja-JP" altLang="en-US" dirty="0"/>
                  <a:t>点光源を皮膚表面に垂直入射させ、</a:t>
                </a:r>
                <a:br>
                  <a:rPr lang="ja-JP" altLang="en-US" dirty="0"/>
                </a:br>
                <a:r>
                  <a:rPr lang="ja-JP" altLang="en-US" dirty="0"/>
                  <a:t>入射点から距離 </a:t>
                </a:r>
                <a:r>
                  <a:rPr kumimoji="1" lang="ja-JP" altLang="en-US" sz="1200" i="0" kern="1200">
                    <a:solidFill>
                      <a:schemeClr val="tx1"/>
                    </a:solidFill>
                    <a:latin typeface="+mn-lt"/>
                    <a:ea typeface="+mn-ea"/>
                    <a:cs typeface="+mn-cs"/>
                  </a:rPr>
                  <a:t>𝑟</a:t>
                </a:r>
                <a:r>
                  <a:rPr lang="ja-JP" altLang="en-US" dirty="0"/>
                  <a:t>のリング上で</a:t>
                </a:r>
                <a:br>
                  <a:rPr lang="ja-JP" altLang="en-US" dirty="0"/>
                </a:br>
                <a:r>
                  <a:rPr lang="ja-JP" altLang="en-US" dirty="0"/>
                  <a:t>放射エネルギー分布 </a:t>
                </a:r>
                <a:r>
                  <a:rPr kumimoji="1" lang="ja-JP" altLang="en-US" sz="1200" i="0" kern="1200">
                    <a:solidFill>
                      <a:schemeClr val="tx1"/>
                    </a:solidFill>
                    <a:latin typeface="+mn-lt"/>
                    <a:ea typeface="+mn-ea"/>
                    <a:cs typeface="+mn-cs"/>
                  </a:rPr>
                  <a:t>𝑅_𝑑 (𝑟)</a:t>
                </a:r>
                <a:r>
                  <a:rPr lang="ja-JP" altLang="en-US" dirty="0"/>
                  <a:t>を計測します。</a:t>
                </a:r>
              </a:p>
              <a:p>
                <a:r>
                  <a:rPr lang="ja-JP" altLang="en-US" dirty="0"/>
                  <a:t>分布は正規化し、距離方向の減衰特性を比較します。</a:t>
                </a:r>
              </a:p>
              <a:p>
                <a:endParaRPr lang="ja-JP" altLang="en-US" dirty="0"/>
              </a:p>
            </p:txBody>
          </p:sp>
        </mc:Fallback>
      </mc:AlternateContent>
      <p:sp>
        <p:nvSpPr>
          <p:cNvPr id="4" name="スライド番号プレースホルダー 3">
            <a:extLst>
              <a:ext uri="{FF2B5EF4-FFF2-40B4-BE49-F238E27FC236}">
                <a16:creationId xmlns:a16="http://schemas.microsoft.com/office/drawing/2014/main" id="{9F476A1D-8688-5623-B3B3-D320C1310F04}"/>
              </a:ext>
            </a:extLst>
          </p:cNvPr>
          <p:cNvSpPr>
            <a:spLocks noGrp="1"/>
          </p:cNvSpPr>
          <p:nvPr>
            <p:ph type="sldNum" sz="quarter" idx="5"/>
          </p:nvPr>
        </p:nvSpPr>
        <p:spPr/>
        <p:txBody>
          <a:bodyPr/>
          <a:lstStyle/>
          <a:p>
            <a:fld id="{7E6F6BBB-7673-494F-8505-704B89C97274}" type="slidenum">
              <a:rPr kumimoji="1" lang="ja-JP" altLang="en-US" smtClean="0"/>
              <a:t>13</a:t>
            </a:fld>
            <a:endParaRPr kumimoji="1" lang="ja-JP" altLang="en-US"/>
          </a:p>
        </p:txBody>
      </p:sp>
    </p:spTree>
    <p:extLst>
      <p:ext uri="{BB962C8B-B14F-4D97-AF65-F5344CB8AC3E}">
        <p14:creationId xmlns:p14="http://schemas.microsoft.com/office/powerpoint/2010/main" val="4057820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21448-1ECA-12AC-3C6F-2DF8DFC012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DAABF6-86C1-D175-1D8A-DFA362E685A7}"/>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a:extLst>
                  <a:ext uri="{FF2B5EF4-FFF2-40B4-BE49-F238E27FC236}">
                    <a16:creationId xmlns:a16="http://schemas.microsoft.com/office/drawing/2014/main" id="{CD9CE85C-AFA6-322B-DB60-C4FEEA9E5203}"/>
                  </a:ext>
                </a:extLst>
              </p:cNvPr>
              <p:cNvSpPr>
                <a:spLocks noGrp="1"/>
              </p:cNvSpPr>
              <p:nvPr>
                <p:ph type="body" idx="1"/>
              </p:nvPr>
            </p:nvSpPr>
            <p:spPr/>
            <p:txBody>
              <a:bodyPr/>
              <a:lstStyle/>
              <a:p>
                <a:r>
                  <a:rPr kumimoji="1" lang="ja-JP" altLang="en-US" dirty="0"/>
                  <a:t>（</a:t>
                </a:r>
                <a:r>
                  <a:rPr kumimoji="1" lang="en-US" altLang="ja-JP" dirty="0"/>
                  <a:t>14</a:t>
                </a:r>
                <a:r>
                  <a:rPr kumimoji="1" lang="ja-JP" altLang="en-US" dirty="0"/>
                  <a:t>枚目）</a:t>
                </a:r>
                <a:endParaRPr kumimoji="1" lang="en-US" altLang="ja-JP" dirty="0"/>
              </a:p>
              <a:p>
                <a:r>
                  <a:rPr lang="ja-JP" altLang="en-US" dirty="0"/>
                  <a:t>こちらは、</a:t>
                </a:r>
                <a:br>
                  <a:rPr lang="ja-JP" altLang="en-US" dirty="0"/>
                </a:br>
                <a:r>
                  <a:rPr lang="ja-JP" altLang="en-US" dirty="0"/>
                  <a:t>髭なし・髭ありの </a:t>
                </a: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𝑅</m:t>
                        </m:r>
                      </m:e>
                      <m:sub>
                        <m:r>
                          <a:rPr kumimoji="1" lang="ja-JP" altLang="en-US" sz="1200" i="1" kern="1200">
                            <a:solidFill>
                              <a:schemeClr val="tx1"/>
                            </a:solidFill>
                            <a:latin typeface="+mn-lt"/>
                            <a:ea typeface="+mn-ea"/>
                            <a:cs typeface="+mn-cs"/>
                          </a:rPr>
                          <m:t>𝑑</m:t>
                        </m:r>
                      </m:sub>
                    </m:sSub>
                    <m:d>
                      <m:dPr>
                        <m:ctrlPr>
                          <a:rPr kumimoji="1" lang="ja-JP" altLang="en-US" sz="1200" i="1" kern="1200">
                            <a:solidFill>
                              <a:schemeClr val="tx1"/>
                            </a:solidFill>
                            <a:latin typeface="+mn-lt"/>
                            <a:ea typeface="+mn-ea"/>
                            <a:cs typeface="+mn-cs"/>
                          </a:rPr>
                        </m:ctrlPr>
                      </m:dPr>
                      <m:e>
                        <m:r>
                          <a:rPr kumimoji="1" lang="ja-JP" altLang="en-US" sz="1200" i="1" kern="1200">
                            <a:solidFill>
                              <a:schemeClr val="tx1"/>
                            </a:solidFill>
                            <a:latin typeface="+mn-lt"/>
                            <a:ea typeface="+mn-ea"/>
                            <a:cs typeface="+mn-cs"/>
                          </a:rPr>
                          <m:t>𝑟</m:t>
                        </m:r>
                      </m:e>
                    </m:d>
                  </m:oMath>
                </a14:m>
                <a:r>
                  <a:rPr lang="ja-JP" altLang="en-US" dirty="0"/>
                  <a:t>を比較した結果です。</a:t>
                </a:r>
              </a:p>
              <a:p>
                <a:r>
                  <a:rPr lang="ja-JP" altLang="en-US" dirty="0"/>
                  <a:t>分布全体の形状は概ね近く、</a:t>
                </a:r>
                <a:br>
                  <a:rPr lang="ja-JP" altLang="en-US" dirty="0"/>
                </a:br>
                <a:r>
                  <a:rPr lang="ja-JP" altLang="en-US" dirty="0"/>
                  <a:t>両条件とも滑らかに変化していることが分かります。</a:t>
                </a:r>
                <a:br>
                  <a:rPr lang="ja-JP" altLang="en-US" dirty="0"/>
                </a:br>
                <a:r>
                  <a:rPr lang="ja-JP" altLang="en-US" dirty="0"/>
                  <a:t>一方で、入射点近傍では、</a:t>
                </a:r>
                <a:br>
                  <a:rPr lang="ja-JP" altLang="en-US" dirty="0"/>
                </a:br>
                <a:r>
                  <a:rPr lang="ja-JP" altLang="en-US" dirty="0"/>
                  <a:t>髭あり条件で分布がわずかに低下しています。</a:t>
                </a:r>
              </a:p>
              <a:p>
                <a:r>
                  <a:rPr lang="ja-JP" altLang="en-US" dirty="0"/>
                  <a:t>これは、髭による遮蔽や吸収の影響が</a:t>
                </a:r>
                <a:br>
                  <a:rPr lang="ja-JP" altLang="en-US" dirty="0"/>
                </a:br>
                <a:r>
                  <a:rPr lang="ja-JP" altLang="en-US" dirty="0"/>
                  <a:t>局所的に強く表れるためだと考えられます。</a:t>
                </a:r>
              </a:p>
              <a:p>
                <a:br>
                  <a:rPr kumimoji="1" lang="en-US" altLang="ja-JP" dirty="0"/>
                </a:br>
                <a:br>
                  <a:rPr kumimoji="1" lang="en-US" altLang="ja-JP" dirty="0"/>
                </a:br>
                <a:br>
                  <a:rPr kumimoji="1" lang="en-US" altLang="ja-JP" dirty="0"/>
                </a:br>
                <a:endParaRPr kumimoji="1" lang="ja-JP" altLang="en-US" dirty="0"/>
              </a:p>
            </p:txBody>
          </p:sp>
        </mc:Choice>
        <mc:Fallback>
          <p:sp>
            <p:nvSpPr>
              <p:cNvPr id="3" name="ノート プレースホルダー 2">
                <a:extLst>
                  <a:ext uri="{FF2B5EF4-FFF2-40B4-BE49-F238E27FC236}">
                    <a16:creationId xmlns:a16="http://schemas.microsoft.com/office/drawing/2014/main" id="{CD9CE85C-AFA6-322B-DB60-C4FEEA9E5203}"/>
                  </a:ext>
                </a:extLst>
              </p:cNvPr>
              <p:cNvSpPr>
                <a:spLocks noGrp="1"/>
              </p:cNvSpPr>
              <p:nvPr>
                <p:ph type="body" idx="1"/>
              </p:nvPr>
            </p:nvSpPr>
            <p:spPr/>
            <p:txBody>
              <a:bodyPr/>
              <a:lstStyle/>
              <a:p>
                <a:r>
                  <a:rPr kumimoji="1" lang="ja-JP" altLang="en-US" dirty="0"/>
                  <a:t>（</a:t>
                </a:r>
                <a:r>
                  <a:rPr kumimoji="1" lang="en-US" altLang="ja-JP" dirty="0"/>
                  <a:t>14</a:t>
                </a:r>
                <a:r>
                  <a:rPr kumimoji="1" lang="ja-JP" altLang="en-US" dirty="0"/>
                  <a:t>枚目）</a:t>
                </a:r>
                <a:endParaRPr kumimoji="1" lang="en-US" altLang="ja-JP" dirty="0"/>
              </a:p>
              <a:p>
                <a:r>
                  <a:rPr lang="ja-JP" altLang="en-US" dirty="0"/>
                  <a:t>こちらは、</a:t>
                </a:r>
                <a:br>
                  <a:rPr lang="ja-JP" altLang="en-US" dirty="0"/>
                </a:br>
                <a:r>
                  <a:rPr lang="ja-JP" altLang="en-US" dirty="0"/>
                  <a:t>髭なし・髭ありの </a:t>
                </a:r>
                <a:r>
                  <a:rPr kumimoji="1" lang="ja-JP" altLang="en-US" sz="1200" i="0" kern="1200">
                    <a:solidFill>
                      <a:schemeClr val="tx1"/>
                    </a:solidFill>
                    <a:latin typeface="+mn-lt"/>
                    <a:ea typeface="+mn-ea"/>
                    <a:cs typeface="+mn-cs"/>
                  </a:rPr>
                  <a:t>𝑅_𝑑 (𝑟)</a:t>
                </a:r>
                <a:r>
                  <a:rPr lang="ja-JP" altLang="en-US" dirty="0"/>
                  <a:t>を比較した結果です。</a:t>
                </a:r>
              </a:p>
              <a:p>
                <a:r>
                  <a:rPr lang="ja-JP" altLang="en-US" dirty="0"/>
                  <a:t>分布全体の形状は概ね近く、</a:t>
                </a:r>
                <a:br>
                  <a:rPr lang="ja-JP" altLang="en-US" dirty="0"/>
                </a:br>
                <a:r>
                  <a:rPr lang="ja-JP" altLang="en-US" dirty="0"/>
                  <a:t>両条件とも滑らかに変化していることが分かります。</a:t>
                </a:r>
                <a:br>
                  <a:rPr lang="ja-JP" altLang="en-US" dirty="0"/>
                </a:br>
                <a:r>
                  <a:rPr lang="ja-JP" altLang="en-US" dirty="0"/>
                  <a:t>一方で、入射点近傍では、</a:t>
                </a:r>
                <a:br>
                  <a:rPr lang="ja-JP" altLang="en-US" dirty="0"/>
                </a:br>
                <a:r>
                  <a:rPr lang="ja-JP" altLang="en-US" dirty="0"/>
                  <a:t>髭あり条件で分布がわずかに低下しています。</a:t>
                </a:r>
              </a:p>
              <a:p>
                <a:r>
                  <a:rPr lang="ja-JP" altLang="en-US" dirty="0"/>
                  <a:t>これは、髭による遮蔽や吸収の影響が</a:t>
                </a:r>
                <a:br>
                  <a:rPr lang="ja-JP" altLang="en-US" dirty="0"/>
                </a:br>
                <a:r>
                  <a:rPr lang="ja-JP" altLang="en-US" dirty="0"/>
                  <a:t>局所的に強く表れるためだと考えられます。</a:t>
                </a:r>
              </a:p>
              <a:p>
                <a:br>
                  <a:rPr kumimoji="1" lang="en-US" altLang="ja-JP" dirty="0"/>
                </a:br>
                <a:br>
                  <a:rPr kumimoji="1" lang="en-US" altLang="ja-JP" dirty="0"/>
                </a:br>
                <a:br>
                  <a:rPr kumimoji="1" lang="en-US" altLang="ja-JP" dirty="0"/>
                </a:br>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DB4DCAE2-B3AF-8EEF-691A-E05762B62B08}"/>
              </a:ext>
            </a:extLst>
          </p:cNvPr>
          <p:cNvSpPr>
            <a:spLocks noGrp="1"/>
          </p:cNvSpPr>
          <p:nvPr>
            <p:ph type="sldNum" sz="quarter" idx="5"/>
          </p:nvPr>
        </p:nvSpPr>
        <p:spPr/>
        <p:txBody>
          <a:bodyPr/>
          <a:lstStyle/>
          <a:p>
            <a:fld id="{7E6F6BBB-7673-494F-8505-704B89C97274}" type="slidenum">
              <a:rPr kumimoji="1" lang="ja-JP" altLang="en-US" smtClean="0"/>
              <a:t>14</a:t>
            </a:fld>
            <a:endParaRPr kumimoji="1" lang="ja-JP" altLang="en-US"/>
          </a:p>
        </p:txBody>
      </p:sp>
    </p:spTree>
    <p:extLst>
      <p:ext uri="{BB962C8B-B14F-4D97-AF65-F5344CB8AC3E}">
        <p14:creationId xmlns:p14="http://schemas.microsoft.com/office/powerpoint/2010/main" val="853968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15</a:t>
            </a:r>
            <a:r>
              <a:rPr kumimoji="1" lang="ja-JP" altLang="en-US" dirty="0"/>
              <a:t>枚目）</a:t>
            </a:r>
            <a:endParaRPr kumimoji="1" lang="en-US" altLang="ja-JP" dirty="0"/>
          </a:p>
          <a:p>
            <a:r>
              <a:rPr lang="ja-JP" altLang="en-US" dirty="0"/>
              <a:t>最後にまとめです。</a:t>
            </a:r>
          </a:p>
          <a:p>
            <a:r>
              <a:rPr lang="ja-JP" altLang="en-US" dirty="0"/>
              <a:t>本研究では、</a:t>
            </a:r>
            <a:br>
              <a:rPr lang="ja-JP" altLang="en-US" dirty="0"/>
            </a:br>
            <a:r>
              <a:rPr lang="ja-JP" altLang="en-US" dirty="0"/>
              <a:t>髭密度マップを用いた皮膚レンダラを実装し、</a:t>
            </a:r>
            <a:br>
              <a:rPr lang="ja-JP" altLang="en-US" dirty="0"/>
            </a:br>
            <a:r>
              <a:rPr lang="ja-JP" altLang="en-US" dirty="0"/>
              <a:t>髭の有無による表面下散乱の挙動の違いを検証しました。</a:t>
            </a:r>
          </a:p>
          <a:p>
            <a:r>
              <a:rPr lang="ja-JP" altLang="en-US" dirty="0"/>
              <a:t>その結果、</a:t>
            </a:r>
            <a:br>
              <a:rPr lang="ja-JP" altLang="en-US" dirty="0"/>
            </a:br>
            <a:r>
              <a:rPr lang="ja-JP" altLang="en-US" dirty="0"/>
              <a:t>幾何的に髭をモデル化した場合と同様の傾向を、</a:t>
            </a:r>
            <a:br>
              <a:rPr lang="ja-JP" altLang="en-US" dirty="0"/>
            </a:br>
            <a:r>
              <a:rPr lang="ja-JP" altLang="en-US" dirty="0"/>
              <a:t>髭密度モデルでも安定して再現できることを確認しました。</a:t>
            </a:r>
            <a:endParaRPr lang="en-US" altLang="ja-JP" dirty="0"/>
          </a:p>
          <a:p>
            <a:r>
              <a:rPr lang="ja-JP" altLang="en-US" dirty="0"/>
              <a:t>また、今後の展望としては髭そのものの太さや長さといった高次元な要素への対応、</a:t>
            </a:r>
            <a:endParaRPr lang="en-US" altLang="ja-JP" dirty="0"/>
          </a:p>
          <a:p>
            <a:r>
              <a:rPr lang="ja-JP" altLang="en-US" dirty="0"/>
              <a:t>他部位や他の要素への拡張などをしていこうと思います。</a:t>
            </a:r>
          </a:p>
          <a:p>
            <a:r>
              <a:rPr lang="ja-JP" altLang="en-US" dirty="0"/>
              <a:t>以上です。ご清聴ありがとうございました。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15</a:t>
            </a:fld>
            <a:endParaRPr kumimoji="1" lang="ja-JP" altLang="en-US"/>
          </a:p>
        </p:txBody>
      </p:sp>
    </p:spTree>
    <p:extLst>
      <p:ext uri="{BB962C8B-B14F-4D97-AF65-F5344CB8AC3E}">
        <p14:creationId xmlns:p14="http://schemas.microsoft.com/office/powerpoint/2010/main" val="2669179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36AD12-92FF-912F-1329-2B721696D9B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D383E1A-3016-BAFD-4E7F-E009474C8D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226DA65-52DB-A609-4CFF-2C059F2A06F3}"/>
              </a:ext>
            </a:extLst>
          </p:cNvPr>
          <p:cNvSpPr>
            <a:spLocks noGrp="1"/>
          </p:cNvSpPr>
          <p:nvPr>
            <p:ph type="dt" sz="half" idx="10"/>
          </p:nvPr>
        </p:nvSpPr>
        <p:spPr/>
        <p:txBody>
          <a:bodyPr/>
          <a:lstStyle/>
          <a:p>
            <a:fld id="{F324A126-4EA4-4AB5-9363-893287029B05}"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A9B91057-0AFF-CEED-AB2E-7DD6D4253C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44477F-A14F-9CC8-5EBF-262B04A7040B}"/>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82465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14629D-DCE6-2CB6-E1ED-348CDBB8DE6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85D49A-15DA-A783-E7EC-E4667542908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3829249-C1E3-E122-F969-3FE24B19C4C7}"/>
              </a:ext>
            </a:extLst>
          </p:cNvPr>
          <p:cNvSpPr>
            <a:spLocks noGrp="1"/>
          </p:cNvSpPr>
          <p:nvPr>
            <p:ph type="dt" sz="half" idx="10"/>
          </p:nvPr>
        </p:nvSpPr>
        <p:spPr/>
        <p:txBody>
          <a:bodyPr/>
          <a:lstStyle/>
          <a:p>
            <a:fld id="{7A5311A6-9991-423A-8113-B2EEC299E387}"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EBA5F524-4D0C-70E6-95B9-835BCC1955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3D93FAD-8B9C-F4F3-60E6-87B62E41599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548968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65418C-F3BA-13CD-3D30-CBD2CBC7E8E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E3AEE4B-02F9-722B-7452-8DE7B1ABA7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7A03D0B-4FBA-04B6-2977-2F0B2C234E03}"/>
              </a:ext>
            </a:extLst>
          </p:cNvPr>
          <p:cNvSpPr>
            <a:spLocks noGrp="1"/>
          </p:cNvSpPr>
          <p:nvPr>
            <p:ph type="dt" sz="half" idx="10"/>
          </p:nvPr>
        </p:nvSpPr>
        <p:spPr/>
        <p:txBody>
          <a:bodyPr/>
          <a:lstStyle/>
          <a:p>
            <a:fld id="{932D899F-D6EF-4A23-936B-FE934ECC6DDF}"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C99E6E70-4267-96D1-1E74-EB282AF1A5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79A10C-95F9-6701-03F6-E266B5A9F0EC}"/>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843770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60E67F-51C1-00F7-5D9A-5D5277D76B6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8C95B5E-4059-14C7-6AC1-7C3FAB88FB8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C6F1ED6-5724-46C8-9BDA-41DBF2EC9B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C81CCEA-4CBA-4318-E722-515E45563B43}"/>
              </a:ext>
            </a:extLst>
          </p:cNvPr>
          <p:cNvSpPr>
            <a:spLocks noGrp="1"/>
          </p:cNvSpPr>
          <p:nvPr>
            <p:ph type="dt" sz="half" idx="10"/>
          </p:nvPr>
        </p:nvSpPr>
        <p:spPr/>
        <p:txBody>
          <a:bodyPr/>
          <a:lstStyle/>
          <a:p>
            <a:fld id="{C87E7C84-EBA1-4B9F-B957-30481720E85D}" type="datetime1">
              <a:rPr kumimoji="1" lang="ja-JP" altLang="en-US" smtClean="0"/>
              <a:t>2026/2/4</a:t>
            </a:fld>
            <a:endParaRPr kumimoji="1" lang="ja-JP" altLang="en-US"/>
          </a:p>
        </p:txBody>
      </p:sp>
      <p:sp>
        <p:nvSpPr>
          <p:cNvPr id="6" name="フッター プレースホルダー 5">
            <a:extLst>
              <a:ext uri="{FF2B5EF4-FFF2-40B4-BE49-F238E27FC236}">
                <a16:creationId xmlns:a16="http://schemas.microsoft.com/office/drawing/2014/main" id="{00DE48F6-CEA3-BA96-10C6-9363022021F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F6B7A2-453B-5FB0-9FD1-00AC7B663754}"/>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2076872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00AE4C-CEA7-C256-C898-82A068AB727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269F9F1-3887-84C7-0DB3-03E93A200D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0F8A954-9C0F-C26B-56BD-933EC84796A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5C81DFB-D969-363A-9CC1-C2CABBFE9F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78D5716-E34B-048F-F1EC-2FE68DDB3E4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13A45-B226-8544-E713-4C2C40C5760C}"/>
              </a:ext>
            </a:extLst>
          </p:cNvPr>
          <p:cNvSpPr>
            <a:spLocks noGrp="1"/>
          </p:cNvSpPr>
          <p:nvPr>
            <p:ph type="dt" sz="half" idx="10"/>
          </p:nvPr>
        </p:nvSpPr>
        <p:spPr/>
        <p:txBody>
          <a:bodyPr/>
          <a:lstStyle/>
          <a:p>
            <a:fld id="{A68FFB37-D868-468A-B264-D2A96DB1F97E}" type="datetime1">
              <a:rPr kumimoji="1" lang="ja-JP" altLang="en-US" smtClean="0"/>
              <a:t>2026/2/4</a:t>
            </a:fld>
            <a:endParaRPr kumimoji="1" lang="ja-JP" altLang="en-US"/>
          </a:p>
        </p:txBody>
      </p:sp>
      <p:sp>
        <p:nvSpPr>
          <p:cNvPr id="8" name="フッター プレースホルダー 7">
            <a:extLst>
              <a:ext uri="{FF2B5EF4-FFF2-40B4-BE49-F238E27FC236}">
                <a16:creationId xmlns:a16="http://schemas.microsoft.com/office/drawing/2014/main" id="{C50981FA-72C8-8B39-A19C-81D30CC2C7D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0200FFF-F8BB-DF19-F2B9-661E5B5A0C9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288369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158A0D-BB9A-4E5F-FF91-0A1BF6CD101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00DCFDF-565F-B25C-24A9-331EF8C916F8}"/>
              </a:ext>
            </a:extLst>
          </p:cNvPr>
          <p:cNvSpPr>
            <a:spLocks noGrp="1"/>
          </p:cNvSpPr>
          <p:nvPr>
            <p:ph type="dt" sz="half" idx="10"/>
          </p:nvPr>
        </p:nvSpPr>
        <p:spPr/>
        <p:txBody>
          <a:bodyPr/>
          <a:lstStyle/>
          <a:p>
            <a:fld id="{23A23F1D-5E15-4CBA-9F02-411BAE8BECE2}" type="datetime1">
              <a:rPr kumimoji="1" lang="ja-JP" altLang="en-US" smtClean="0"/>
              <a:t>2026/2/4</a:t>
            </a:fld>
            <a:endParaRPr kumimoji="1" lang="ja-JP" altLang="en-US"/>
          </a:p>
        </p:txBody>
      </p:sp>
      <p:sp>
        <p:nvSpPr>
          <p:cNvPr id="4" name="フッター プレースホルダー 3">
            <a:extLst>
              <a:ext uri="{FF2B5EF4-FFF2-40B4-BE49-F238E27FC236}">
                <a16:creationId xmlns:a16="http://schemas.microsoft.com/office/drawing/2014/main" id="{3D8E2DBF-4BBC-384E-023E-9DD8CFFD4BC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2DB1147-C2BB-69BF-37F8-ADDC3680C728}"/>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32721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49C5D7-8717-687F-959B-0982A94CFDE0}"/>
              </a:ext>
            </a:extLst>
          </p:cNvPr>
          <p:cNvSpPr>
            <a:spLocks noGrp="1"/>
          </p:cNvSpPr>
          <p:nvPr>
            <p:ph type="dt" sz="half" idx="10"/>
          </p:nvPr>
        </p:nvSpPr>
        <p:spPr/>
        <p:txBody>
          <a:bodyPr/>
          <a:lstStyle/>
          <a:p>
            <a:fld id="{1C21656A-9DF8-4C26-B033-5C7153033165}" type="datetime1">
              <a:rPr kumimoji="1" lang="ja-JP" altLang="en-US" smtClean="0"/>
              <a:t>2026/2/4</a:t>
            </a:fld>
            <a:endParaRPr kumimoji="1" lang="ja-JP" altLang="en-US"/>
          </a:p>
        </p:txBody>
      </p:sp>
      <p:sp>
        <p:nvSpPr>
          <p:cNvPr id="3" name="フッター プレースホルダー 2">
            <a:extLst>
              <a:ext uri="{FF2B5EF4-FFF2-40B4-BE49-F238E27FC236}">
                <a16:creationId xmlns:a16="http://schemas.microsoft.com/office/drawing/2014/main" id="{1A27AEAD-A318-18DE-39C0-035882B90E2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B1DA8EF-111C-A9DD-0C62-245688E1AD7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630190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D890AC-639B-071D-5A2F-DFB7BD22805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F53DA71-C45A-8202-0D96-512066241A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E138C5A-194F-F5DC-F349-7FF56DB701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D5D8594-C607-352E-3CC5-E0AB20E1C47D}"/>
              </a:ext>
            </a:extLst>
          </p:cNvPr>
          <p:cNvSpPr>
            <a:spLocks noGrp="1"/>
          </p:cNvSpPr>
          <p:nvPr>
            <p:ph type="dt" sz="half" idx="10"/>
          </p:nvPr>
        </p:nvSpPr>
        <p:spPr/>
        <p:txBody>
          <a:bodyPr/>
          <a:lstStyle/>
          <a:p>
            <a:fld id="{F04C0A21-F299-40C0-BFCB-AC8CBB0127E9}" type="datetime1">
              <a:rPr kumimoji="1" lang="ja-JP" altLang="en-US" smtClean="0"/>
              <a:t>2026/2/4</a:t>
            </a:fld>
            <a:endParaRPr kumimoji="1" lang="ja-JP" altLang="en-US"/>
          </a:p>
        </p:txBody>
      </p:sp>
      <p:sp>
        <p:nvSpPr>
          <p:cNvPr id="6" name="フッター プレースホルダー 5">
            <a:extLst>
              <a:ext uri="{FF2B5EF4-FFF2-40B4-BE49-F238E27FC236}">
                <a16:creationId xmlns:a16="http://schemas.microsoft.com/office/drawing/2014/main" id="{ACC6B998-7282-FA40-9A14-156617A9DF3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482FECF-7F47-15A3-C535-C1BBFB64739D}"/>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2171075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F54C2-158C-1070-1F7F-623485F94BA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C076A01-7457-FF0C-2426-566664F439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6BE6B64-64DC-1318-A222-2382659790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5224C0-8083-6C42-D1BB-25E4D1965FA2}"/>
              </a:ext>
            </a:extLst>
          </p:cNvPr>
          <p:cNvSpPr>
            <a:spLocks noGrp="1"/>
          </p:cNvSpPr>
          <p:nvPr>
            <p:ph type="dt" sz="half" idx="10"/>
          </p:nvPr>
        </p:nvSpPr>
        <p:spPr/>
        <p:txBody>
          <a:bodyPr/>
          <a:lstStyle/>
          <a:p>
            <a:fld id="{8AB8AE8E-D8E6-4C52-8879-7B742742F54C}" type="datetime1">
              <a:rPr kumimoji="1" lang="ja-JP" altLang="en-US" smtClean="0"/>
              <a:t>2026/2/4</a:t>
            </a:fld>
            <a:endParaRPr kumimoji="1" lang="ja-JP" altLang="en-US"/>
          </a:p>
        </p:txBody>
      </p:sp>
      <p:sp>
        <p:nvSpPr>
          <p:cNvPr id="6" name="フッター プレースホルダー 5">
            <a:extLst>
              <a:ext uri="{FF2B5EF4-FFF2-40B4-BE49-F238E27FC236}">
                <a16:creationId xmlns:a16="http://schemas.microsoft.com/office/drawing/2014/main" id="{3AA2069F-CB27-9E9F-5CE8-7274B22A5F4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2E21DE-83D1-90F5-2507-7B6ECDB63041}"/>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942275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C19012-E8D7-1BB1-7514-74220E662C9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D2796E-FB47-CA5B-AE74-BC627ADA24C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DD65D5-89C5-ABDD-4999-30A47076EEF6}"/>
              </a:ext>
            </a:extLst>
          </p:cNvPr>
          <p:cNvSpPr>
            <a:spLocks noGrp="1"/>
          </p:cNvSpPr>
          <p:nvPr>
            <p:ph type="dt" sz="half" idx="10"/>
          </p:nvPr>
        </p:nvSpPr>
        <p:spPr/>
        <p:txBody>
          <a:bodyPr/>
          <a:lstStyle/>
          <a:p>
            <a:fld id="{FF4724C8-DE43-476F-932D-2AC80E76751B}"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74E13BE3-D3A9-34A5-96D6-D54E9ADC17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69A259-00D6-3B46-434F-22DA37A57A49}"/>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991585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C2A6BBF-6C4A-A1DC-EA5C-6F4FB7B9917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4A7BBD-8FAD-99E1-1742-804364027C2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985176-C0F1-3E41-01A5-B16B89A850D6}"/>
              </a:ext>
            </a:extLst>
          </p:cNvPr>
          <p:cNvSpPr>
            <a:spLocks noGrp="1"/>
          </p:cNvSpPr>
          <p:nvPr>
            <p:ph type="dt" sz="half" idx="10"/>
          </p:nvPr>
        </p:nvSpPr>
        <p:spPr/>
        <p:txBody>
          <a:bodyPr/>
          <a:lstStyle/>
          <a:p>
            <a:fld id="{9A027C0D-C9EF-4282-8005-EAFD94DFEE43}"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21392980-0C8E-D29D-C87A-98347E7C59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1E0AB5-69DE-ED74-19C4-DC5341CC2514}"/>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068954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7AA5AD9-7844-87E5-F0CB-9D1401ECD1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7562D5D-3E2B-F593-BA46-0495D4ECA6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7F42ED9-93C1-27AF-FA12-BF2CD1C04E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0A1952-210A-445A-98C6-DDC7D15F7039}"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2741D8D8-4235-AA39-6E89-54B7EE50B4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2F48B3E-773E-4B4F-4A7E-A0B25B0EB4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542027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054781-2985-41CA-7BE1-644EB8E9FBD4}"/>
              </a:ext>
            </a:extLst>
          </p:cNvPr>
          <p:cNvSpPr>
            <a:spLocks noGrp="1"/>
          </p:cNvSpPr>
          <p:nvPr>
            <p:ph type="ctrTitle"/>
          </p:nvPr>
        </p:nvSpPr>
        <p:spPr>
          <a:xfrm>
            <a:off x="1873045" y="1122363"/>
            <a:ext cx="8214852" cy="2387600"/>
          </a:xfrm>
        </p:spPr>
        <p:txBody>
          <a:bodyPr>
            <a:normAutofit/>
          </a:bodyPr>
          <a:lstStyle/>
          <a:p>
            <a:r>
              <a:rPr lang="ja-JP" altLang="en-US" sz="5400" dirty="0"/>
              <a:t>髭密度マップを用いた</a:t>
            </a:r>
            <a:br>
              <a:rPr lang="en-US" altLang="ja-JP" sz="5400" dirty="0"/>
            </a:br>
            <a:r>
              <a:rPr lang="ja-JP" altLang="en-US" sz="4800" dirty="0"/>
              <a:t>皮膚の不均質性の再現</a:t>
            </a:r>
            <a:endParaRPr kumimoji="1" lang="ja-JP" altLang="en-US" sz="5400" dirty="0"/>
          </a:p>
        </p:txBody>
      </p:sp>
      <p:sp>
        <p:nvSpPr>
          <p:cNvPr id="3" name="字幕 2">
            <a:extLst>
              <a:ext uri="{FF2B5EF4-FFF2-40B4-BE49-F238E27FC236}">
                <a16:creationId xmlns:a16="http://schemas.microsoft.com/office/drawing/2014/main" id="{803113DA-E244-62CC-0080-64ABC9E2CFC6}"/>
              </a:ext>
            </a:extLst>
          </p:cNvPr>
          <p:cNvSpPr>
            <a:spLocks noGrp="1"/>
          </p:cNvSpPr>
          <p:nvPr>
            <p:ph type="subTitle" idx="1"/>
          </p:nvPr>
        </p:nvSpPr>
        <p:spPr/>
        <p:txBody>
          <a:bodyPr/>
          <a:lstStyle/>
          <a:p>
            <a:r>
              <a:rPr lang="en-US" altLang="ja-JP" dirty="0"/>
              <a:t>CG</a:t>
            </a:r>
            <a:r>
              <a:rPr lang="ja-JP" altLang="en-US" dirty="0"/>
              <a:t>研　学部</a:t>
            </a:r>
            <a:r>
              <a:rPr lang="en-US" altLang="ja-JP" dirty="0"/>
              <a:t>4</a:t>
            </a:r>
            <a:r>
              <a:rPr lang="ja-JP" altLang="en-US" dirty="0"/>
              <a:t>年</a:t>
            </a:r>
            <a:br>
              <a:rPr lang="en-US" altLang="ja-JP" dirty="0"/>
            </a:br>
            <a:r>
              <a:rPr lang="en-US" altLang="ja-JP" dirty="0"/>
              <a:t>15822133</a:t>
            </a:r>
            <a:br>
              <a:rPr lang="en-US" altLang="ja-JP" dirty="0"/>
            </a:br>
            <a:r>
              <a:rPr lang="ja-JP" altLang="en-US" dirty="0"/>
              <a:t>山本雷夏</a:t>
            </a:r>
          </a:p>
        </p:txBody>
      </p:sp>
      <p:sp>
        <p:nvSpPr>
          <p:cNvPr id="5" name="スライド番号プレースホルダー 4">
            <a:extLst>
              <a:ext uri="{FF2B5EF4-FFF2-40B4-BE49-F238E27FC236}">
                <a16:creationId xmlns:a16="http://schemas.microsoft.com/office/drawing/2014/main" id="{A4BC3FB4-CD44-3F59-1FCE-B4C1C51AEA3A}"/>
              </a:ext>
            </a:extLst>
          </p:cNvPr>
          <p:cNvSpPr>
            <a:spLocks noGrp="1"/>
          </p:cNvSpPr>
          <p:nvPr>
            <p:ph type="sldNum" sz="quarter" idx="12"/>
          </p:nvPr>
        </p:nvSpPr>
        <p:spPr/>
        <p:txBody>
          <a:bodyPr/>
          <a:lstStyle/>
          <a:p>
            <a:fld id="{F9D186E6-336C-46FC-92C1-3353550E4494}" type="slidenum">
              <a:rPr kumimoji="1" lang="ja-JP" altLang="en-US" sz="4000" smtClean="0"/>
              <a:t>1</a:t>
            </a:fld>
            <a:endParaRPr kumimoji="1" lang="ja-JP" altLang="en-US" sz="4000" dirty="0"/>
          </a:p>
        </p:txBody>
      </p:sp>
    </p:spTree>
    <p:extLst>
      <p:ext uri="{BB962C8B-B14F-4D97-AF65-F5344CB8AC3E}">
        <p14:creationId xmlns:p14="http://schemas.microsoft.com/office/powerpoint/2010/main" val="1692217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5E1AF9-D82C-2A59-CD0E-DC03996C9450}"/>
              </a:ext>
            </a:extLst>
          </p:cNvPr>
          <p:cNvSpPr>
            <a:spLocks noGrp="1"/>
          </p:cNvSpPr>
          <p:nvPr>
            <p:ph type="title"/>
          </p:nvPr>
        </p:nvSpPr>
        <p:spPr/>
        <p:txBody>
          <a:bodyPr/>
          <a:lstStyle/>
          <a:p>
            <a:r>
              <a:rPr kumimoji="1" lang="ja-JP" altLang="en-US" dirty="0"/>
              <a:t>研究動機</a:t>
            </a:r>
          </a:p>
        </p:txBody>
      </p:sp>
      <p:sp>
        <p:nvSpPr>
          <p:cNvPr id="3" name="コンテンツ プレースホルダー 2">
            <a:extLst>
              <a:ext uri="{FF2B5EF4-FFF2-40B4-BE49-F238E27FC236}">
                <a16:creationId xmlns:a16="http://schemas.microsoft.com/office/drawing/2014/main" id="{81DBCE1E-1BDA-F97F-6A73-B29C018B9360}"/>
              </a:ext>
            </a:extLst>
          </p:cNvPr>
          <p:cNvSpPr>
            <a:spLocks noGrp="1"/>
          </p:cNvSpPr>
          <p:nvPr>
            <p:ph idx="1"/>
          </p:nvPr>
        </p:nvSpPr>
        <p:spPr>
          <a:xfrm>
            <a:off x="838200" y="1629824"/>
            <a:ext cx="11777663" cy="5122597"/>
          </a:xfrm>
        </p:spPr>
        <p:txBody>
          <a:bodyPr>
            <a:normAutofit/>
          </a:bodyPr>
          <a:lstStyle/>
          <a:p>
            <a:pPr marL="0" indent="0">
              <a:buNone/>
            </a:pPr>
            <a:r>
              <a:rPr kumimoji="1" lang="ja-JP" altLang="en-US" dirty="0"/>
              <a:t>皮膚は身体全体を覆う部位</a:t>
            </a:r>
            <a:endParaRPr kumimoji="1" lang="en-US" altLang="ja-JP" dirty="0"/>
          </a:p>
          <a:p>
            <a:pPr marL="0" indent="0">
              <a:buNone/>
            </a:pPr>
            <a:endParaRPr lang="en-US" altLang="ja-JP" dirty="0"/>
          </a:p>
          <a:p>
            <a:pPr marL="0" indent="0">
              <a:buNone/>
            </a:pPr>
            <a:r>
              <a:rPr kumimoji="1" lang="ja-JP" altLang="en-US" dirty="0"/>
              <a:t>→</a:t>
            </a:r>
            <a:r>
              <a:rPr kumimoji="1" lang="ja-JP" altLang="en-US" sz="3200" b="1" u="sng" dirty="0"/>
              <a:t>皮膚の状態が見た目にも大きな影響</a:t>
            </a:r>
            <a:r>
              <a:rPr kumimoji="1" lang="ja-JP" altLang="en-US" sz="3200" dirty="0"/>
              <a:t>を与える</a:t>
            </a:r>
            <a:r>
              <a:rPr kumimoji="1" lang="en-US" altLang="ja-JP" dirty="0"/>
              <a:t>				</a:t>
            </a:r>
          </a:p>
          <a:p>
            <a:pPr marL="0" indent="0">
              <a:buNone/>
            </a:pPr>
            <a:endParaRPr lang="en-US" altLang="ja-JP" u="sng" dirty="0"/>
          </a:p>
          <a:p>
            <a:pPr marL="0" indent="0">
              <a:buNone/>
            </a:pPr>
            <a:endParaRPr lang="en-US" altLang="ja-JP" u="sng" dirty="0"/>
          </a:p>
          <a:p>
            <a:pPr marL="0" indent="0">
              <a:buNone/>
            </a:pPr>
            <a:endParaRPr lang="en-US" altLang="ja-JP" u="sng" dirty="0"/>
          </a:p>
          <a:p>
            <a:pPr marL="0" indent="0">
              <a:buNone/>
            </a:pPr>
            <a:endParaRPr lang="en-US" altLang="ja-JP" u="sng" dirty="0"/>
          </a:p>
          <a:p>
            <a:pPr marL="0" indent="0">
              <a:buNone/>
            </a:pPr>
            <a:endParaRPr lang="en-US" altLang="ja-JP" u="sng" dirty="0"/>
          </a:p>
        </p:txBody>
      </p:sp>
      <p:sp>
        <p:nvSpPr>
          <p:cNvPr id="4" name="テキスト ボックス 3">
            <a:extLst>
              <a:ext uri="{FF2B5EF4-FFF2-40B4-BE49-F238E27FC236}">
                <a16:creationId xmlns:a16="http://schemas.microsoft.com/office/drawing/2014/main" id="{1267D926-CDF2-6817-62AB-CDEE4EB04A4E}"/>
              </a:ext>
            </a:extLst>
          </p:cNvPr>
          <p:cNvSpPr txBox="1"/>
          <p:nvPr/>
        </p:nvSpPr>
        <p:spPr>
          <a:xfrm>
            <a:off x="1395413" y="4858844"/>
            <a:ext cx="2492990" cy="369332"/>
          </a:xfrm>
          <a:prstGeom prst="rect">
            <a:avLst/>
          </a:prstGeom>
          <a:noFill/>
        </p:spPr>
        <p:txBody>
          <a:bodyPr wrap="none" rtlCol="0">
            <a:spAutoFit/>
          </a:bodyPr>
          <a:lstStyle/>
          <a:p>
            <a:r>
              <a:rPr lang="ja-JP" altLang="en-US" dirty="0"/>
              <a:t>大谷</a:t>
            </a:r>
            <a:r>
              <a:rPr kumimoji="1" lang="ja-JP" altLang="en-US" dirty="0"/>
              <a:t>（高校生の画像）</a:t>
            </a:r>
          </a:p>
        </p:txBody>
      </p:sp>
      <p:pic>
        <p:nvPicPr>
          <p:cNvPr id="7" name="図 6">
            <a:extLst>
              <a:ext uri="{FF2B5EF4-FFF2-40B4-BE49-F238E27FC236}">
                <a16:creationId xmlns:a16="http://schemas.microsoft.com/office/drawing/2014/main" id="{E1DAE32A-0AAA-BB97-0445-803B0B6C5B04}"/>
              </a:ext>
            </a:extLst>
          </p:cNvPr>
          <p:cNvPicPr>
            <a:picLocks noChangeAspect="1"/>
          </p:cNvPicPr>
          <p:nvPr/>
        </p:nvPicPr>
        <p:blipFill>
          <a:blip r:embed="rId3"/>
          <a:srcRect t="1169" r="21387" b="28457"/>
          <a:stretch>
            <a:fillRect/>
          </a:stretch>
        </p:blipFill>
        <p:spPr>
          <a:xfrm>
            <a:off x="1059582" y="3484023"/>
            <a:ext cx="3164651" cy="3118973"/>
          </a:xfrm>
          <a:prstGeom prst="rect">
            <a:avLst/>
          </a:prstGeom>
        </p:spPr>
      </p:pic>
      <p:pic>
        <p:nvPicPr>
          <p:cNvPr id="13" name="図 12">
            <a:extLst>
              <a:ext uri="{FF2B5EF4-FFF2-40B4-BE49-F238E27FC236}">
                <a16:creationId xmlns:a16="http://schemas.microsoft.com/office/drawing/2014/main" id="{6354BB0E-28EB-5FB3-1B49-0DA1A6A73DA4}"/>
              </a:ext>
            </a:extLst>
          </p:cNvPr>
          <p:cNvPicPr>
            <a:picLocks noChangeAspect="1"/>
          </p:cNvPicPr>
          <p:nvPr/>
        </p:nvPicPr>
        <p:blipFill>
          <a:blip r:embed="rId4"/>
          <a:stretch>
            <a:fillRect/>
          </a:stretch>
        </p:blipFill>
        <p:spPr>
          <a:xfrm>
            <a:off x="4224233" y="4496707"/>
            <a:ext cx="4657725" cy="1996168"/>
          </a:xfrm>
          <a:prstGeom prst="rect">
            <a:avLst/>
          </a:prstGeom>
        </p:spPr>
      </p:pic>
      <p:sp>
        <p:nvSpPr>
          <p:cNvPr id="6" name="スライド番号プレースホルダー 5">
            <a:extLst>
              <a:ext uri="{FF2B5EF4-FFF2-40B4-BE49-F238E27FC236}">
                <a16:creationId xmlns:a16="http://schemas.microsoft.com/office/drawing/2014/main" id="{B95BDB13-F21A-9044-5089-4E734E584AE8}"/>
              </a:ext>
            </a:extLst>
          </p:cNvPr>
          <p:cNvSpPr>
            <a:spLocks noGrp="1"/>
          </p:cNvSpPr>
          <p:nvPr>
            <p:ph type="sldNum" sz="quarter" idx="12"/>
          </p:nvPr>
        </p:nvSpPr>
        <p:spPr/>
        <p:txBody>
          <a:bodyPr/>
          <a:lstStyle/>
          <a:p>
            <a:fld id="{F9D186E6-336C-46FC-92C1-3353550E4494}" type="slidenum">
              <a:rPr kumimoji="1" lang="ja-JP" altLang="en-US" sz="4000" smtClean="0"/>
              <a:t>2</a:t>
            </a:fld>
            <a:endParaRPr kumimoji="1" lang="ja-JP" altLang="en-US" sz="4000" dirty="0"/>
          </a:p>
        </p:txBody>
      </p:sp>
    </p:spTree>
    <p:extLst>
      <p:ext uri="{BB962C8B-B14F-4D97-AF65-F5344CB8AC3E}">
        <p14:creationId xmlns:p14="http://schemas.microsoft.com/office/powerpoint/2010/main" val="2672428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26F1D5-1DF8-FDA4-6BAF-22D8167EE47C}"/>
              </a:ext>
            </a:extLst>
          </p:cNvPr>
          <p:cNvSpPr>
            <a:spLocks noGrp="1"/>
          </p:cNvSpPr>
          <p:nvPr>
            <p:ph type="title"/>
          </p:nvPr>
        </p:nvSpPr>
        <p:spPr/>
        <p:txBody>
          <a:bodyPr/>
          <a:lstStyle/>
          <a:p>
            <a:r>
              <a:rPr kumimoji="1" lang="ja-JP" altLang="en-US" dirty="0"/>
              <a:t>研究動機</a:t>
            </a:r>
          </a:p>
        </p:txBody>
      </p:sp>
      <p:sp>
        <p:nvSpPr>
          <p:cNvPr id="3" name="コンテンツ プレースホルダー 2">
            <a:extLst>
              <a:ext uri="{FF2B5EF4-FFF2-40B4-BE49-F238E27FC236}">
                <a16:creationId xmlns:a16="http://schemas.microsoft.com/office/drawing/2014/main" id="{1E40E27B-9D36-7A3E-6E75-251A5679A445}"/>
              </a:ext>
            </a:extLst>
          </p:cNvPr>
          <p:cNvSpPr>
            <a:spLocks noGrp="1"/>
          </p:cNvSpPr>
          <p:nvPr>
            <p:ph idx="1"/>
          </p:nvPr>
        </p:nvSpPr>
        <p:spPr>
          <a:xfrm>
            <a:off x="838200" y="1825624"/>
            <a:ext cx="10515600" cy="4918075"/>
          </a:xfrm>
        </p:spPr>
        <p:txBody>
          <a:bodyPr>
            <a:normAutofit lnSpcReduction="10000"/>
          </a:bodyPr>
          <a:lstStyle/>
          <a:p>
            <a:pPr marL="0" indent="0">
              <a:buNone/>
            </a:pPr>
            <a:r>
              <a:rPr kumimoji="1" lang="ja-JP" altLang="en-US" b="1" u="sng" dirty="0"/>
              <a:t>皮膚内部の構造</a:t>
            </a:r>
            <a:r>
              <a:rPr kumimoji="1" lang="ja-JP" altLang="en-US" dirty="0"/>
              <a:t>も見た目に影響を与える。</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en-US" altLang="ja-JP" dirty="0"/>
          </a:p>
          <a:p>
            <a:endParaRPr kumimoji="1" lang="en-US" altLang="ja-JP" dirty="0"/>
          </a:p>
          <a:p>
            <a:pPr marL="0" indent="0">
              <a:buNone/>
            </a:pPr>
            <a:r>
              <a:rPr lang="ja-JP" altLang="en-US" u="sng" dirty="0"/>
              <a:t>皮膚の不均質性の再現、主に</a:t>
            </a:r>
            <a:r>
              <a:rPr lang="ja-JP" altLang="en-US" b="1" u="sng" dirty="0"/>
              <a:t>髭に関する影響</a:t>
            </a:r>
            <a:r>
              <a:rPr lang="ja-JP" altLang="en-US" dirty="0"/>
              <a:t>について取り組む</a:t>
            </a:r>
            <a:endParaRPr lang="en-US" altLang="ja-JP" dirty="0">
              <a:effectLst>
                <a:outerShdw blurRad="38100" dist="38100" dir="2700000" algn="tl">
                  <a:srgbClr val="000000">
                    <a:alpha val="43137"/>
                  </a:srgbClr>
                </a:outerShdw>
              </a:effectLst>
            </a:endParaRPr>
          </a:p>
        </p:txBody>
      </p:sp>
      <p:pic>
        <p:nvPicPr>
          <p:cNvPr id="4" name="図 3" descr="口に手を当てている男性&#10;&#10;AI 生成コンテンツは誤りを含む可能性があります。">
            <a:extLst>
              <a:ext uri="{FF2B5EF4-FFF2-40B4-BE49-F238E27FC236}">
                <a16:creationId xmlns:a16="http://schemas.microsoft.com/office/drawing/2014/main" id="{3D13E78A-9AAB-0AD9-C996-E4FCBCDC524D}"/>
              </a:ext>
            </a:extLst>
          </p:cNvPr>
          <p:cNvPicPr>
            <a:picLocks noChangeAspect="1"/>
          </p:cNvPicPr>
          <p:nvPr/>
        </p:nvPicPr>
        <p:blipFill>
          <a:blip r:embed="rId3">
            <a:extLst>
              <a:ext uri="{28A0092B-C50C-407E-A947-70E740481C1C}">
                <a14:useLocalDpi xmlns:a14="http://schemas.microsoft.com/office/drawing/2010/main" val="0"/>
              </a:ext>
            </a:extLst>
          </a:blip>
          <a:srcRect l="28329" t="-876" r="10615" b="37114"/>
          <a:stretch>
            <a:fillRect/>
          </a:stretch>
        </p:blipFill>
        <p:spPr>
          <a:xfrm>
            <a:off x="6647234" y="2578096"/>
            <a:ext cx="3792166" cy="2554287"/>
          </a:xfrm>
          <a:prstGeom prst="rect">
            <a:avLst/>
          </a:prstGeom>
        </p:spPr>
      </p:pic>
      <p:pic>
        <p:nvPicPr>
          <p:cNvPr id="6" name="図 5">
            <a:extLst>
              <a:ext uri="{FF2B5EF4-FFF2-40B4-BE49-F238E27FC236}">
                <a16:creationId xmlns:a16="http://schemas.microsoft.com/office/drawing/2014/main" id="{F91CCCAC-D66A-E5F9-AE1E-61941455074D}"/>
              </a:ext>
            </a:extLst>
          </p:cNvPr>
          <p:cNvPicPr>
            <a:picLocks noChangeAspect="1"/>
          </p:cNvPicPr>
          <p:nvPr/>
        </p:nvPicPr>
        <p:blipFill>
          <a:blip r:embed="rId4"/>
          <a:stretch>
            <a:fillRect/>
          </a:stretch>
        </p:blipFill>
        <p:spPr>
          <a:xfrm>
            <a:off x="1138237" y="2578096"/>
            <a:ext cx="4191000" cy="2962688"/>
          </a:xfrm>
          <a:prstGeom prst="rect">
            <a:avLst/>
          </a:prstGeom>
        </p:spPr>
      </p:pic>
      <p:sp>
        <p:nvSpPr>
          <p:cNvPr id="7" name="テキスト ボックス 6">
            <a:extLst>
              <a:ext uri="{FF2B5EF4-FFF2-40B4-BE49-F238E27FC236}">
                <a16:creationId xmlns:a16="http://schemas.microsoft.com/office/drawing/2014/main" id="{FFDBA275-202E-48FD-ACBA-6DD7505D09A5}"/>
              </a:ext>
            </a:extLst>
          </p:cNvPr>
          <p:cNvSpPr txBox="1"/>
          <p:nvPr/>
        </p:nvSpPr>
        <p:spPr>
          <a:xfrm>
            <a:off x="1974418" y="5386895"/>
            <a:ext cx="2518638" cy="307777"/>
          </a:xfrm>
          <a:prstGeom prst="rect">
            <a:avLst/>
          </a:prstGeom>
          <a:noFill/>
        </p:spPr>
        <p:txBody>
          <a:bodyPr wrap="none" rtlCol="0">
            <a:spAutoFit/>
          </a:bodyPr>
          <a:lstStyle/>
          <a:p>
            <a:r>
              <a:rPr kumimoji="1" lang="ja-JP" altLang="en-US" sz="1400" dirty="0"/>
              <a:t>（第一三共ヘルスケアより）</a:t>
            </a:r>
          </a:p>
        </p:txBody>
      </p:sp>
      <p:sp>
        <p:nvSpPr>
          <p:cNvPr id="8" name="スライド番号プレースホルダー 7">
            <a:extLst>
              <a:ext uri="{FF2B5EF4-FFF2-40B4-BE49-F238E27FC236}">
                <a16:creationId xmlns:a16="http://schemas.microsoft.com/office/drawing/2014/main" id="{355CFB42-D5E1-8242-F54C-9EC1D7B1DBCD}"/>
              </a:ext>
            </a:extLst>
          </p:cNvPr>
          <p:cNvSpPr>
            <a:spLocks noGrp="1"/>
          </p:cNvSpPr>
          <p:nvPr>
            <p:ph type="sldNum" sz="quarter" idx="12"/>
          </p:nvPr>
        </p:nvSpPr>
        <p:spPr/>
        <p:txBody>
          <a:bodyPr/>
          <a:lstStyle/>
          <a:p>
            <a:fld id="{F9D186E6-336C-46FC-92C1-3353550E4494}" type="slidenum">
              <a:rPr kumimoji="1" lang="ja-JP" altLang="en-US" sz="4000" smtClean="0"/>
              <a:t>3</a:t>
            </a:fld>
            <a:endParaRPr kumimoji="1" lang="ja-JP" altLang="en-US" sz="4000" dirty="0"/>
          </a:p>
        </p:txBody>
      </p:sp>
    </p:spTree>
    <p:extLst>
      <p:ext uri="{BB962C8B-B14F-4D97-AF65-F5344CB8AC3E}">
        <p14:creationId xmlns:p14="http://schemas.microsoft.com/office/powerpoint/2010/main" val="1692255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2D58E5-538A-CD2E-BB85-AE795002D783}"/>
              </a:ext>
            </a:extLst>
          </p:cNvPr>
          <p:cNvSpPr>
            <a:spLocks noGrp="1"/>
          </p:cNvSpPr>
          <p:nvPr>
            <p:ph type="title"/>
          </p:nvPr>
        </p:nvSpPr>
        <p:spPr/>
        <p:txBody>
          <a:bodyPr/>
          <a:lstStyle/>
          <a:p>
            <a:r>
              <a:rPr kumimoji="1" lang="ja-JP" altLang="en-US" b="1" dirty="0"/>
              <a:t>反射特性</a:t>
            </a:r>
          </a:p>
        </p:txBody>
      </p:sp>
      <p:sp>
        <p:nvSpPr>
          <p:cNvPr id="3" name="コンテンツ プレースホルダー 2">
            <a:extLst>
              <a:ext uri="{FF2B5EF4-FFF2-40B4-BE49-F238E27FC236}">
                <a16:creationId xmlns:a16="http://schemas.microsoft.com/office/drawing/2014/main" id="{F747B59D-48EC-8965-7751-C76D37816E45}"/>
              </a:ext>
            </a:extLst>
          </p:cNvPr>
          <p:cNvSpPr>
            <a:spLocks noGrp="1"/>
          </p:cNvSpPr>
          <p:nvPr>
            <p:ph idx="1"/>
          </p:nvPr>
        </p:nvSpPr>
        <p:spPr/>
        <p:txBody>
          <a:bodyPr/>
          <a:lstStyle/>
          <a:p>
            <a:pPr marL="0" indent="0">
              <a:buNone/>
            </a:pPr>
            <a:r>
              <a:rPr kumimoji="1" lang="ja-JP" altLang="en-US" dirty="0"/>
              <a:t>物体の見え方には、反射、散乱など、</a:t>
            </a:r>
            <a:endParaRPr kumimoji="1" lang="en-US" altLang="ja-JP" dirty="0"/>
          </a:p>
          <a:p>
            <a:pPr marL="0" indent="0">
              <a:buNone/>
            </a:pPr>
            <a:r>
              <a:rPr kumimoji="1" lang="ja-JP" altLang="en-US" dirty="0"/>
              <a:t>その表面での光の振る舞いが強く関係してくる、</a:t>
            </a:r>
            <a:endParaRPr kumimoji="1" lang="en-US" altLang="ja-JP" dirty="0"/>
          </a:p>
          <a:p>
            <a:endParaRPr lang="en-US" altLang="ja-JP" dirty="0"/>
          </a:p>
          <a:p>
            <a:r>
              <a:rPr kumimoji="1" lang="en-US" altLang="ja-JP" b="1" dirty="0"/>
              <a:t>BRDF</a:t>
            </a:r>
            <a:r>
              <a:rPr kumimoji="1" lang="ja-JP" altLang="en-US" b="1" dirty="0"/>
              <a:t>（双方向反射率分布関数）</a:t>
            </a:r>
            <a:endParaRPr kumimoji="1" lang="en-US" altLang="ja-JP" b="1" dirty="0"/>
          </a:p>
          <a:p>
            <a:pPr marL="0" indent="0">
              <a:buNone/>
            </a:pPr>
            <a:r>
              <a:rPr lang="ja-JP" altLang="en-US" dirty="0"/>
              <a:t>物体表面の光の反射特性を表す関数。</a:t>
            </a:r>
            <a:endParaRPr lang="en-US" altLang="ja-JP" dirty="0"/>
          </a:p>
          <a:p>
            <a:pPr marL="0" indent="0">
              <a:buNone/>
            </a:pPr>
            <a:endParaRPr kumimoji="1" lang="ja-JP" altLang="en-US" dirty="0"/>
          </a:p>
        </p:txBody>
      </p:sp>
      <mc:AlternateContent xmlns:mc="http://schemas.openxmlformats.org/markup-compatibility/2006" xmlns:a14="http://schemas.microsoft.com/office/drawing/2010/main">
        <mc:Choice Requires="a14">
          <p:sp>
            <p:nvSpPr>
              <p:cNvPr id="4" name="正方形/長方形 3">
                <a:extLst>
                  <a:ext uri="{FF2B5EF4-FFF2-40B4-BE49-F238E27FC236}">
                    <a16:creationId xmlns:a16="http://schemas.microsoft.com/office/drawing/2014/main" id="{E38AAF07-A823-CF6E-78CF-92B21D634624}"/>
                  </a:ext>
                </a:extLst>
              </p:cNvPr>
              <p:cNvSpPr/>
              <p:nvPr/>
            </p:nvSpPr>
            <p:spPr>
              <a:xfrm>
                <a:off x="838200" y="4597400"/>
                <a:ext cx="6426200" cy="11599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ja-JP" sz="2400" i="1" smtClean="0">
                          <a:latin typeface="Cambria Math" panose="02040503050406030204" pitchFamily="18" charset="0"/>
                        </a:rPr>
                        <m:t>F</m:t>
                      </m:r>
                      <m:d>
                        <m:dPr>
                          <m:ctrlPr>
                            <a:rPr lang="en-US" altLang="ja-JP" sz="2400" i="1" smtClean="0">
                              <a:latin typeface="Cambria Math" panose="02040503050406030204" pitchFamily="18" charset="0"/>
                            </a:rPr>
                          </m:ctrlPr>
                        </m:dPr>
                        <m:e>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ja-JP" altLang="en-US" sz="2400" i="1" smtClean="0">
                                  <a:latin typeface="Cambria Math" panose="02040503050406030204" pitchFamily="18" charset="0"/>
                                </a:rPr>
                                <m:t>𝜔</m:t>
                              </m:r>
                            </m:e>
                            <m:sup>
                              <m:r>
                                <a:rPr lang="en-US" altLang="ja-JP" sz="2400" b="0" i="1" smtClean="0">
                                  <a:latin typeface="Cambria Math" panose="02040503050406030204" pitchFamily="18" charset="0"/>
                                </a:rPr>
                                <m:t>′</m:t>
                              </m:r>
                            </m:sup>
                          </m:sSup>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e>
                      </m:d>
                      <m:r>
                        <a:rPr lang="en-US" altLang="ja-JP" sz="2400" b="0" i="1" smtClean="0">
                          <a:latin typeface="Cambria Math" panose="02040503050406030204" pitchFamily="18" charset="0"/>
                        </a:rPr>
                        <m:t>=</m:t>
                      </m:r>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𝑑𝐿</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𝑑𝐸</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r>
                            <a:rPr lang="en-US" altLang="ja-JP" sz="2400" b="0" i="1" smtClean="0">
                              <a:latin typeface="Cambria Math" panose="02040503050406030204" pitchFamily="18" charset="0"/>
                            </a:rPr>
                            <m:t>′)</m:t>
                          </m:r>
                        </m:den>
                      </m:f>
                    </m:oMath>
                  </m:oMathPara>
                </a14:m>
                <a:endParaRPr kumimoji="1" lang="en-US" altLang="ja-JP" sz="2400" dirty="0"/>
              </a:p>
              <a:p>
                <a:pPr algn="ctr"/>
                <a:r>
                  <a:rPr lang="en-US" altLang="ja-JP" dirty="0"/>
                  <a:t>x=</a:t>
                </a:r>
                <a:r>
                  <a:rPr lang="ja-JP" altLang="en-US" dirty="0"/>
                  <a:t>光の入射点の位置　</a:t>
                </a:r>
                <a:r>
                  <a:rPr lang="en-US" altLang="ja-JP" dirty="0"/>
                  <a:t>ω</a:t>
                </a:r>
                <a:r>
                  <a:rPr lang="ja-JP" altLang="en-US" dirty="0"/>
                  <a:t>＝反射方向　</a:t>
                </a:r>
                <a:r>
                  <a:rPr lang="en-US" altLang="ja-JP" dirty="0"/>
                  <a:t>ω’</a:t>
                </a:r>
                <a:r>
                  <a:rPr lang="ja-JP" altLang="en-US" dirty="0"/>
                  <a:t>＝入射方向</a:t>
                </a:r>
                <a:endParaRPr kumimoji="1" lang="ja-JP" altLang="en-US" dirty="0"/>
              </a:p>
            </p:txBody>
          </p:sp>
        </mc:Choice>
        <mc:Fallback xmlns="">
          <p:sp>
            <p:nvSpPr>
              <p:cNvPr id="4" name="正方形/長方形 3">
                <a:extLst>
                  <a:ext uri="{FF2B5EF4-FFF2-40B4-BE49-F238E27FC236}">
                    <a16:creationId xmlns:a16="http://schemas.microsoft.com/office/drawing/2014/main" id="{E38AAF07-A823-CF6E-78CF-92B21D634624}"/>
                  </a:ext>
                </a:extLst>
              </p:cNvPr>
              <p:cNvSpPr>
                <a:spLocks noRot="1" noChangeAspect="1" noMove="1" noResize="1" noEditPoints="1" noAdjustHandles="1" noChangeArrowheads="1" noChangeShapeType="1" noTextEdit="1"/>
              </p:cNvSpPr>
              <p:nvPr/>
            </p:nvSpPr>
            <p:spPr>
              <a:xfrm>
                <a:off x="838200" y="4597400"/>
                <a:ext cx="6426200" cy="1159933"/>
              </a:xfrm>
              <a:prstGeom prst="rect">
                <a:avLst/>
              </a:prstGeom>
              <a:blipFill>
                <a:blip r:embed="rId3"/>
                <a:stretch>
                  <a:fillRect b="-6218"/>
                </a:stretch>
              </a:blipFill>
            </p:spPr>
            <p:txBody>
              <a:bodyPr/>
              <a:lstStyle/>
              <a:p>
                <a:r>
                  <a:rPr lang="ja-JP" altLang="en-US">
                    <a:noFill/>
                  </a:rPr>
                  <a:t> </a:t>
                </a:r>
              </a:p>
            </p:txBody>
          </p:sp>
        </mc:Fallback>
      </mc:AlternateContent>
      <p:grpSp>
        <p:nvGrpSpPr>
          <p:cNvPr id="6" name="グループ化 5">
            <a:extLst>
              <a:ext uri="{FF2B5EF4-FFF2-40B4-BE49-F238E27FC236}">
                <a16:creationId xmlns:a16="http://schemas.microsoft.com/office/drawing/2014/main" id="{4FDC6AEF-8790-2E18-C03A-EB87874188AA}"/>
              </a:ext>
            </a:extLst>
          </p:cNvPr>
          <p:cNvGrpSpPr/>
          <p:nvPr/>
        </p:nvGrpSpPr>
        <p:grpSpPr>
          <a:xfrm>
            <a:off x="8229758" y="3312072"/>
            <a:ext cx="3725017" cy="2712491"/>
            <a:chOff x="8204358" y="2516205"/>
            <a:chExt cx="3725017" cy="2712491"/>
          </a:xfrm>
        </p:grpSpPr>
        <p:sp>
          <p:nvSpPr>
            <p:cNvPr id="7" name="テキスト ボックス 6">
              <a:extLst>
                <a:ext uri="{FF2B5EF4-FFF2-40B4-BE49-F238E27FC236}">
                  <a16:creationId xmlns:a16="http://schemas.microsoft.com/office/drawing/2014/main" id="{395D9447-9720-144E-501A-A978B3789677}"/>
                </a:ext>
              </a:extLst>
            </p:cNvPr>
            <p:cNvSpPr txBox="1"/>
            <p:nvPr/>
          </p:nvSpPr>
          <p:spPr>
            <a:xfrm>
              <a:off x="9702800" y="4554517"/>
              <a:ext cx="728134" cy="369332"/>
            </a:xfrm>
            <a:prstGeom prst="rect">
              <a:avLst/>
            </a:prstGeom>
            <a:noFill/>
          </p:spPr>
          <p:txBody>
            <a:bodyPr wrap="square" rtlCol="0">
              <a:spAutoFit/>
            </a:bodyPr>
            <a:lstStyle/>
            <a:p>
              <a:r>
                <a:rPr kumimoji="1" lang="en-US" altLang="ja-JP"/>
                <a:t>χ</a:t>
              </a:r>
              <a:endParaRPr kumimoji="1" lang="ja-JP" altLang="en-US" dirty="0"/>
            </a:p>
          </p:txBody>
        </p:sp>
        <p:grpSp>
          <p:nvGrpSpPr>
            <p:cNvPr id="8" name="グループ化 7">
              <a:extLst>
                <a:ext uri="{FF2B5EF4-FFF2-40B4-BE49-F238E27FC236}">
                  <a16:creationId xmlns:a16="http://schemas.microsoft.com/office/drawing/2014/main" id="{9F7EE071-135B-398C-F017-AB8E7393C945}"/>
                </a:ext>
              </a:extLst>
            </p:cNvPr>
            <p:cNvGrpSpPr/>
            <p:nvPr/>
          </p:nvGrpSpPr>
          <p:grpSpPr>
            <a:xfrm>
              <a:off x="8204358" y="2516205"/>
              <a:ext cx="3725017" cy="2712491"/>
              <a:chOff x="8212666" y="2545309"/>
              <a:chExt cx="3725017" cy="2712491"/>
            </a:xfrm>
          </p:grpSpPr>
          <p:cxnSp>
            <p:nvCxnSpPr>
              <p:cNvPr id="9" name="直線コネクタ 8">
                <a:extLst>
                  <a:ext uri="{FF2B5EF4-FFF2-40B4-BE49-F238E27FC236}">
                    <a16:creationId xmlns:a16="http://schemas.microsoft.com/office/drawing/2014/main" id="{7733B8EF-92D8-19E7-DE8E-F6F3432A9A4D}"/>
                  </a:ext>
                </a:extLst>
              </p:cNvPr>
              <p:cNvCxnSpPr>
                <a:cxnSpLocks/>
              </p:cNvCxnSpPr>
              <p:nvPr/>
            </p:nvCxnSpPr>
            <p:spPr>
              <a:xfrm flipV="1">
                <a:off x="8246534" y="4123267"/>
                <a:ext cx="1083733" cy="1134532"/>
              </a:xfrm>
              <a:prstGeom prst="line">
                <a:avLst/>
              </a:prstGeom>
            </p:spPr>
            <p:style>
              <a:lnRef idx="2">
                <a:schemeClr val="dk1"/>
              </a:lnRef>
              <a:fillRef idx="0">
                <a:schemeClr val="dk1"/>
              </a:fillRef>
              <a:effectRef idx="1">
                <a:schemeClr val="dk1"/>
              </a:effectRef>
              <a:fontRef idx="minor">
                <a:schemeClr val="tx1"/>
              </a:fontRef>
            </p:style>
          </p:cxnSp>
          <p:cxnSp>
            <p:nvCxnSpPr>
              <p:cNvPr id="10" name="直線コネクタ 9">
                <a:extLst>
                  <a:ext uri="{FF2B5EF4-FFF2-40B4-BE49-F238E27FC236}">
                    <a16:creationId xmlns:a16="http://schemas.microsoft.com/office/drawing/2014/main" id="{A3AC4D6B-1F21-E68C-FF8B-9E1712230461}"/>
                  </a:ext>
                </a:extLst>
              </p:cNvPr>
              <p:cNvCxnSpPr>
                <a:cxnSpLocks/>
              </p:cNvCxnSpPr>
              <p:nvPr/>
            </p:nvCxnSpPr>
            <p:spPr>
              <a:xfrm flipV="1">
                <a:off x="10668000" y="4123267"/>
                <a:ext cx="1032933" cy="1134533"/>
              </a:xfrm>
              <a:prstGeom prst="line">
                <a:avLst/>
              </a:prstGeom>
            </p:spPr>
            <p:style>
              <a:lnRef idx="2">
                <a:schemeClr val="dk1"/>
              </a:lnRef>
              <a:fillRef idx="0">
                <a:schemeClr val="dk1"/>
              </a:fillRef>
              <a:effectRef idx="1">
                <a:schemeClr val="dk1"/>
              </a:effectRef>
              <a:fontRef idx="minor">
                <a:schemeClr val="tx1"/>
              </a:fontRef>
            </p:style>
          </p:cxnSp>
          <p:cxnSp>
            <p:nvCxnSpPr>
              <p:cNvPr id="11" name="直線コネクタ 10">
                <a:extLst>
                  <a:ext uri="{FF2B5EF4-FFF2-40B4-BE49-F238E27FC236}">
                    <a16:creationId xmlns:a16="http://schemas.microsoft.com/office/drawing/2014/main" id="{8EF84A3F-6C69-C93B-419D-F54C100BE47B}"/>
                  </a:ext>
                </a:extLst>
              </p:cNvPr>
              <p:cNvCxnSpPr/>
              <p:nvPr/>
            </p:nvCxnSpPr>
            <p:spPr>
              <a:xfrm>
                <a:off x="9347200" y="4123267"/>
                <a:ext cx="2353733" cy="0"/>
              </a:xfrm>
              <a:prstGeom prst="line">
                <a:avLst/>
              </a:prstGeom>
            </p:spPr>
            <p:style>
              <a:lnRef idx="2">
                <a:schemeClr val="dk1"/>
              </a:lnRef>
              <a:fillRef idx="0">
                <a:schemeClr val="dk1"/>
              </a:fillRef>
              <a:effectRef idx="1">
                <a:schemeClr val="dk1"/>
              </a:effectRef>
              <a:fontRef idx="minor">
                <a:schemeClr val="tx1"/>
              </a:fontRef>
            </p:style>
          </p:cxnSp>
          <p:cxnSp>
            <p:nvCxnSpPr>
              <p:cNvPr id="12" name="直線コネクタ 11">
                <a:extLst>
                  <a:ext uri="{FF2B5EF4-FFF2-40B4-BE49-F238E27FC236}">
                    <a16:creationId xmlns:a16="http://schemas.microsoft.com/office/drawing/2014/main" id="{622F6F88-7B52-4922-92EE-5E86DF8A3916}"/>
                  </a:ext>
                </a:extLst>
              </p:cNvPr>
              <p:cNvCxnSpPr>
                <a:cxnSpLocks/>
              </p:cNvCxnSpPr>
              <p:nvPr/>
            </p:nvCxnSpPr>
            <p:spPr>
              <a:xfrm>
                <a:off x="8263467" y="5257799"/>
                <a:ext cx="2404533" cy="0"/>
              </a:xfrm>
              <a:prstGeom prst="line">
                <a:avLst/>
              </a:prstGeom>
            </p:spPr>
            <p:style>
              <a:lnRef idx="2">
                <a:schemeClr val="dk1"/>
              </a:lnRef>
              <a:fillRef idx="0">
                <a:schemeClr val="dk1"/>
              </a:fillRef>
              <a:effectRef idx="1">
                <a:schemeClr val="dk1"/>
              </a:effectRef>
              <a:fontRef idx="minor">
                <a:schemeClr val="tx1"/>
              </a:fontRef>
            </p:style>
          </p:cxnSp>
          <p:cxnSp>
            <p:nvCxnSpPr>
              <p:cNvPr id="13" name="直線矢印コネクタ 12">
                <a:extLst>
                  <a:ext uri="{FF2B5EF4-FFF2-40B4-BE49-F238E27FC236}">
                    <a16:creationId xmlns:a16="http://schemas.microsoft.com/office/drawing/2014/main" id="{939BDE5C-2C4D-A523-0A2E-FAE284B07808}"/>
                  </a:ext>
                </a:extLst>
              </p:cNvPr>
              <p:cNvCxnSpPr/>
              <p:nvPr/>
            </p:nvCxnSpPr>
            <p:spPr>
              <a:xfrm flipV="1">
                <a:off x="9931400" y="2904067"/>
                <a:ext cx="0" cy="17018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直線矢印コネクタ 13">
                <a:extLst>
                  <a:ext uri="{FF2B5EF4-FFF2-40B4-BE49-F238E27FC236}">
                    <a16:creationId xmlns:a16="http://schemas.microsoft.com/office/drawing/2014/main" id="{F2E3EA29-2AD7-E336-0F15-527EE0A5DDF7}"/>
                  </a:ext>
                </a:extLst>
              </p:cNvPr>
              <p:cNvCxnSpPr/>
              <p:nvPr/>
            </p:nvCxnSpPr>
            <p:spPr>
              <a:xfrm flipH="1" flipV="1">
                <a:off x="8458199" y="3602038"/>
                <a:ext cx="1456266" cy="10038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直線矢印コネクタ 14">
                <a:extLst>
                  <a:ext uri="{FF2B5EF4-FFF2-40B4-BE49-F238E27FC236}">
                    <a16:creationId xmlns:a16="http://schemas.microsoft.com/office/drawing/2014/main" id="{A0BD2A36-DAF4-611A-35D6-1A19AB1C29D2}"/>
                  </a:ext>
                </a:extLst>
              </p:cNvPr>
              <p:cNvCxnSpPr>
                <a:cxnSpLocks/>
              </p:cNvCxnSpPr>
              <p:nvPr/>
            </p:nvCxnSpPr>
            <p:spPr>
              <a:xfrm flipH="1">
                <a:off x="10938774" y="3008062"/>
                <a:ext cx="575734" cy="6133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直線コネクタ 15">
                <a:extLst>
                  <a:ext uri="{FF2B5EF4-FFF2-40B4-BE49-F238E27FC236}">
                    <a16:creationId xmlns:a16="http://schemas.microsoft.com/office/drawing/2014/main" id="{4086EEB8-A8C2-3C0B-0EEA-488FE33DCFC4}"/>
                  </a:ext>
                </a:extLst>
              </p:cNvPr>
              <p:cNvCxnSpPr/>
              <p:nvPr/>
            </p:nvCxnSpPr>
            <p:spPr>
              <a:xfrm flipH="1">
                <a:off x="9948332" y="3594054"/>
                <a:ext cx="1024467" cy="1003829"/>
              </a:xfrm>
              <a:prstGeom prst="line">
                <a:avLst/>
              </a:prstGeom>
            </p:spPr>
            <p:style>
              <a:lnRef idx="2">
                <a:schemeClr val="dk1"/>
              </a:lnRef>
              <a:fillRef idx="0">
                <a:schemeClr val="dk1"/>
              </a:fillRef>
              <a:effectRef idx="1">
                <a:schemeClr val="dk1"/>
              </a:effectRef>
              <a:fontRef idx="minor">
                <a:schemeClr val="tx1"/>
              </a:fontRef>
            </p:style>
          </p:cxnSp>
          <p:sp>
            <p:nvSpPr>
              <p:cNvPr id="17" name="円弧 16">
                <a:extLst>
                  <a:ext uri="{FF2B5EF4-FFF2-40B4-BE49-F238E27FC236}">
                    <a16:creationId xmlns:a16="http://schemas.microsoft.com/office/drawing/2014/main" id="{ED40D491-FECD-FDF5-85FB-3009F7AB22C3}"/>
                  </a:ext>
                </a:extLst>
              </p:cNvPr>
              <p:cNvSpPr/>
              <p:nvPr/>
            </p:nvSpPr>
            <p:spPr>
              <a:xfrm rot="20961762">
                <a:off x="9402077" y="3504403"/>
                <a:ext cx="1261528" cy="1078967"/>
              </a:xfrm>
              <a:prstGeom prst="arc">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C83937B4-C7E2-F0FA-5722-4212A411D4DA}"/>
                  </a:ext>
                </a:extLst>
              </p:cNvPr>
              <p:cNvCxnSpPr/>
              <p:nvPr/>
            </p:nvCxnSpPr>
            <p:spPr>
              <a:xfrm flipV="1">
                <a:off x="9931400" y="3429000"/>
                <a:ext cx="914400" cy="1176867"/>
              </a:xfrm>
              <a:prstGeom prst="line">
                <a:avLst/>
              </a:prstGeom>
            </p:spPr>
            <p:style>
              <a:lnRef idx="2">
                <a:schemeClr val="dk1"/>
              </a:lnRef>
              <a:fillRef idx="0">
                <a:schemeClr val="dk1"/>
              </a:fillRef>
              <a:effectRef idx="1">
                <a:schemeClr val="dk1"/>
              </a:effectRef>
              <a:fontRef idx="minor">
                <a:schemeClr val="tx1"/>
              </a:fontRef>
            </p:style>
          </p:cxnSp>
          <p:cxnSp>
            <p:nvCxnSpPr>
              <p:cNvPr id="19" name="直線コネクタ 18">
                <a:extLst>
                  <a:ext uri="{FF2B5EF4-FFF2-40B4-BE49-F238E27FC236}">
                    <a16:creationId xmlns:a16="http://schemas.microsoft.com/office/drawing/2014/main" id="{CE2D88C5-A930-ADCD-BDF1-8EDC0533F765}"/>
                  </a:ext>
                </a:extLst>
              </p:cNvPr>
              <p:cNvCxnSpPr/>
              <p:nvPr/>
            </p:nvCxnSpPr>
            <p:spPr>
              <a:xfrm flipV="1">
                <a:off x="9931400" y="3754967"/>
                <a:ext cx="1143000" cy="850900"/>
              </a:xfrm>
              <a:prstGeom prst="line">
                <a:avLst/>
              </a:prstGeom>
            </p:spPr>
            <p:style>
              <a:lnRef idx="2">
                <a:schemeClr val="dk1"/>
              </a:lnRef>
              <a:fillRef idx="0">
                <a:schemeClr val="dk1"/>
              </a:fillRef>
              <a:effectRef idx="1">
                <a:schemeClr val="dk1"/>
              </a:effectRef>
              <a:fontRef idx="minor">
                <a:schemeClr val="tx1"/>
              </a:fontRef>
            </p:style>
          </p:cxnSp>
          <p:sp>
            <p:nvSpPr>
              <p:cNvPr id="20" name="円弧 19">
                <a:extLst>
                  <a:ext uri="{FF2B5EF4-FFF2-40B4-BE49-F238E27FC236}">
                    <a16:creationId xmlns:a16="http://schemas.microsoft.com/office/drawing/2014/main" id="{F28BEC5C-E43B-9D6F-EF33-E8F54BA727BA}"/>
                  </a:ext>
                </a:extLst>
              </p:cNvPr>
              <p:cNvSpPr/>
              <p:nvPr/>
            </p:nvSpPr>
            <p:spPr>
              <a:xfrm rot="2851615">
                <a:off x="10758802" y="3497024"/>
                <a:ext cx="417871" cy="178092"/>
              </a:xfrm>
              <a:prstGeom prst="arc">
                <a:avLst>
                  <a:gd name="adj1" fmla="val 20956052"/>
                  <a:gd name="adj2" fmla="val 20780845"/>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9585912-5462-A901-DD5B-457EA3EC3DA2}"/>
                  </a:ext>
                </a:extLst>
              </p:cNvPr>
              <p:cNvSpPr txBox="1"/>
              <p:nvPr/>
            </p:nvSpPr>
            <p:spPr>
              <a:xfrm>
                <a:off x="9745135" y="2545309"/>
                <a:ext cx="406393" cy="369332"/>
              </a:xfrm>
              <a:prstGeom prst="rect">
                <a:avLst/>
              </a:prstGeom>
              <a:noFill/>
            </p:spPr>
            <p:txBody>
              <a:bodyPr wrap="square" rtlCol="0">
                <a:spAutoFit/>
              </a:bodyPr>
              <a:lstStyle/>
              <a:p>
                <a:r>
                  <a:rPr lang="en-US" altLang="ja-JP" b="1" dirty="0"/>
                  <a:t>N</a:t>
                </a:r>
                <a:endParaRPr kumimoji="1" lang="ja-JP" altLang="en-US" b="1" dirty="0"/>
              </a:p>
            </p:txBody>
          </p:sp>
          <p:sp>
            <p:nvSpPr>
              <p:cNvPr id="22" name="テキスト ボックス 21">
                <a:extLst>
                  <a:ext uri="{FF2B5EF4-FFF2-40B4-BE49-F238E27FC236}">
                    <a16:creationId xmlns:a16="http://schemas.microsoft.com/office/drawing/2014/main" id="{D39FA27E-806E-4E87-005E-FF1517365E63}"/>
                  </a:ext>
                </a:extLst>
              </p:cNvPr>
              <p:cNvSpPr txBox="1"/>
              <p:nvPr/>
            </p:nvSpPr>
            <p:spPr>
              <a:xfrm>
                <a:off x="8212666" y="3271302"/>
                <a:ext cx="245533" cy="369332"/>
              </a:xfrm>
              <a:prstGeom prst="rect">
                <a:avLst/>
              </a:prstGeom>
              <a:noFill/>
            </p:spPr>
            <p:txBody>
              <a:bodyPr wrap="square" rtlCol="0">
                <a:spAutoFit/>
              </a:bodyPr>
              <a:lstStyle/>
              <a:p>
                <a:r>
                  <a:rPr kumimoji="1" lang="en-US" altLang="ja-JP" dirty="0"/>
                  <a:t>ω</a:t>
                </a:r>
                <a:endParaRPr kumimoji="1" lang="ja-JP" altLang="en-US" dirty="0"/>
              </a:p>
            </p:txBody>
          </p:sp>
          <p:sp>
            <p:nvSpPr>
              <p:cNvPr id="23" name="テキスト ボックス 22">
                <a:extLst>
                  <a:ext uri="{FF2B5EF4-FFF2-40B4-BE49-F238E27FC236}">
                    <a16:creationId xmlns:a16="http://schemas.microsoft.com/office/drawing/2014/main" id="{B06B485E-5A21-B7FE-133F-7D2D30340425}"/>
                  </a:ext>
                </a:extLst>
              </p:cNvPr>
              <p:cNvSpPr txBox="1"/>
              <p:nvPr/>
            </p:nvSpPr>
            <p:spPr>
              <a:xfrm>
                <a:off x="11361949" y="2638729"/>
                <a:ext cx="575734" cy="369332"/>
              </a:xfrm>
              <a:prstGeom prst="rect">
                <a:avLst/>
              </a:prstGeom>
              <a:noFill/>
            </p:spPr>
            <p:txBody>
              <a:bodyPr wrap="square" rtlCol="0">
                <a:spAutoFit/>
              </a:bodyPr>
              <a:lstStyle/>
              <a:p>
                <a:r>
                  <a:rPr kumimoji="1" lang="en-US" altLang="ja-JP" dirty="0"/>
                  <a:t>ω'</a:t>
                </a:r>
                <a:endParaRPr kumimoji="1" lang="ja-JP" altLang="en-US" dirty="0"/>
              </a:p>
            </p:txBody>
          </p:sp>
          <p:sp>
            <p:nvSpPr>
              <p:cNvPr id="24" name="テキスト ボックス 23">
                <a:extLst>
                  <a:ext uri="{FF2B5EF4-FFF2-40B4-BE49-F238E27FC236}">
                    <a16:creationId xmlns:a16="http://schemas.microsoft.com/office/drawing/2014/main" id="{7A1C4729-F64A-6365-7C68-E1958FD72C20}"/>
                  </a:ext>
                </a:extLst>
              </p:cNvPr>
              <p:cNvSpPr txBox="1"/>
              <p:nvPr/>
            </p:nvSpPr>
            <p:spPr>
              <a:xfrm>
                <a:off x="11199741" y="3551159"/>
                <a:ext cx="602474" cy="338554"/>
              </a:xfrm>
              <a:prstGeom prst="rect">
                <a:avLst/>
              </a:prstGeom>
              <a:noFill/>
            </p:spPr>
            <p:txBody>
              <a:bodyPr wrap="square" rtlCol="0">
                <a:spAutoFit/>
              </a:bodyPr>
              <a:lstStyle/>
              <a:p>
                <a:r>
                  <a:rPr lang="en-US" altLang="ja-JP" sz="1600" dirty="0" err="1"/>
                  <a:t>d</a:t>
                </a:r>
                <a:r>
                  <a:rPr kumimoji="1" lang="en-US" altLang="ja-JP" sz="1600" dirty="0" err="1"/>
                  <a:t>ω</a:t>
                </a:r>
                <a:r>
                  <a:rPr kumimoji="1" lang="en-US" altLang="ja-JP" sz="1600" dirty="0"/>
                  <a:t>’</a:t>
                </a:r>
                <a:endParaRPr kumimoji="1" lang="ja-JP" altLang="en-US" sz="1600" dirty="0"/>
              </a:p>
            </p:txBody>
          </p:sp>
          <p:sp>
            <p:nvSpPr>
              <p:cNvPr id="25" name="テキスト ボックス 24">
                <a:extLst>
                  <a:ext uri="{FF2B5EF4-FFF2-40B4-BE49-F238E27FC236}">
                    <a16:creationId xmlns:a16="http://schemas.microsoft.com/office/drawing/2014/main" id="{B8D65BDE-CE73-2AE7-7273-1A85280A4862}"/>
                  </a:ext>
                </a:extLst>
              </p:cNvPr>
              <p:cNvSpPr txBox="1"/>
              <p:nvPr/>
            </p:nvSpPr>
            <p:spPr>
              <a:xfrm>
                <a:off x="10197940" y="3219987"/>
                <a:ext cx="415498" cy="369332"/>
              </a:xfrm>
              <a:prstGeom prst="rect">
                <a:avLst/>
              </a:prstGeom>
              <a:noFill/>
            </p:spPr>
            <p:txBody>
              <a:bodyPr wrap="none" rtlCol="0">
                <a:spAutoFit/>
              </a:bodyPr>
              <a:lstStyle/>
              <a:p>
                <a:r>
                  <a:rPr kumimoji="1" lang="en-US" altLang="ja-JP" dirty="0"/>
                  <a:t>θ</a:t>
                </a:r>
                <a:endParaRPr kumimoji="1" lang="ja-JP" altLang="en-US" dirty="0"/>
              </a:p>
            </p:txBody>
          </p:sp>
        </p:grpSp>
      </p:grpSp>
      <p:sp>
        <p:nvSpPr>
          <p:cNvPr id="26" name="スライド番号プレースホルダー 25">
            <a:extLst>
              <a:ext uri="{FF2B5EF4-FFF2-40B4-BE49-F238E27FC236}">
                <a16:creationId xmlns:a16="http://schemas.microsoft.com/office/drawing/2014/main" id="{105AE515-8B77-F150-EFA0-0BF395367EFF}"/>
              </a:ext>
            </a:extLst>
          </p:cNvPr>
          <p:cNvSpPr>
            <a:spLocks noGrp="1"/>
          </p:cNvSpPr>
          <p:nvPr>
            <p:ph type="sldNum" sz="quarter" idx="12"/>
          </p:nvPr>
        </p:nvSpPr>
        <p:spPr/>
        <p:txBody>
          <a:bodyPr/>
          <a:lstStyle/>
          <a:p>
            <a:fld id="{F9D186E6-336C-46FC-92C1-3353550E4494}" type="slidenum">
              <a:rPr kumimoji="1" lang="ja-JP" altLang="en-US" sz="4000" smtClean="0"/>
              <a:t>4</a:t>
            </a:fld>
            <a:endParaRPr kumimoji="1" lang="ja-JP" altLang="en-US" sz="4000" dirty="0"/>
          </a:p>
        </p:txBody>
      </p:sp>
    </p:spTree>
    <p:extLst>
      <p:ext uri="{BB962C8B-B14F-4D97-AF65-F5344CB8AC3E}">
        <p14:creationId xmlns:p14="http://schemas.microsoft.com/office/powerpoint/2010/main" val="2891801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BE530F-5A49-69EF-AACC-33424B400F8A}"/>
              </a:ext>
            </a:extLst>
          </p:cNvPr>
          <p:cNvSpPr>
            <a:spLocks noGrp="1"/>
          </p:cNvSpPr>
          <p:nvPr>
            <p:ph type="title"/>
          </p:nvPr>
        </p:nvSpPr>
        <p:spPr/>
        <p:txBody>
          <a:bodyPr>
            <a:normAutofit/>
          </a:bodyPr>
          <a:lstStyle/>
          <a:p>
            <a:r>
              <a:rPr lang="ja-JP" altLang="en-US" b="1" dirty="0"/>
              <a:t>表面下散乱</a:t>
            </a:r>
            <a:br>
              <a:rPr lang="en-US" altLang="ja-JP" b="1" dirty="0"/>
            </a:br>
            <a:r>
              <a:rPr lang="ja-JP" altLang="en-US" b="1" dirty="0"/>
              <a:t>（</a:t>
            </a:r>
            <a:r>
              <a:rPr lang="en-US" altLang="ja-JP" b="1" dirty="0"/>
              <a:t>Sub Surface</a:t>
            </a:r>
            <a:r>
              <a:rPr lang="ja-JP" altLang="en-US" b="1" dirty="0"/>
              <a:t> </a:t>
            </a:r>
            <a:r>
              <a:rPr lang="en-US" altLang="ja-JP" b="1" dirty="0"/>
              <a:t>Scattering ,SSS</a:t>
            </a:r>
            <a:r>
              <a:rPr lang="ja-JP" altLang="en-US" b="1" dirty="0"/>
              <a:t>）</a:t>
            </a:r>
            <a:endParaRPr kumimoji="1" lang="ja-JP" altLang="en-US" dirty="0"/>
          </a:p>
        </p:txBody>
      </p:sp>
      <p:sp>
        <p:nvSpPr>
          <p:cNvPr id="3" name="コンテンツ プレースホルダー 2">
            <a:extLst>
              <a:ext uri="{FF2B5EF4-FFF2-40B4-BE49-F238E27FC236}">
                <a16:creationId xmlns:a16="http://schemas.microsoft.com/office/drawing/2014/main" id="{86A47FDD-4854-D9B7-C169-CFE980443512}"/>
              </a:ext>
            </a:extLst>
          </p:cNvPr>
          <p:cNvSpPr>
            <a:spLocks noGrp="1"/>
          </p:cNvSpPr>
          <p:nvPr>
            <p:ph idx="1"/>
          </p:nvPr>
        </p:nvSpPr>
        <p:spPr>
          <a:xfrm>
            <a:off x="838200" y="2028825"/>
            <a:ext cx="10515600" cy="4148138"/>
          </a:xfrm>
        </p:spPr>
        <p:txBody>
          <a:bodyPr/>
          <a:lstStyle/>
          <a:p>
            <a:pPr marL="0" indent="0">
              <a:buNone/>
            </a:pPr>
            <a:r>
              <a:rPr lang="ja-JP" altLang="en-US" dirty="0"/>
              <a:t>物体に入射した光が、内部で散乱したのちに</a:t>
            </a:r>
            <a:endParaRPr lang="en-US" altLang="ja-JP" dirty="0"/>
          </a:p>
          <a:p>
            <a:pPr marL="0" indent="0">
              <a:buNone/>
            </a:pPr>
            <a:r>
              <a:rPr lang="ja-JP" altLang="en-US" dirty="0"/>
              <a:t>違う点から出てくる現象</a:t>
            </a:r>
            <a:br>
              <a:rPr lang="en-US" altLang="ja-JP" dirty="0"/>
            </a:br>
            <a:endParaRPr lang="en-US" altLang="ja-JP" dirty="0"/>
          </a:p>
          <a:p>
            <a:pPr marL="0" indent="0">
              <a:buNone/>
            </a:pPr>
            <a:r>
              <a:rPr lang="ja-JP" altLang="en-US" dirty="0"/>
              <a:t>⇒</a:t>
            </a:r>
            <a:r>
              <a:rPr lang="en-US" altLang="ja-JP" b="1" u="sng" dirty="0"/>
              <a:t>BRDF</a:t>
            </a:r>
            <a:r>
              <a:rPr lang="ja-JP" altLang="en-US" b="1" u="sng" dirty="0"/>
              <a:t>では取り扱うことができない</a:t>
            </a:r>
            <a:endParaRPr kumimoji="1" lang="ja-JP" altLang="en-US" b="1" u="sng" dirty="0"/>
          </a:p>
        </p:txBody>
      </p:sp>
      <p:grpSp>
        <p:nvGrpSpPr>
          <p:cNvPr id="12" name="グループ化 11">
            <a:extLst>
              <a:ext uri="{FF2B5EF4-FFF2-40B4-BE49-F238E27FC236}">
                <a16:creationId xmlns:a16="http://schemas.microsoft.com/office/drawing/2014/main" id="{B04BBC7A-2DBF-A3A3-9F74-E70DD62BA910}"/>
              </a:ext>
            </a:extLst>
          </p:cNvPr>
          <p:cNvGrpSpPr/>
          <p:nvPr/>
        </p:nvGrpSpPr>
        <p:grpSpPr>
          <a:xfrm>
            <a:off x="7706044" y="2533474"/>
            <a:ext cx="4038599" cy="1791052"/>
            <a:chOff x="3276600" y="3429000"/>
            <a:chExt cx="3285067" cy="2031999"/>
          </a:xfrm>
        </p:grpSpPr>
        <p:sp>
          <p:nvSpPr>
            <p:cNvPr id="13" name="正方形/長方形 12">
              <a:extLst>
                <a:ext uri="{FF2B5EF4-FFF2-40B4-BE49-F238E27FC236}">
                  <a16:creationId xmlns:a16="http://schemas.microsoft.com/office/drawing/2014/main" id="{845631D2-646A-A3E1-75AB-0B334B1909D6}"/>
                </a:ext>
              </a:extLst>
            </p:cNvPr>
            <p:cNvSpPr/>
            <p:nvPr/>
          </p:nvSpPr>
          <p:spPr>
            <a:xfrm>
              <a:off x="3276600" y="4614332"/>
              <a:ext cx="3166533" cy="846667"/>
            </a:xfrm>
            <a:prstGeom prst="rect">
              <a:avLst/>
            </a:prstGeom>
            <a:solidFill>
              <a:schemeClr val="bg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cxnSp>
          <p:nvCxnSpPr>
            <p:cNvPr id="14" name="直線矢印コネクタ 13">
              <a:extLst>
                <a:ext uri="{FF2B5EF4-FFF2-40B4-BE49-F238E27FC236}">
                  <a16:creationId xmlns:a16="http://schemas.microsoft.com/office/drawing/2014/main" id="{F598D6AA-DA67-F7BE-D6F1-C9372154FF13}"/>
                </a:ext>
              </a:extLst>
            </p:cNvPr>
            <p:cNvCxnSpPr/>
            <p:nvPr/>
          </p:nvCxnSpPr>
          <p:spPr>
            <a:xfrm flipH="1">
              <a:off x="5520267" y="3429000"/>
              <a:ext cx="1041400" cy="1168400"/>
            </a:xfrm>
            <a:prstGeom prst="straightConnector1">
              <a:avLst/>
            </a:prstGeom>
            <a:ln>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15" name="直線コネクタ 14">
              <a:extLst>
                <a:ext uri="{FF2B5EF4-FFF2-40B4-BE49-F238E27FC236}">
                  <a16:creationId xmlns:a16="http://schemas.microsoft.com/office/drawing/2014/main" id="{5B7F7657-1D78-0C4F-E9F0-910FB9A121EE}"/>
                </a:ext>
              </a:extLst>
            </p:cNvPr>
            <p:cNvCxnSpPr/>
            <p:nvPr/>
          </p:nvCxnSpPr>
          <p:spPr>
            <a:xfrm flipH="1">
              <a:off x="5334000" y="4614332"/>
              <a:ext cx="194733" cy="406401"/>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D2437AB1-CDDF-E8D2-405E-B72A9AAA1DC9}"/>
                </a:ext>
              </a:extLst>
            </p:cNvPr>
            <p:cNvCxnSpPr/>
            <p:nvPr/>
          </p:nvCxnSpPr>
          <p:spPr>
            <a:xfrm>
              <a:off x="4944533" y="4792133"/>
              <a:ext cx="381000" cy="245534"/>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1D786C07-4A49-C7B7-F3BC-8ED231B83412}"/>
                </a:ext>
              </a:extLst>
            </p:cNvPr>
            <p:cNvCxnSpPr/>
            <p:nvPr/>
          </p:nvCxnSpPr>
          <p:spPr>
            <a:xfrm flipH="1">
              <a:off x="4546600" y="4783667"/>
              <a:ext cx="381000" cy="237066"/>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930E7E39-BA3D-CBC9-E525-82CEA4B73C97}"/>
                </a:ext>
              </a:extLst>
            </p:cNvPr>
            <p:cNvCxnSpPr/>
            <p:nvPr/>
          </p:nvCxnSpPr>
          <p:spPr>
            <a:xfrm>
              <a:off x="4419600" y="4597400"/>
              <a:ext cx="135467" cy="440267"/>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FBC888EB-AE7F-DCBC-47ED-F6C4CFBB3AF6}"/>
                </a:ext>
              </a:extLst>
            </p:cNvPr>
            <p:cNvCxnSpPr/>
            <p:nvPr/>
          </p:nvCxnSpPr>
          <p:spPr>
            <a:xfrm flipH="1" flipV="1">
              <a:off x="3378200" y="3784600"/>
              <a:ext cx="1041400" cy="829732"/>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grpSp>
      <p:pic>
        <p:nvPicPr>
          <p:cNvPr id="21" name="図 20" descr="手の指&#10;&#10;AI 生成コンテンツは誤りを含む可能性があります。">
            <a:extLst>
              <a:ext uri="{FF2B5EF4-FFF2-40B4-BE49-F238E27FC236}">
                <a16:creationId xmlns:a16="http://schemas.microsoft.com/office/drawing/2014/main" id="{EAD9EEA0-1ED0-0DF3-C82A-89977D291E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089327"/>
            <a:ext cx="1776513" cy="2662689"/>
          </a:xfrm>
          <a:prstGeom prst="rect">
            <a:avLst/>
          </a:prstGeom>
        </p:spPr>
      </p:pic>
      <p:pic>
        <p:nvPicPr>
          <p:cNvPr id="23" name="図 22" descr="木の枝で植えている植物&#10;&#10;AI 生成コンテンツは誤りを含む可能性があります。">
            <a:extLst>
              <a:ext uri="{FF2B5EF4-FFF2-40B4-BE49-F238E27FC236}">
                <a16:creationId xmlns:a16="http://schemas.microsoft.com/office/drawing/2014/main" id="{E379CF84-1FB3-561A-D466-7A2819CA33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6400" y="4102894"/>
            <a:ext cx="3970580" cy="2649122"/>
          </a:xfrm>
          <a:prstGeom prst="rect">
            <a:avLst/>
          </a:prstGeom>
        </p:spPr>
      </p:pic>
      <p:sp>
        <p:nvSpPr>
          <p:cNvPr id="4" name="円: 塗りつぶしなし 3">
            <a:extLst>
              <a:ext uri="{FF2B5EF4-FFF2-40B4-BE49-F238E27FC236}">
                <a16:creationId xmlns:a16="http://schemas.microsoft.com/office/drawing/2014/main" id="{3DA1E43E-2833-735E-CB6D-98F3F2ADAB7F}"/>
              </a:ext>
            </a:extLst>
          </p:cNvPr>
          <p:cNvSpPr/>
          <p:nvPr/>
        </p:nvSpPr>
        <p:spPr>
          <a:xfrm rot="20274091">
            <a:off x="1089505" y="5387599"/>
            <a:ext cx="1235703" cy="640514"/>
          </a:xfrm>
          <a:prstGeom prst="donut">
            <a:avLst>
              <a:gd name="adj" fmla="val 5744"/>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 name="円: 塗りつぶしなし 4">
            <a:extLst>
              <a:ext uri="{FF2B5EF4-FFF2-40B4-BE49-F238E27FC236}">
                <a16:creationId xmlns:a16="http://schemas.microsoft.com/office/drawing/2014/main" id="{CA66F650-6D7B-C5A2-D936-554CE2939A4C}"/>
              </a:ext>
            </a:extLst>
          </p:cNvPr>
          <p:cNvSpPr/>
          <p:nvPr/>
        </p:nvSpPr>
        <p:spPr>
          <a:xfrm rot="20274091">
            <a:off x="4925953" y="4664216"/>
            <a:ext cx="1914398" cy="1634909"/>
          </a:xfrm>
          <a:prstGeom prst="donut">
            <a:avLst>
              <a:gd name="adj" fmla="val 5744"/>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スライド番号プレースホルダー 6">
            <a:extLst>
              <a:ext uri="{FF2B5EF4-FFF2-40B4-BE49-F238E27FC236}">
                <a16:creationId xmlns:a16="http://schemas.microsoft.com/office/drawing/2014/main" id="{169944A4-6E82-A0EA-7541-82C80ADFD346}"/>
              </a:ext>
            </a:extLst>
          </p:cNvPr>
          <p:cNvSpPr>
            <a:spLocks noGrp="1"/>
          </p:cNvSpPr>
          <p:nvPr>
            <p:ph type="sldNum" sz="quarter" idx="12"/>
          </p:nvPr>
        </p:nvSpPr>
        <p:spPr/>
        <p:txBody>
          <a:bodyPr/>
          <a:lstStyle/>
          <a:p>
            <a:fld id="{F9D186E6-336C-46FC-92C1-3353550E4494}" type="slidenum">
              <a:rPr kumimoji="1" lang="ja-JP" altLang="en-US" sz="4000" smtClean="0"/>
              <a:t>5</a:t>
            </a:fld>
            <a:endParaRPr kumimoji="1" lang="ja-JP" altLang="en-US" sz="4000" dirty="0"/>
          </a:p>
        </p:txBody>
      </p:sp>
    </p:spTree>
    <p:extLst>
      <p:ext uri="{BB962C8B-B14F-4D97-AF65-F5344CB8AC3E}">
        <p14:creationId xmlns:p14="http://schemas.microsoft.com/office/powerpoint/2010/main" val="2707612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D258B790-D828-DAB9-236A-16783571E457}"/>
              </a:ext>
            </a:extLst>
          </p:cNvPr>
          <p:cNvSpPr/>
          <p:nvPr/>
        </p:nvSpPr>
        <p:spPr>
          <a:xfrm>
            <a:off x="838200" y="3068320"/>
            <a:ext cx="10144760" cy="10692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8496F439-E139-5F76-6165-5790FDE3BC73}"/>
              </a:ext>
            </a:extLst>
          </p:cNvPr>
          <p:cNvSpPr>
            <a:spLocks noGrp="1"/>
          </p:cNvSpPr>
          <p:nvPr>
            <p:ph type="title"/>
          </p:nvPr>
        </p:nvSpPr>
        <p:spPr/>
        <p:txBody>
          <a:bodyPr/>
          <a:lstStyle/>
          <a:p>
            <a:r>
              <a:rPr lang="en-US" altLang="ja-JP" b="1" dirty="0"/>
              <a:t>BSSRDF</a:t>
            </a:r>
            <a:br>
              <a:rPr lang="en-US" altLang="ja-JP" b="1" dirty="0"/>
            </a:br>
            <a:endParaRPr lang="ja-JP" altLang="en-US"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693B7CE6-D258-79EE-EC78-0EF9938EE5C7}"/>
                  </a:ext>
                </a:extLst>
              </p:cNvPr>
              <p:cNvSpPr>
                <a:spLocks noGrp="1"/>
              </p:cNvSpPr>
              <p:nvPr>
                <p:ph idx="1"/>
              </p:nvPr>
            </p:nvSpPr>
            <p:spPr>
              <a:xfrm>
                <a:off x="838200" y="1862423"/>
                <a:ext cx="10515600" cy="4351338"/>
              </a:xfrm>
            </p:spPr>
            <p:txBody>
              <a:bodyPr/>
              <a:lstStyle/>
              <a:p>
                <a:pPr marL="0" indent="0">
                  <a:buNone/>
                </a:pPr>
                <a:r>
                  <a:rPr lang="ja-JP" altLang="en-US" dirty="0"/>
                  <a:t>表面下散乱を取り扱える反射モデル。</a:t>
                </a:r>
                <a:endParaRPr lang="en-US" altLang="ja-JP" dirty="0"/>
              </a:p>
              <a:p>
                <a:pPr marL="0" indent="0">
                  <a:buNone/>
                </a:pPr>
                <a:r>
                  <a:rPr lang="ja-JP" altLang="en-US" dirty="0"/>
                  <a:t>通常の</a:t>
                </a:r>
                <a:r>
                  <a:rPr lang="en-US" altLang="ja-JP" dirty="0"/>
                  <a:t>BRDF</a:t>
                </a:r>
                <a:r>
                  <a:rPr lang="ja-JP" altLang="en-US" dirty="0"/>
                  <a:t>と異なり、</a:t>
                </a:r>
                <a:r>
                  <a:rPr lang="ja-JP" altLang="en-US" u="sng" dirty="0"/>
                  <a:t>異なる位置間の光のやり取り</a:t>
                </a:r>
                <a:r>
                  <a:rPr lang="ja-JP" altLang="en-US" dirty="0"/>
                  <a:t>を扱える。</a:t>
                </a:r>
                <a:br>
                  <a:rPr lang="en-US" altLang="ja-JP" dirty="0"/>
                </a:br>
                <a:br>
                  <a:rPr lang="en-US" altLang="ja-JP" dirty="0"/>
                </a:br>
                <a14:m>
                  <m:oMathPara xmlns:m="http://schemas.openxmlformats.org/officeDocument/2006/math">
                    <m:oMathParaPr>
                      <m:jc m:val="left"/>
                    </m:oMathParaPr>
                    <m:oMath xmlns:m="http://schemas.openxmlformats.org/officeDocument/2006/math">
                      <m:r>
                        <a:rPr lang="en-US" altLang="ja-JP" b="0" i="1" smtClean="0">
                          <a:latin typeface="Cambria Math" panose="02040503050406030204" pitchFamily="18" charset="0"/>
                        </a:rPr>
                        <m:t>𝑆</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𝑥</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ja-JP" altLang="en-US" b="0" i="1" smtClean="0">
                                  <a:latin typeface="Cambria Math" panose="02040503050406030204" pitchFamily="18" charset="0"/>
                                </a:rPr>
                                <m:t>𝜔</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b="0" i="1" smtClean="0">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𝑑𝐿</m:t>
                          </m:r>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0</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0</m:t>
                              </m:r>
                            </m:sub>
                          </m:sSub>
                          <m:r>
                            <a:rPr lang="en-US" altLang="ja-JP" b="0" i="1" smtClean="0">
                              <a:latin typeface="Cambria Math" panose="02040503050406030204" pitchFamily="18" charset="0"/>
                            </a:rPr>
                            <m:t>)</m:t>
                          </m:r>
                        </m:num>
                        <m:den>
                          <m:r>
                            <a:rPr lang="en-US" altLang="ja-JP" b="0" i="1" smtClean="0">
                              <a:latin typeface="Cambria Math" panose="02040503050406030204" pitchFamily="18" charset="0"/>
                            </a:rPr>
                            <m:t>𝑑</m:t>
                          </m:r>
                          <m:r>
                            <m:rPr>
                              <m:sty m:val="p"/>
                            </m:rPr>
                            <a:rPr lang="en-US" altLang="ja-JP" i="1">
                              <a:latin typeface="Cambria Math" panose="02040503050406030204" pitchFamily="18" charset="0"/>
                            </a:rPr>
                            <m:t>Φ</m:t>
                          </m:r>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𝑖</m:t>
                              </m:r>
                            </m:sub>
                          </m:sSub>
                          <m:r>
                            <a:rPr lang="en-US" altLang="ja-JP" b="0" i="1" smtClean="0">
                              <a:latin typeface="Cambria Math" panose="02040503050406030204" pitchFamily="18" charset="0"/>
                            </a:rPr>
                            <m:t>)</m:t>
                          </m:r>
                        </m:den>
                      </m:f>
                    </m:oMath>
                  </m:oMathPara>
                </a14:m>
                <a:endParaRPr lang="ja-JP" altLang="en-US" dirty="0"/>
              </a:p>
              <a:p>
                <a:endParaRPr lang="ja-JP" altLang="en-US" dirty="0"/>
              </a:p>
            </p:txBody>
          </p:sp>
        </mc:Choice>
        <mc:Fallback xmlns="">
          <p:sp>
            <p:nvSpPr>
              <p:cNvPr id="6" name="コンテンツ プレースホルダー 5">
                <a:extLst>
                  <a:ext uri="{FF2B5EF4-FFF2-40B4-BE49-F238E27FC236}">
                    <a16:creationId xmlns:a16="http://schemas.microsoft.com/office/drawing/2014/main" id="{693B7CE6-D258-79EE-EC78-0EF9938EE5C7}"/>
                  </a:ext>
                </a:extLst>
              </p:cNvPr>
              <p:cNvSpPr>
                <a:spLocks noGrp="1" noRot="1" noChangeAspect="1" noMove="1" noResize="1" noEditPoints="1" noAdjustHandles="1" noChangeArrowheads="1" noChangeShapeType="1" noTextEdit="1"/>
              </p:cNvSpPr>
              <p:nvPr>
                <p:ph idx="1"/>
              </p:nvPr>
            </p:nvSpPr>
            <p:spPr>
              <a:xfrm>
                <a:off x="838200" y="1862423"/>
                <a:ext cx="10515600" cy="4351338"/>
              </a:xfrm>
              <a:blipFill>
                <a:blip r:embed="rId3"/>
                <a:stretch>
                  <a:fillRect l="-1217" t="-2384"/>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9A4DAF0D-FBB5-A7CD-0F27-60FC59C753DE}"/>
              </a:ext>
            </a:extLst>
          </p:cNvPr>
          <p:cNvPicPr>
            <a:picLocks noChangeAspect="1"/>
          </p:cNvPicPr>
          <p:nvPr/>
        </p:nvPicPr>
        <p:blipFill>
          <a:blip r:embed="rId4"/>
          <a:stretch>
            <a:fillRect/>
          </a:stretch>
        </p:blipFill>
        <p:spPr>
          <a:xfrm>
            <a:off x="838199" y="4137580"/>
            <a:ext cx="3164840" cy="2489015"/>
          </a:xfrm>
          <a:prstGeom prst="rect">
            <a:avLst/>
          </a:prstGeom>
        </p:spPr>
      </p:pic>
      <p:pic>
        <p:nvPicPr>
          <p:cNvPr id="8" name="図 7">
            <a:extLst>
              <a:ext uri="{FF2B5EF4-FFF2-40B4-BE49-F238E27FC236}">
                <a16:creationId xmlns:a16="http://schemas.microsoft.com/office/drawing/2014/main" id="{8598482D-30AF-3750-2CBF-567B35A8FF58}"/>
              </a:ext>
            </a:extLst>
          </p:cNvPr>
          <p:cNvPicPr>
            <a:picLocks noChangeAspect="1"/>
          </p:cNvPicPr>
          <p:nvPr/>
        </p:nvPicPr>
        <p:blipFill>
          <a:blip r:embed="rId5"/>
          <a:stretch>
            <a:fillRect/>
          </a:stretch>
        </p:blipFill>
        <p:spPr>
          <a:xfrm>
            <a:off x="4513580" y="4137581"/>
            <a:ext cx="3164839" cy="2489014"/>
          </a:xfrm>
          <a:prstGeom prst="rect">
            <a:avLst/>
          </a:prstGeom>
        </p:spPr>
      </p:pic>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5C9D29C-20FD-9E00-DDFD-8CAAD0162378}"/>
                  </a:ext>
                </a:extLst>
              </p:cNvPr>
              <p:cNvSpPr txBox="1"/>
              <p:nvPr/>
            </p:nvSpPr>
            <p:spPr>
              <a:xfrm>
                <a:off x="6969760" y="3244334"/>
                <a:ext cx="4990410" cy="830997"/>
              </a:xfrm>
              <a:prstGeom prst="rect">
                <a:avLst/>
              </a:prstGeom>
              <a:noFill/>
            </p:spPr>
            <p:txBody>
              <a:bodyPr wrap="square" rtlCol="0">
                <a:spAutoFit/>
              </a:bodyPr>
              <a:lstStyle/>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0</m:t>
                        </m:r>
                      </m:sub>
                    </m:sSub>
                  </m:oMath>
                </a14:m>
                <a:r>
                  <a:rPr kumimoji="1" lang="en-US" altLang="ja-JP" sz="2400" dirty="0"/>
                  <a:t>=</a:t>
                </a:r>
                <a:r>
                  <a:rPr kumimoji="1" lang="ja-JP" altLang="en-US" sz="2400" dirty="0"/>
                  <a:t>出射点　</a:t>
                </a:r>
                <a:r>
                  <a:rPr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𝜔</m:t>
                        </m:r>
                      </m:e>
                      <m:sub>
                        <m:r>
                          <a:rPr lang="en-US" altLang="ja-JP" sz="2400" i="1">
                            <a:latin typeface="Cambria Math" panose="02040503050406030204" pitchFamily="18" charset="0"/>
                          </a:rPr>
                          <m:t>0</m:t>
                        </m:r>
                      </m:sub>
                    </m:sSub>
                  </m:oMath>
                </a14:m>
                <a:r>
                  <a:rPr kumimoji="1" lang="en-US" altLang="ja-JP" sz="2400" dirty="0"/>
                  <a:t>=</a:t>
                </a:r>
                <a:r>
                  <a:rPr kumimoji="1" lang="ja-JP" altLang="en-US" sz="2400" dirty="0"/>
                  <a:t>出射方向</a:t>
                </a:r>
                <a:endParaRPr kumimoji="1"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𝑖</m:t>
                        </m:r>
                      </m:sub>
                    </m:sSub>
                  </m:oMath>
                </a14:m>
                <a:r>
                  <a:rPr lang="en-US" altLang="ja-JP" sz="2400" dirty="0"/>
                  <a:t>=</a:t>
                </a:r>
                <a:r>
                  <a:rPr lang="ja-JP" altLang="en-US" sz="2400" dirty="0"/>
                  <a:t>入射点     </a:t>
                </a:r>
                <a14:m>
                  <m:oMath xmlns:m="http://schemas.openxmlformats.org/officeDocument/2006/math">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𝜔</m:t>
                        </m:r>
                      </m:e>
                      <m:sub>
                        <m:r>
                          <a:rPr lang="en-US" altLang="ja-JP" sz="2400" i="1">
                            <a:latin typeface="Cambria Math" panose="02040503050406030204" pitchFamily="18" charset="0"/>
                          </a:rPr>
                          <m:t>𝑖</m:t>
                        </m:r>
                      </m:sub>
                    </m:sSub>
                  </m:oMath>
                </a14:m>
                <a:r>
                  <a:rPr kumimoji="1" lang="en-US" altLang="ja-JP" sz="2400" dirty="0"/>
                  <a:t>=</a:t>
                </a:r>
                <a:r>
                  <a:rPr kumimoji="1" lang="ja-JP" altLang="en-US" sz="2400" dirty="0"/>
                  <a:t>入射方向</a:t>
                </a:r>
                <a:endParaRPr kumimoji="1" lang="en-US" altLang="ja-JP" sz="2400" dirty="0"/>
              </a:p>
            </p:txBody>
          </p:sp>
        </mc:Choice>
        <mc:Fallback xmlns="">
          <p:sp>
            <p:nvSpPr>
              <p:cNvPr id="9" name="テキスト ボックス 8">
                <a:extLst>
                  <a:ext uri="{FF2B5EF4-FFF2-40B4-BE49-F238E27FC236}">
                    <a16:creationId xmlns:a16="http://schemas.microsoft.com/office/drawing/2014/main" id="{45C9D29C-20FD-9E00-DDFD-8CAAD0162378}"/>
                  </a:ext>
                </a:extLst>
              </p:cNvPr>
              <p:cNvSpPr txBox="1">
                <a:spLocks noRot="1" noChangeAspect="1" noMove="1" noResize="1" noEditPoints="1" noAdjustHandles="1" noChangeArrowheads="1" noChangeShapeType="1" noTextEdit="1"/>
              </p:cNvSpPr>
              <p:nvPr/>
            </p:nvSpPr>
            <p:spPr>
              <a:xfrm>
                <a:off x="6969760" y="3244334"/>
                <a:ext cx="4990410" cy="830997"/>
              </a:xfrm>
              <a:prstGeom prst="rect">
                <a:avLst/>
              </a:prstGeom>
              <a:blipFill>
                <a:blip r:embed="rId6"/>
                <a:stretch>
                  <a:fillRect t="-5839" b="-15328"/>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D7CE50F2-DCDC-B4E1-1155-3B09D380BA90}"/>
              </a:ext>
            </a:extLst>
          </p:cNvPr>
          <p:cNvSpPr txBox="1"/>
          <p:nvPr/>
        </p:nvSpPr>
        <p:spPr>
          <a:xfrm>
            <a:off x="3085147" y="6584472"/>
            <a:ext cx="3500967" cy="369332"/>
          </a:xfrm>
          <a:prstGeom prst="rect">
            <a:avLst/>
          </a:prstGeom>
          <a:noFill/>
        </p:spPr>
        <p:txBody>
          <a:bodyPr wrap="square" rtlCol="0">
            <a:spAutoFit/>
          </a:bodyPr>
          <a:lstStyle/>
          <a:p>
            <a:r>
              <a:rPr kumimoji="1" lang="ja-JP" altLang="en-US" dirty="0"/>
              <a:t>（</a:t>
            </a:r>
            <a:r>
              <a:rPr kumimoji="1" lang="en-US" altLang="ja-JP" dirty="0"/>
              <a:t>Jensen</a:t>
            </a:r>
            <a:r>
              <a:rPr kumimoji="1" lang="ja-JP" altLang="en-US" dirty="0"/>
              <a:t>　</a:t>
            </a:r>
            <a:r>
              <a:rPr kumimoji="1" lang="en-US" altLang="ja-JP" dirty="0"/>
              <a:t>2001</a:t>
            </a:r>
            <a:r>
              <a:rPr kumimoji="1" lang="ja-JP" altLang="en-US" dirty="0"/>
              <a:t>）</a:t>
            </a:r>
          </a:p>
        </p:txBody>
      </p:sp>
      <p:sp>
        <p:nvSpPr>
          <p:cNvPr id="4" name="スライド番号プレースホルダー 3">
            <a:extLst>
              <a:ext uri="{FF2B5EF4-FFF2-40B4-BE49-F238E27FC236}">
                <a16:creationId xmlns:a16="http://schemas.microsoft.com/office/drawing/2014/main" id="{B4B0FFD7-9EF0-9612-755A-0983830A2774}"/>
              </a:ext>
            </a:extLst>
          </p:cNvPr>
          <p:cNvSpPr>
            <a:spLocks noGrp="1"/>
          </p:cNvSpPr>
          <p:nvPr>
            <p:ph type="sldNum" sz="quarter" idx="12"/>
          </p:nvPr>
        </p:nvSpPr>
        <p:spPr/>
        <p:txBody>
          <a:bodyPr/>
          <a:lstStyle/>
          <a:p>
            <a:fld id="{F9D186E6-336C-46FC-92C1-3353550E4494}" type="slidenum">
              <a:rPr kumimoji="1" lang="ja-JP" altLang="en-US" sz="4000" smtClean="0"/>
              <a:t>6</a:t>
            </a:fld>
            <a:endParaRPr kumimoji="1" lang="ja-JP" altLang="en-US" sz="4000" dirty="0"/>
          </a:p>
        </p:txBody>
      </p:sp>
    </p:spTree>
    <p:extLst>
      <p:ext uri="{BB962C8B-B14F-4D97-AF65-F5344CB8AC3E}">
        <p14:creationId xmlns:p14="http://schemas.microsoft.com/office/powerpoint/2010/main" val="3349332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F17C24-DD8E-D201-3088-094AF0D9A1B0}"/>
              </a:ext>
            </a:extLst>
          </p:cNvPr>
          <p:cNvSpPr>
            <a:spLocks noGrp="1"/>
          </p:cNvSpPr>
          <p:nvPr>
            <p:ph type="title"/>
          </p:nvPr>
        </p:nvSpPr>
        <p:spPr/>
        <p:txBody>
          <a:bodyPr/>
          <a:lstStyle/>
          <a:p>
            <a:r>
              <a:rPr lang="ja-JP" altLang="en-US" dirty="0"/>
              <a:t>関連研究</a:t>
            </a:r>
            <a:endParaRPr kumimoji="1" lang="ja-JP" altLang="en-US" dirty="0"/>
          </a:p>
        </p:txBody>
      </p:sp>
      <p:sp>
        <p:nvSpPr>
          <p:cNvPr id="3" name="コンテンツ プレースホルダー 2">
            <a:extLst>
              <a:ext uri="{FF2B5EF4-FFF2-40B4-BE49-F238E27FC236}">
                <a16:creationId xmlns:a16="http://schemas.microsoft.com/office/drawing/2014/main" id="{E9C13D29-D218-3D62-2131-93DA6DC63D08}"/>
              </a:ext>
            </a:extLst>
          </p:cNvPr>
          <p:cNvSpPr>
            <a:spLocks noGrp="1"/>
          </p:cNvSpPr>
          <p:nvPr>
            <p:ph idx="1"/>
          </p:nvPr>
        </p:nvSpPr>
        <p:spPr>
          <a:xfrm>
            <a:off x="838200" y="1825625"/>
            <a:ext cx="10515600" cy="4667250"/>
          </a:xfrm>
        </p:spPr>
        <p:txBody>
          <a:bodyPr>
            <a:normAutofit/>
          </a:bodyPr>
          <a:lstStyle/>
          <a:p>
            <a:pPr marL="0" indent="0">
              <a:buNone/>
            </a:pPr>
            <a:r>
              <a:rPr kumimoji="1" lang="ja-JP" altLang="en-US" dirty="0"/>
              <a:t>皮膚の不均質性を扱う研究はこれまでにも存在してきた。</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pPr marL="0" indent="0">
              <a:buNone/>
            </a:pPr>
            <a:r>
              <a:rPr kumimoji="1" lang="ja-JP" altLang="en-US" b="1" dirty="0"/>
              <a:t>髭そのもの</a:t>
            </a:r>
            <a:r>
              <a:rPr kumimoji="1" lang="ja-JP" altLang="en-US" dirty="0"/>
              <a:t>を明示的に扱っているものは存在しない</a:t>
            </a:r>
          </a:p>
        </p:txBody>
      </p:sp>
      <p:pic>
        <p:nvPicPr>
          <p:cNvPr id="4" name="コンテンツ プレースホルダー 3">
            <a:extLst>
              <a:ext uri="{FF2B5EF4-FFF2-40B4-BE49-F238E27FC236}">
                <a16:creationId xmlns:a16="http://schemas.microsoft.com/office/drawing/2014/main" id="{A944F24C-F840-D80B-E7DF-76252804DF32}"/>
              </a:ext>
            </a:extLst>
          </p:cNvPr>
          <p:cNvPicPr>
            <a:picLocks noChangeAspect="1"/>
          </p:cNvPicPr>
          <p:nvPr/>
        </p:nvPicPr>
        <p:blipFill>
          <a:blip r:embed="rId3"/>
          <a:stretch>
            <a:fillRect/>
          </a:stretch>
        </p:blipFill>
        <p:spPr>
          <a:xfrm>
            <a:off x="1579231" y="2407151"/>
            <a:ext cx="3031958" cy="2564475"/>
          </a:xfrm>
          <a:prstGeom prst="rect">
            <a:avLst/>
          </a:prstGeom>
        </p:spPr>
      </p:pic>
      <p:pic>
        <p:nvPicPr>
          <p:cNvPr id="5" name="図 4">
            <a:extLst>
              <a:ext uri="{FF2B5EF4-FFF2-40B4-BE49-F238E27FC236}">
                <a16:creationId xmlns:a16="http://schemas.microsoft.com/office/drawing/2014/main" id="{8DC72D72-67C2-79FF-D74F-76099C9D827F}"/>
              </a:ext>
            </a:extLst>
          </p:cNvPr>
          <p:cNvPicPr>
            <a:picLocks noChangeAspect="1"/>
          </p:cNvPicPr>
          <p:nvPr/>
        </p:nvPicPr>
        <p:blipFill>
          <a:blip r:embed="rId4"/>
          <a:stretch>
            <a:fillRect/>
          </a:stretch>
        </p:blipFill>
        <p:spPr>
          <a:xfrm>
            <a:off x="7580813" y="2633577"/>
            <a:ext cx="3389641" cy="2270582"/>
          </a:xfrm>
          <a:prstGeom prst="rect">
            <a:avLst/>
          </a:prstGeom>
        </p:spPr>
      </p:pic>
      <p:sp>
        <p:nvSpPr>
          <p:cNvPr id="6" name="テキスト ボックス 5">
            <a:extLst>
              <a:ext uri="{FF2B5EF4-FFF2-40B4-BE49-F238E27FC236}">
                <a16:creationId xmlns:a16="http://schemas.microsoft.com/office/drawing/2014/main" id="{03B141D6-CAEE-30D4-D4F2-F3BB415F1D3E}"/>
              </a:ext>
            </a:extLst>
          </p:cNvPr>
          <p:cNvSpPr txBox="1"/>
          <p:nvPr/>
        </p:nvSpPr>
        <p:spPr>
          <a:xfrm>
            <a:off x="646782" y="4971626"/>
            <a:ext cx="6087292" cy="646331"/>
          </a:xfrm>
          <a:prstGeom prst="rect">
            <a:avLst/>
          </a:prstGeom>
          <a:noFill/>
        </p:spPr>
        <p:txBody>
          <a:bodyPr wrap="square" rtlCol="0">
            <a:spAutoFit/>
          </a:bodyPr>
          <a:lstStyle/>
          <a:p>
            <a:r>
              <a:rPr lang="en-US" altLang="ja-JP" dirty="0"/>
              <a:t>A Layered, Heterogeneous Reflectance Model for Acquiring and Rendering Human Skin (2008)</a:t>
            </a:r>
            <a:endParaRPr kumimoji="1" lang="ja-JP" altLang="en-US" dirty="0"/>
          </a:p>
        </p:txBody>
      </p:sp>
      <p:sp>
        <p:nvSpPr>
          <p:cNvPr id="7" name="テキスト ボックス 6">
            <a:extLst>
              <a:ext uri="{FF2B5EF4-FFF2-40B4-BE49-F238E27FC236}">
                <a16:creationId xmlns:a16="http://schemas.microsoft.com/office/drawing/2014/main" id="{17EDA9DF-5005-46AC-B7B2-C17FA6B2FC53}"/>
              </a:ext>
            </a:extLst>
          </p:cNvPr>
          <p:cNvSpPr txBox="1"/>
          <p:nvPr/>
        </p:nvSpPr>
        <p:spPr>
          <a:xfrm>
            <a:off x="7038703" y="4971627"/>
            <a:ext cx="5153297" cy="646331"/>
          </a:xfrm>
          <a:prstGeom prst="rect">
            <a:avLst/>
          </a:prstGeom>
          <a:noFill/>
        </p:spPr>
        <p:txBody>
          <a:bodyPr wrap="square" rtlCol="0">
            <a:spAutoFit/>
          </a:bodyPr>
          <a:lstStyle/>
          <a:p>
            <a:r>
              <a:rPr lang="ja-JP" altLang="en-US" dirty="0"/>
              <a:t>多層表面下散乱モデルによる皮膚の異方性散乱と不均一性の表現（</a:t>
            </a:r>
            <a:r>
              <a:rPr lang="en-US" altLang="ja-JP" dirty="0"/>
              <a:t>2009</a:t>
            </a:r>
            <a:r>
              <a:rPr lang="ja-JP" altLang="en-US" dirty="0"/>
              <a:t>）</a:t>
            </a:r>
            <a:endParaRPr kumimoji="1" lang="ja-JP" altLang="en-US" dirty="0"/>
          </a:p>
        </p:txBody>
      </p:sp>
      <p:sp>
        <p:nvSpPr>
          <p:cNvPr id="9" name="スライド番号プレースホルダー 8">
            <a:extLst>
              <a:ext uri="{FF2B5EF4-FFF2-40B4-BE49-F238E27FC236}">
                <a16:creationId xmlns:a16="http://schemas.microsoft.com/office/drawing/2014/main" id="{73800B49-608B-7165-9828-5B40B156F7EB}"/>
              </a:ext>
            </a:extLst>
          </p:cNvPr>
          <p:cNvSpPr>
            <a:spLocks noGrp="1"/>
          </p:cNvSpPr>
          <p:nvPr>
            <p:ph type="sldNum" sz="quarter" idx="12"/>
          </p:nvPr>
        </p:nvSpPr>
        <p:spPr/>
        <p:txBody>
          <a:bodyPr/>
          <a:lstStyle/>
          <a:p>
            <a:fld id="{F9D186E6-336C-46FC-92C1-3353550E4494}" type="slidenum">
              <a:rPr kumimoji="1" lang="ja-JP" altLang="en-US" sz="4000" smtClean="0"/>
              <a:t>7</a:t>
            </a:fld>
            <a:endParaRPr kumimoji="1" lang="ja-JP" altLang="en-US" sz="4000" dirty="0"/>
          </a:p>
        </p:txBody>
      </p:sp>
    </p:spTree>
    <p:extLst>
      <p:ext uri="{BB962C8B-B14F-4D97-AF65-F5344CB8AC3E}">
        <p14:creationId xmlns:p14="http://schemas.microsoft.com/office/powerpoint/2010/main" val="2287404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22BA9A-8D6F-6CA1-8D4B-68E308300471}"/>
              </a:ext>
            </a:extLst>
          </p:cNvPr>
          <p:cNvSpPr>
            <a:spLocks noGrp="1"/>
          </p:cNvSpPr>
          <p:nvPr>
            <p:ph type="title"/>
          </p:nvPr>
        </p:nvSpPr>
        <p:spPr/>
        <p:txBody>
          <a:bodyPr/>
          <a:lstStyle/>
          <a:p>
            <a:r>
              <a:rPr kumimoji="1" lang="ja-JP" altLang="en-US" dirty="0"/>
              <a:t>提案手法：全体の流れ</a:t>
            </a:r>
          </a:p>
        </p:txBody>
      </p:sp>
      <p:sp>
        <p:nvSpPr>
          <p:cNvPr id="3" name="コンテンツ プレースホルダー 2">
            <a:extLst>
              <a:ext uri="{FF2B5EF4-FFF2-40B4-BE49-F238E27FC236}">
                <a16:creationId xmlns:a16="http://schemas.microsoft.com/office/drawing/2014/main" id="{5D576106-E825-83E1-499C-8707F4CB42DB}"/>
              </a:ext>
            </a:extLst>
          </p:cNvPr>
          <p:cNvSpPr>
            <a:spLocks noGrp="1"/>
          </p:cNvSpPr>
          <p:nvPr>
            <p:ph idx="1"/>
          </p:nvPr>
        </p:nvSpPr>
        <p:spPr>
          <a:xfrm>
            <a:off x="6733909" y="2748126"/>
            <a:ext cx="5044440" cy="4351338"/>
          </a:xfrm>
        </p:spPr>
        <p:txBody>
          <a:bodyPr>
            <a:normAutofit lnSpcReduction="10000"/>
          </a:bodyPr>
          <a:lstStyle/>
          <a:p>
            <a:pPr marL="0" indent="0" algn="ctr">
              <a:buNone/>
            </a:pPr>
            <a:r>
              <a:rPr lang="ja-JP" altLang="en-US" dirty="0"/>
              <a:t>レイが衝突</a:t>
            </a:r>
          </a:p>
          <a:p>
            <a:pPr marL="0" indent="0" algn="ctr">
              <a:buNone/>
            </a:pPr>
            <a:r>
              <a:rPr lang="ja-JP" altLang="en-US" dirty="0"/>
              <a:t> </a:t>
            </a:r>
          </a:p>
          <a:p>
            <a:pPr marL="0" indent="0" algn="ctr">
              <a:buNone/>
            </a:pPr>
            <a:r>
              <a:rPr lang="ja-JP" altLang="en-US" dirty="0"/>
              <a:t>髭密度マップによる</a:t>
            </a:r>
            <a:endParaRPr lang="en-US" altLang="ja-JP" dirty="0"/>
          </a:p>
          <a:p>
            <a:pPr marL="0" indent="0" algn="ctr">
              <a:buNone/>
            </a:pPr>
            <a:r>
              <a:rPr lang="en-US" altLang="ja-JP" dirty="0"/>
              <a:t>BSSRDF</a:t>
            </a:r>
            <a:r>
              <a:rPr lang="ja-JP" altLang="en-US" dirty="0"/>
              <a:t>の混合</a:t>
            </a:r>
          </a:p>
          <a:p>
            <a:pPr marL="0" indent="0" algn="ctr">
              <a:buNone/>
            </a:pPr>
            <a:r>
              <a:rPr lang="ja-JP" altLang="en-US" dirty="0"/>
              <a:t>  </a:t>
            </a:r>
          </a:p>
          <a:p>
            <a:pPr marL="0" indent="0" algn="ctr">
              <a:buNone/>
            </a:pPr>
            <a:r>
              <a:rPr lang="ja-JP" altLang="en-US" dirty="0"/>
              <a:t>表面下散乱の計算</a:t>
            </a:r>
            <a:endParaRPr lang="en-US" altLang="ja-JP" dirty="0"/>
          </a:p>
          <a:p>
            <a:pPr marL="0" indent="0" algn="ctr">
              <a:buNone/>
            </a:pPr>
            <a:endParaRPr lang="en-US" altLang="ja-JP" dirty="0"/>
          </a:p>
          <a:p>
            <a:pPr marL="0" indent="0" algn="ctr">
              <a:buNone/>
            </a:pPr>
            <a:r>
              <a:rPr lang="ja-JP" altLang="en-US" dirty="0"/>
              <a:t>放射輝度を算出</a:t>
            </a:r>
            <a:endParaRPr lang="en-US" altLang="ja-JP" dirty="0"/>
          </a:p>
          <a:p>
            <a:pPr marL="0" indent="0" algn="ctr">
              <a:buNone/>
            </a:pPr>
            <a:r>
              <a:rPr lang="ja-JP" altLang="en-US" dirty="0"/>
              <a:t>   </a:t>
            </a:r>
          </a:p>
          <a:p>
            <a:endParaRPr kumimoji="1" lang="ja-JP" altLang="en-US" dirty="0"/>
          </a:p>
        </p:txBody>
      </p:sp>
      <p:sp>
        <p:nvSpPr>
          <p:cNvPr id="4" name="コンテンツ プレースホルダー 2">
            <a:extLst>
              <a:ext uri="{FF2B5EF4-FFF2-40B4-BE49-F238E27FC236}">
                <a16:creationId xmlns:a16="http://schemas.microsoft.com/office/drawing/2014/main" id="{A0117247-CCEF-2C24-0D99-A3ABAED7C332}"/>
              </a:ext>
            </a:extLst>
          </p:cNvPr>
          <p:cNvSpPr txBox="1">
            <a:spLocks/>
          </p:cNvSpPr>
          <p:nvPr/>
        </p:nvSpPr>
        <p:spPr>
          <a:xfrm>
            <a:off x="464819" y="3344669"/>
            <a:ext cx="504444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dirty="0"/>
              <a:t>レイが衝突</a:t>
            </a:r>
          </a:p>
          <a:p>
            <a:pPr marL="0" indent="0" algn="ctr">
              <a:buFont typeface="Arial" panose="020B0604020202020204" pitchFamily="34" charset="0"/>
              <a:buNone/>
            </a:pPr>
            <a:endParaRPr lang="ja-JP" altLang="en-US" dirty="0"/>
          </a:p>
          <a:p>
            <a:pPr marL="0" indent="0" algn="ctr">
              <a:buFont typeface="Arial" panose="020B0604020202020204" pitchFamily="34" charset="0"/>
              <a:buNone/>
            </a:pPr>
            <a:r>
              <a:rPr lang="ja-JP" altLang="en-US" dirty="0"/>
              <a:t>表面下散乱の計算   </a:t>
            </a:r>
          </a:p>
          <a:p>
            <a:endParaRPr lang="en-US" altLang="ja-JP" dirty="0"/>
          </a:p>
          <a:p>
            <a:pPr marL="0" indent="0" algn="ctr">
              <a:buNone/>
            </a:pPr>
            <a:r>
              <a:rPr lang="ja-JP" altLang="en-US" dirty="0"/>
              <a:t>放射輝度を算出</a:t>
            </a:r>
          </a:p>
        </p:txBody>
      </p:sp>
      <p:cxnSp>
        <p:nvCxnSpPr>
          <p:cNvPr id="6" name="直線コネクタ 5">
            <a:extLst>
              <a:ext uri="{FF2B5EF4-FFF2-40B4-BE49-F238E27FC236}">
                <a16:creationId xmlns:a16="http://schemas.microsoft.com/office/drawing/2014/main" id="{62F80312-7450-76A0-623C-89314A52258A}"/>
              </a:ext>
            </a:extLst>
          </p:cNvPr>
          <p:cNvCxnSpPr>
            <a:cxnSpLocks/>
          </p:cNvCxnSpPr>
          <p:nvPr/>
        </p:nvCxnSpPr>
        <p:spPr>
          <a:xfrm>
            <a:off x="5917475" y="1844294"/>
            <a:ext cx="0" cy="5013706"/>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3BB45129-B67B-31F6-2901-273934C311AC}"/>
              </a:ext>
            </a:extLst>
          </p:cNvPr>
          <p:cNvSpPr txBox="1"/>
          <p:nvPr/>
        </p:nvSpPr>
        <p:spPr>
          <a:xfrm>
            <a:off x="1616528" y="1844294"/>
            <a:ext cx="2978332" cy="646331"/>
          </a:xfrm>
          <a:prstGeom prst="rect">
            <a:avLst/>
          </a:prstGeom>
          <a:noFill/>
        </p:spPr>
        <p:txBody>
          <a:bodyPr wrap="square" rtlCol="0">
            <a:spAutoFit/>
          </a:bodyPr>
          <a:lstStyle/>
          <a:p>
            <a:r>
              <a:rPr kumimoji="1" lang="ja-JP" altLang="en-US" dirty="0"/>
              <a:t>一般的な</a:t>
            </a:r>
            <a:r>
              <a:rPr kumimoji="1" lang="en-US" altLang="ja-JP" dirty="0"/>
              <a:t>BSSRDF</a:t>
            </a:r>
            <a:r>
              <a:rPr kumimoji="1" lang="ja-JP" altLang="en-US" dirty="0"/>
              <a:t>を用いたレンダリング</a:t>
            </a:r>
          </a:p>
        </p:txBody>
      </p:sp>
      <p:cxnSp>
        <p:nvCxnSpPr>
          <p:cNvPr id="10" name="直線コネクタ 9">
            <a:extLst>
              <a:ext uri="{FF2B5EF4-FFF2-40B4-BE49-F238E27FC236}">
                <a16:creationId xmlns:a16="http://schemas.microsoft.com/office/drawing/2014/main" id="{B9355B6C-98C9-FE1E-E436-969FB40D50B9}"/>
              </a:ext>
            </a:extLst>
          </p:cNvPr>
          <p:cNvCxnSpPr/>
          <p:nvPr/>
        </p:nvCxnSpPr>
        <p:spPr>
          <a:xfrm>
            <a:off x="0" y="1844294"/>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DA3CD8E9-42EA-5AE2-A8BF-F2216A557223}"/>
              </a:ext>
            </a:extLst>
          </p:cNvPr>
          <p:cNvCxnSpPr/>
          <p:nvPr/>
        </p:nvCxnSpPr>
        <p:spPr>
          <a:xfrm>
            <a:off x="0" y="2490625"/>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A4E9BC5D-47B2-D070-A16D-11446BBE4A28}"/>
              </a:ext>
            </a:extLst>
          </p:cNvPr>
          <p:cNvSpPr txBox="1"/>
          <p:nvPr/>
        </p:nvSpPr>
        <p:spPr>
          <a:xfrm>
            <a:off x="8035843" y="1859543"/>
            <a:ext cx="3435523" cy="707886"/>
          </a:xfrm>
          <a:prstGeom prst="rect">
            <a:avLst/>
          </a:prstGeom>
          <a:noFill/>
        </p:spPr>
        <p:txBody>
          <a:bodyPr wrap="square" rtlCol="0">
            <a:spAutoFit/>
          </a:bodyPr>
          <a:lstStyle/>
          <a:p>
            <a:r>
              <a:rPr kumimoji="1" lang="ja-JP" altLang="en-US" sz="4000" dirty="0"/>
              <a:t>提案手法</a:t>
            </a:r>
          </a:p>
        </p:txBody>
      </p:sp>
      <p:cxnSp>
        <p:nvCxnSpPr>
          <p:cNvPr id="14" name="直線矢印コネクタ 13">
            <a:extLst>
              <a:ext uri="{FF2B5EF4-FFF2-40B4-BE49-F238E27FC236}">
                <a16:creationId xmlns:a16="http://schemas.microsoft.com/office/drawing/2014/main" id="{E79C6AF4-EA05-7639-51AB-18A7AD6E5220}"/>
              </a:ext>
            </a:extLst>
          </p:cNvPr>
          <p:cNvCxnSpPr>
            <a:cxnSpLocks/>
          </p:cNvCxnSpPr>
          <p:nvPr/>
        </p:nvCxnSpPr>
        <p:spPr>
          <a:xfrm>
            <a:off x="2947851" y="3865291"/>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8620185D-AB84-11F2-A74B-C54D8E86E3E5}"/>
              </a:ext>
            </a:extLst>
          </p:cNvPr>
          <p:cNvCxnSpPr>
            <a:cxnSpLocks/>
          </p:cNvCxnSpPr>
          <p:nvPr/>
        </p:nvCxnSpPr>
        <p:spPr>
          <a:xfrm>
            <a:off x="9196325" y="4569882"/>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7" name="直線矢印コネクタ 16">
            <a:extLst>
              <a:ext uri="{FF2B5EF4-FFF2-40B4-BE49-F238E27FC236}">
                <a16:creationId xmlns:a16="http://schemas.microsoft.com/office/drawing/2014/main" id="{F41D4642-386E-E61B-1755-E2AFC25E1926}"/>
              </a:ext>
            </a:extLst>
          </p:cNvPr>
          <p:cNvCxnSpPr>
            <a:cxnSpLocks/>
          </p:cNvCxnSpPr>
          <p:nvPr/>
        </p:nvCxnSpPr>
        <p:spPr>
          <a:xfrm>
            <a:off x="9193004" y="3193261"/>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9" name="スライド番号プレースホルダー 18">
            <a:extLst>
              <a:ext uri="{FF2B5EF4-FFF2-40B4-BE49-F238E27FC236}">
                <a16:creationId xmlns:a16="http://schemas.microsoft.com/office/drawing/2014/main" id="{80C16E7C-435E-60BB-17ED-E521E06CB1DD}"/>
              </a:ext>
            </a:extLst>
          </p:cNvPr>
          <p:cNvSpPr>
            <a:spLocks noGrp="1"/>
          </p:cNvSpPr>
          <p:nvPr>
            <p:ph type="sldNum" sz="quarter" idx="12"/>
          </p:nvPr>
        </p:nvSpPr>
        <p:spPr/>
        <p:txBody>
          <a:bodyPr/>
          <a:lstStyle/>
          <a:p>
            <a:fld id="{F9D186E6-336C-46FC-92C1-3353550E4494}" type="slidenum">
              <a:rPr kumimoji="1" lang="ja-JP" altLang="en-US" sz="4000" smtClean="0"/>
              <a:t>8</a:t>
            </a:fld>
            <a:endParaRPr kumimoji="1" lang="ja-JP" altLang="en-US" sz="4000" dirty="0"/>
          </a:p>
        </p:txBody>
      </p:sp>
      <p:cxnSp>
        <p:nvCxnSpPr>
          <p:cNvPr id="20" name="直線矢印コネクタ 19">
            <a:extLst>
              <a:ext uri="{FF2B5EF4-FFF2-40B4-BE49-F238E27FC236}">
                <a16:creationId xmlns:a16="http://schemas.microsoft.com/office/drawing/2014/main" id="{8D32673A-3509-EB02-6DB1-C83BD32C9747}"/>
              </a:ext>
            </a:extLst>
          </p:cNvPr>
          <p:cNvCxnSpPr>
            <a:cxnSpLocks/>
          </p:cNvCxnSpPr>
          <p:nvPr/>
        </p:nvCxnSpPr>
        <p:spPr>
          <a:xfrm>
            <a:off x="2947851" y="4923795"/>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1" name="直線矢印コネクタ 20">
            <a:extLst>
              <a:ext uri="{FF2B5EF4-FFF2-40B4-BE49-F238E27FC236}">
                <a16:creationId xmlns:a16="http://schemas.microsoft.com/office/drawing/2014/main" id="{CF189781-B318-C20B-7E91-CF227EC31528}"/>
              </a:ext>
            </a:extLst>
          </p:cNvPr>
          <p:cNvCxnSpPr>
            <a:cxnSpLocks/>
          </p:cNvCxnSpPr>
          <p:nvPr/>
        </p:nvCxnSpPr>
        <p:spPr>
          <a:xfrm>
            <a:off x="9199572" y="5520338"/>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2" name="正方形/長方形 21">
            <a:extLst>
              <a:ext uri="{FF2B5EF4-FFF2-40B4-BE49-F238E27FC236}">
                <a16:creationId xmlns:a16="http://schemas.microsoft.com/office/drawing/2014/main" id="{EDE0BC79-87DD-8C5D-FCDE-B077900A585B}"/>
              </a:ext>
            </a:extLst>
          </p:cNvPr>
          <p:cNvSpPr/>
          <p:nvPr/>
        </p:nvSpPr>
        <p:spPr>
          <a:xfrm>
            <a:off x="6733909" y="3429000"/>
            <a:ext cx="5044434" cy="13520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7645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F984F3-4234-E43D-0D2E-88EAED093B45}"/>
              </a:ext>
            </a:extLst>
          </p:cNvPr>
          <p:cNvSpPr>
            <a:spLocks noGrp="1"/>
          </p:cNvSpPr>
          <p:nvPr>
            <p:ph type="title"/>
          </p:nvPr>
        </p:nvSpPr>
        <p:spPr/>
        <p:txBody>
          <a:bodyPr/>
          <a:lstStyle/>
          <a:p>
            <a:r>
              <a:rPr lang="en-US" altLang="ja-JP" dirty="0"/>
              <a:t>BSSRDF</a:t>
            </a:r>
            <a:r>
              <a:rPr lang="ja-JP" altLang="en-US" dirty="0"/>
              <a:t>混合</a:t>
            </a:r>
            <a:endParaRPr kumimoji="1" lang="ja-JP" altLang="en-US" dirty="0"/>
          </a:p>
        </p:txBody>
      </p:sp>
      <p:sp>
        <p:nvSpPr>
          <p:cNvPr id="3" name="コンテンツ プレースホルダー 2">
            <a:extLst>
              <a:ext uri="{FF2B5EF4-FFF2-40B4-BE49-F238E27FC236}">
                <a16:creationId xmlns:a16="http://schemas.microsoft.com/office/drawing/2014/main" id="{FD264116-E1A5-1C27-A5BA-3A480D7CEC60}"/>
              </a:ext>
            </a:extLst>
          </p:cNvPr>
          <p:cNvSpPr>
            <a:spLocks noGrp="1"/>
          </p:cNvSpPr>
          <p:nvPr>
            <p:ph idx="1"/>
          </p:nvPr>
        </p:nvSpPr>
        <p:spPr>
          <a:xfrm>
            <a:off x="838200" y="1567543"/>
            <a:ext cx="10515600" cy="4609420"/>
          </a:xfrm>
        </p:spPr>
        <p:txBody>
          <a:bodyPr/>
          <a:lstStyle/>
          <a:p>
            <a:pPr marL="0" indent="0">
              <a:buNone/>
            </a:pPr>
            <a:r>
              <a:rPr kumimoji="1" lang="ja-JP" altLang="en-US" dirty="0"/>
              <a:t>ジオメトリ表面に対して「髭密度マップ」を定義</a:t>
            </a:r>
            <a:endParaRPr kumimoji="1" lang="en-US" altLang="ja-JP" dirty="0"/>
          </a:p>
          <a:p>
            <a:pPr marL="0" indent="0">
              <a:buNone/>
            </a:pPr>
            <a:r>
              <a:rPr lang="ja-JP" altLang="en-US" dirty="0"/>
              <a:t>左の</a:t>
            </a:r>
            <a:r>
              <a:rPr lang="en-US" altLang="ja-JP" dirty="0"/>
              <a:t>2</a:t>
            </a:r>
            <a:r>
              <a:rPr lang="ja-JP" altLang="en-US" dirty="0"/>
              <a:t>枚（髭密度</a:t>
            </a:r>
            <a:r>
              <a:rPr lang="en-US" altLang="ja-JP" dirty="0"/>
              <a:t>0</a:t>
            </a:r>
            <a:r>
              <a:rPr lang="ja-JP" altLang="en-US" dirty="0"/>
              <a:t>と</a:t>
            </a:r>
            <a:r>
              <a:rPr lang="en-US" altLang="ja-JP" dirty="0"/>
              <a:t>1</a:t>
            </a:r>
            <a:r>
              <a:rPr lang="ja-JP" altLang="en-US" dirty="0"/>
              <a:t>）を基準として，中央の髭密度マップで両者を位置ごとに混合し，右のような不均質な皮膚の見えを得る</a:t>
            </a:r>
            <a:endParaRPr kumimoji="1" lang="en-US" altLang="ja-JP" dirty="0"/>
          </a:p>
          <a:p>
            <a:endParaRPr kumimoji="1" lang="ja-JP" altLang="en-US" dirty="0"/>
          </a:p>
        </p:txBody>
      </p:sp>
      <p:pic>
        <p:nvPicPr>
          <p:cNvPr id="7" name="図 6" descr="アイコン&#10;&#10;AI 生成コンテンツは誤りを含む可能性があります。">
            <a:extLst>
              <a:ext uri="{FF2B5EF4-FFF2-40B4-BE49-F238E27FC236}">
                <a16:creationId xmlns:a16="http://schemas.microsoft.com/office/drawing/2014/main" id="{43848720-1E7E-EA6A-9C06-A8B5BA7C15FF}"/>
              </a:ext>
            </a:extLst>
          </p:cNvPr>
          <p:cNvPicPr>
            <a:picLocks noChangeAspect="1"/>
          </p:cNvPicPr>
          <p:nvPr/>
        </p:nvPicPr>
        <p:blipFill>
          <a:blip r:embed="rId3"/>
          <a:stretch>
            <a:fillRect/>
          </a:stretch>
        </p:blipFill>
        <p:spPr>
          <a:xfrm>
            <a:off x="426391" y="3153660"/>
            <a:ext cx="2211734" cy="1658801"/>
          </a:xfrm>
          <a:prstGeom prst="rect">
            <a:avLst/>
          </a:prstGeom>
        </p:spPr>
      </p:pic>
      <p:cxnSp>
        <p:nvCxnSpPr>
          <p:cNvPr id="9" name="直線矢印コネクタ 8">
            <a:extLst>
              <a:ext uri="{FF2B5EF4-FFF2-40B4-BE49-F238E27FC236}">
                <a16:creationId xmlns:a16="http://schemas.microsoft.com/office/drawing/2014/main" id="{7FA41B77-8187-4D95-8006-C001A5A2C8B8}"/>
              </a:ext>
            </a:extLst>
          </p:cNvPr>
          <p:cNvCxnSpPr/>
          <p:nvPr/>
        </p:nvCxnSpPr>
        <p:spPr>
          <a:xfrm>
            <a:off x="6487491" y="4849977"/>
            <a:ext cx="875211"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0" name="AutoShape 2" descr="画像をアップロードしました">
            <a:extLst>
              <a:ext uri="{FF2B5EF4-FFF2-40B4-BE49-F238E27FC236}">
                <a16:creationId xmlns:a16="http://schemas.microsoft.com/office/drawing/2014/main" id="{5142CE5B-7094-1844-1A5D-5C3366BCBDCF}"/>
              </a:ext>
            </a:extLst>
          </p:cNvPr>
          <p:cNvSpPr>
            <a:spLocks noChangeAspect="1" noChangeArrowheads="1"/>
          </p:cNvSpPr>
          <p:nvPr/>
        </p:nvSpPr>
        <p:spPr bwMode="auto">
          <a:xfrm>
            <a:off x="7053943" y="278216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1" name="AutoShape 4" descr="画像をアップロードしました">
            <a:extLst>
              <a:ext uri="{FF2B5EF4-FFF2-40B4-BE49-F238E27FC236}">
                <a16:creationId xmlns:a16="http://schemas.microsoft.com/office/drawing/2014/main" id="{C2B167C4-0FD3-2D18-5640-28D051CDDF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3" name="図 12" descr="アイコン が含まれている画像&#10;&#10;AI 生成コンテンツは誤りを含む可能性があります。">
            <a:extLst>
              <a:ext uri="{FF2B5EF4-FFF2-40B4-BE49-F238E27FC236}">
                <a16:creationId xmlns:a16="http://schemas.microsoft.com/office/drawing/2014/main" id="{77DEDEF1-1C41-457C-70A5-8215EA7EF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040" y="5096885"/>
            <a:ext cx="2211734" cy="1585051"/>
          </a:xfrm>
          <a:prstGeom prst="rect">
            <a:avLst/>
          </a:prstGeom>
        </p:spPr>
      </p:pic>
      <p:sp>
        <p:nvSpPr>
          <p:cNvPr id="16" name="テキスト ボックス 15">
            <a:extLst>
              <a:ext uri="{FF2B5EF4-FFF2-40B4-BE49-F238E27FC236}">
                <a16:creationId xmlns:a16="http://schemas.microsoft.com/office/drawing/2014/main" id="{5F8EC302-BA2F-1C8D-8C46-53E5BAAF91BA}"/>
              </a:ext>
            </a:extLst>
          </p:cNvPr>
          <p:cNvSpPr txBox="1"/>
          <p:nvPr/>
        </p:nvSpPr>
        <p:spPr>
          <a:xfrm>
            <a:off x="3851999" y="6257303"/>
            <a:ext cx="1735002" cy="369332"/>
          </a:xfrm>
          <a:prstGeom prst="rect">
            <a:avLst/>
          </a:prstGeom>
          <a:noFill/>
        </p:spPr>
        <p:txBody>
          <a:bodyPr wrap="square" rtlCol="0">
            <a:spAutoFit/>
          </a:bodyPr>
          <a:lstStyle/>
          <a:p>
            <a:r>
              <a:rPr kumimoji="1" lang="ja-JP" altLang="en-US" dirty="0"/>
              <a:t>髭密度マップ</a:t>
            </a:r>
          </a:p>
        </p:txBody>
      </p:sp>
      <p:pic>
        <p:nvPicPr>
          <p:cNvPr id="12" name="図 11" descr="テーブル, コンピュータ, ノートパソコン が含まれている画像&#10;&#10;AI 生成コンテンツは誤りを含む可能性があります。">
            <a:extLst>
              <a:ext uri="{FF2B5EF4-FFF2-40B4-BE49-F238E27FC236}">
                <a16:creationId xmlns:a16="http://schemas.microsoft.com/office/drawing/2014/main" id="{775C77DB-395F-3CB7-F2EB-1A2DC769834B}"/>
              </a:ext>
            </a:extLst>
          </p:cNvPr>
          <p:cNvPicPr>
            <a:picLocks noChangeAspect="1"/>
          </p:cNvPicPr>
          <p:nvPr/>
        </p:nvPicPr>
        <p:blipFill>
          <a:blip r:embed="rId5"/>
          <a:stretch>
            <a:fillRect/>
          </a:stretch>
        </p:blipFill>
        <p:spPr>
          <a:xfrm>
            <a:off x="7579801" y="3276600"/>
            <a:ext cx="3744992" cy="2808744"/>
          </a:xfrm>
          <a:prstGeom prst="rect">
            <a:avLst/>
          </a:prstGeom>
        </p:spPr>
      </p:pic>
      <p:pic>
        <p:nvPicPr>
          <p:cNvPr id="15" name="図 14" descr="食品, キーボード が含まれている画像&#10;&#10;AI 生成コンテンツは誤りを含む可能性があります。">
            <a:extLst>
              <a:ext uri="{FF2B5EF4-FFF2-40B4-BE49-F238E27FC236}">
                <a16:creationId xmlns:a16="http://schemas.microsoft.com/office/drawing/2014/main" id="{01F10880-8DA5-C030-EB60-2AC45669F9D0}"/>
              </a:ext>
            </a:extLst>
          </p:cNvPr>
          <p:cNvPicPr>
            <a:picLocks noChangeAspect="1"/>
          </p:cNvPicPr>
          <p:nvPr/>
        </p:nvPicPr>
        <p:blipFill>
          <a:blip r:embed="rId6"/>
          <a:stretch>
            <a:fillRect/>
          </a:stretch>
        </p:blipFill>
        <p:spPr>
          <a:xfrm>
            <a:off x="3311273" y="3455493"/>
            <a:ext cx="2438400" cy="2438400"/>
          </a:xfrm>
          <a:prstGeom prst="rect">
            <a:avLst/>
          </a:prstGeom>
        </p:spPr>
      </p:pic>
      <p:sp>
        <p:nvSpPr>
          <p:cNvPr id="5" name="スライド番号プレースホルダー 4">
            <a:extLst>
              <a:ext uri="{FF2B5EF4-FFF2-40B4-BE49-F238E27FC236}">
                <a16:creationId xmlns:a16="http://schemas.microsoft.com/office/drawing/2014/main" id="{553A0EFA-A493-0CCC-2125-3A96A61BBB5C}"/>
              </a:ext>
            </a:extLst>
          </p:cNvPr>
          <p:cNvSpPr>
            <a:spLocks noGrp="1"/>
          </p:cNvSpPr>
          <p:nvPr>
            <p:ph type="sldNum" sz="quarter" idx="12"/>
          </p:nvPr>
        </p:nvSpPr>
        <p:spPr/>
        <p:txBody>
          <a:bodyPr/>
          <a:lstStyle/>
          <a:p>
            <a:fld id="{F9D186E6-336C-46FC-92C1-3353550E4494}" type="slidenum">
              <a:rPr kumimoji="1" lang="ja-JP" altLang="en-US" sz="4000" smtClean="0"/>
              <a:t>9</a:t>
            </a:fld>
            <a:endParaRPr kumimoji="1" lang="ja-JP" altLang="en-US" sz="4000" dirty="0"/>
          </a:p>
        </p:txBody>
      </p:sp>
    </p:spTree>
    <p:extLst>
      <p:ext uri="{BB962C8B-B14F-4D97-AF65-F5344CB8AC3E}">
        <p14:creationId xmlns:p14="http://schemas.microsoft.com/office/powerpoint/2010/main" val="590409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9EFBF-C10C-9E96-08EF-F22B303D0E16}"/>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B819574E-4585-80DE-B348-8C2D659B86A6}"/>
              </a:ext>
            </a:extLst>
          </p:cNvPr>
          <p:cNvSpPr/>
          <p:nvPr/>
        </p:nvSpPr>
        <p:spPr>
          <a:xfrm>
            <a:off x="838200" y="3068320"/>
            <a:ext cx="10395857" cy="177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F2575F5E-4819-0AD0-4466-7B8091F47BAD}"/>
              </a:ext>
            </a:extLst>
          </p:cNvPr>
          <p:cNvSpPr>
            <a:spLocks noGrp="1"/>
          </p:cNvSpPr>
          <p:nvPr>
            <p:ph type="title"/>
          </p:nvPr>
        </p:nvSpPr>
        <p:spPr>
          <a:xfrm>
            <a:off x="838200" y="992777"/>
            <a:ext cx="10515600" cy="697911"/>
          </a:xfrm>
        </p:spPr>
        <p:txBody>
          <a:bodyPr>
            <a:normAutofit fontScale="90000"/>
          </a:bodyPr>
          <a:lstStyle/>
          <a:p>
            <a:r>
              <a:rPr lang="ja-JP" altLang="en-US" sz="4900" b="1" dirty="0"/>
              <a:t>定式化</a:t>
            </a:r>
            <a:br>
              <a:rPr lang="en-US" altLang="ja-JP" b="1" dirty="0"/>
            </a:br>
            <a:endParaRPr lang="ja-JP" altLang="en-US"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EFBE3ABC-C439-5BB1-9735-154E893E116B}"/>
                  </a:ext>
                </a:extLst>
              </p:cNvPr>
              <p:cNvSpPr>
                <a:spLocks noGrp="1"/>
              </p:cNvSpPr>
              <p:nvPr>
                <p:ph idx="1"/>
              </p:nvPr>
            </p:nvSpPr>
            <p:spPr>
              <a:xfrm>
                <a:off x="838200" y="1862423"/>
                <a:ext cx="10515600" cy="4351338"/>
              </a:xfrm>
            </p:spPr>
            <p:txBody>
              <a:bodyPr>
                <a:normAutofit/>
              </a:bodyPr>
              <a:lstStyle/>
              <a:p>
                <a:pPr marL="0" indent="0">
                  <a:buNone/>
                </a:pPr>
                <a:r>
                  <a:rPr lang="ja-JP" altLang="en-US" dirty="0"/>
                  <a:t>「素の皮膚」と「髭ありの皮膚」の</a:t>
                </a:r>
                <a:r>
                  <a:rPr lang="en-US" altLang="ja-JP" dirty="0"/>
                  <a:t>BSSRDF</a:t>
                </a:r>
                <a:r>
                  <a:rPr lang="ja-JP" altLang="en-US" dirty="0"/>
                  <a:t>２つを使い、</a:t>
                </a:r>
                <a:endParaRPr lang="en-US" altLang="ja-JP" dirty="0"/>
              </a:p>
              <a:p>
                <a:pPr marL="0" indent="0">
                  <a:buNone/>
                </a:pPr>
                <a:r>
                  <a:rPr lang="ja-JP" altLang="en-US" dirty="0"/>
                  <a:t>髭密度によってその点での放射輝度</a:t>
                </a:r>
                <a14:m>
                  <m:oMath xmlns:m="http://schemas.openxmlformats.org/officeDocument/2006/math">
                    <m:r>
                      <a:rPr lang="en-US" altLang="ja-JP" b="0" i="1" smtClean="0">
                        <a:latin typeface="Cambria Math" panose="02040503050406030204" pitchFamily="18" charset="0"/>
                      </a:rPr>
                      <m:t>𝑅𝑑</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oMath>
                </a14:m>
                <a:r>
                  <a:rPr lang="ja-JP" altLang="en-US" dirty="0"/>
                  <a:t>を決定する。</a:t>
                </a:r>
                <a:br>
                  <a:rPr lang="en-US" altLang="ja-JP" dirty="0"/>
                </a:br>
                <a:br>
                  <a:rPr lang="en-US" altLang="ja-JP" dirty="0"/>
                </a:br>
                <a14:m>
                  <m:oMath xmlns:m="http://schemas.openxmlformats.org/officeDocument/2006/math">
                    <m:r>
                      <a:rPr lang="ja-JP" altLang="en-US" sz="3600" i="1" dirty="0">
                        <a:latin typeface="Cambria Math" panose="02040503050406030204" pitchFamily="18" charset="0"/>
                      </a:rPr>
                      <m:t>　　　</m:t>
                    </m:r>
                    <m:r>
                      <a:rPr lang="en-US" altLang="ja-JP" sz="3600" b="0" i="1" dirty="0" smtClean="0">
                        <a:latin typeface="Cambria Math" panose="02040503050406030204" pitchFamily="18" charset="0"/>
                      </a:rPr>
                      <m:t>𝑅𝑑</m:t>
                    </m:r>
                    <m:r>
                      <a:rPr lang="en-US" altLang="ja-JP" sz="3600" i="1" dirty="0" smtClean="0">
                        <a:latin typeface="Cambria Math" panose="02040503050406030204" pitchFamily="18" charset="0"/>
                      </a:rPr>
                      <m:t> </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𝑥</m:t>
                    </m:r>
                    <m:r>
                      <a:rPr lang="en-US" altLang="ja-JP" sz="3600" b="0" i="1" smtClean="0">
                        <a:latin typeface="Cambria Math" panose="02040503050406030204" pitchFamily="18" charset="0"/>
                      </a:rPr>
                      <m:t>)=(1−</m:t>
                    </m:r>
                    <m:r>
                      <a:rPr lang="ja-JP" altLang="en-US" sz="3600" b="0" i="1" smtClean="0">
                        <a:latin typeface="Cambria Math" panose="02040503050406030204" pitchFamily="18" charset="0"/>
                      </a:rPr>
                      <m:t>𝜌</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𝑥</m:t>
                    </m:r>
                    <m:r>
                      <a:rPr lang="en-US" altLang="ja-JP" sz="3600" b="0" i="1" smtClean="0">
                        <a:latin typeface="Cambria Math" panose="02040503050406030204" pitchFamily="18" charset="0"/>
                      </a:rPr>
                      <m:t>))</m:t>
                    </m:r>
                    <m:sSub>
                      <m:sSubPr>
                        <m:ctrlPr>
                          <a:rPr lang="en-US" altLang="ja-JP" sz="3600" i="1" smtClean="0">
                            <a:latin typeface="Cambria Math" panose="02040503050406030204" pitchFamily="18" charset="0"/>
                          </a:rPr>
                        </m:ctrlPr>
                      </m:sSubPr>
                      <m:e>
                        <m:r>
                          <m:rPr>
                            <m:sty m:val="p"/>
                          </m:rPr>
                          <a:rPr lang="en-US" altLang="ja-JP" sz="3600" b="0" i="1">
                            <a:latin typeface="Cambria Math" panose="02040503050406030204" pitchFamily="18" charset="0"/>
                          </a:rPr>
                          <m:t>S</m:t>
                        </m:r>
                      </m:e>
                      <m:sub>
                        <m:r>
                          <a:rPr lang="en-US" altLang="ja-JP" sz="3600" b="0" i="1" smtClean="0">
                            <a:latin typeface="Cambria Math" panose="02040503050406030204" pitchFamily="18" charset="0"/>
                          </a:rPr>
                          <m:t>𝑠𝑘𝑖𝑛</m:t>
                        </m:r>
                      </m:sub>
                    </m:sSub>
                    <m:r>
                      <a:rPr lang="en-US" altLang="ja-JP" sz="3600" b="0" i="1" smtClean="0">
                        <a:latin typeface="Cambria Math" panose="02040503050406030204" pitchFamily="18" charset="0"/>
                      </a:rPr>
                      <m:t>+</m:t>
                    </m:r>
                  </m:oMath>
                </a14:m>
                <a:r>
                  <a:rPr lang="en-US" altLang="ja-JP" sz="3600" dirty="0"/>
                  <a:t> </a:t>
                </a:r>
                <a14:m>
                  <m:oMath xmlns:m="http://schemas.openxmlformats.org/officeDocument/2006/math">
                    <m:sSub>
                      <m:sSubPr>
                        <m:ctrlPr>
                          <a:rPr lang="en-US" altLang="ja-JP" sz="3600" i="1">
                            <a:latin typeface="Cambria Math" panose="02040503050406030204" pitchFamily="18" charset="0"/>
                          </a:rPr>
                        </m:ctrlPr>
                      </m:sSubPr>
                      <m:e>
                        <m:r>
                          <a:rPr lang="ja-JP" altLang="en-US" sz="3600" i="1">
                            <a:latin typeface="Cambria Math" panose="02040503050406030204" pitchFamily="18" charset="0"/>
                          </a:rPr>
                          <m:t>𝜌</m:t>
                        </m:r>
                        <m:d>
                          <m:dPr>
                            <m:ctrlPr>
                              <a:rPr lang="en-US" altLang="ja-JP" sz="3600" i="1">
                                <a:latin typeface="Cambria Math" panose="02040503050406030204" pitchFamily="18" charset="0"/>
                              </a:rPr>
                            </m:ctrlPr>
                          </m:dPr>
                          <m:e>
                            <m:r>
                              <a:rPr lang="en-US" altLang="ja-JP" sz="3600" i="1">
                                <a:latin typeface="Cambria Math" panose="02040503050406030204" pitchFamily="18" charset="0"/>
                              </a:rPr>
                              <m:t>𝑥</m:t>
                            </m:r>
                          </m:e>
                        </m:d>
                        <m:r>
                          <m:rPr>
                            <m:sty m:val="p"/>
                          </m:rPr>
                          <a:rPr lang="en-US" altLang="ja-JP" sz="3600" b="0" i="1">
                            <a:latin typeface="Cambria Math" panose="02040503050406030204" pitchFamily="18" charset="0"/>
                          </a:rPr>
                          <m:t>S</m:t>
                        </m:r>
                      </m:e>
                      <m:sub>
                        <m:r>
                          <a:rPr lang="en-US" altLang="ja-JP" sz="3600" b="0" i="1" smtClean="0">
                            <a:latin typeface="Cambria Math" panose="02040503050406030204" pitchFamily="18" charset="0"/>
                          </a:rPr>
                          <m:t>𝑏𝑒𝑎𝑟𝑑</m:t>
                        </m:r>
                      </m:sub>
                    </m:sSub>
                  </m:oMath>
                </a14:m>
                <a:endParaRPr lang="ja-JP" altLang="en-US" sz="3600" dirty="0"/>
              </a:p>
              <a:p>
                <a:endParaRPr lang="ja-JP" altLang="en-US" dirty="0"/>
              </a:p>
            </p:txBody>
          </p:sp>
        </mc:Choice>
        <mc:Fallback xmlns="">
          <p:sp>
            <p:nvSpPr>
              <p:cNvPr id="6" name="コンテンツ プレースホルダー 5">
                <a:extLst>
                  <a:ext uri="{FF2B5EF4-FFF2-40B4-BE49-F238E27FC236}">
                    <a16:creationId xmlns:a16="http://schemas.microsoft.com/office/drawing/2014/main" id="{EFBE3ABC-C439-5BB1-9735-154E893E116B}"/>
                  </a:ext>
                </a:extLst>
              </p:cNvPr>
              <p:cNvSpPr>
                <a:spLocks noGrp="1" noRot="1" noChangeAspect="1" noMove="1" noResize="1" noEditPoints="1" noAdjustHandles="1" noChangeArrowheads="1" noChangeShapeType="1" noTextEdit="1"/>
              </p:cNvSpPr>
              <p:nvPr>
                <p:ph idx="1"/>
              </p:nvPr>
            </p:nvSpPr>
            <p:spPr>
              <a:xfrm>
                <a:off x="838200" y="1862423"/>
                <a:ext cx="10515600" cy="4351338"/>
              </a:xfrm>
              <a:blipFill>
                <a:blip r:embed="rId3"/>
                <a:stretch>
                  <a:fillRect l="-1217" t="-238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7759989-BA29-E2CF-7C54-47276C95502A}"/>
                  </a:ext>
                </a:extLst>
              </p:cNvPr>
              <p:cNvSpPr txBox="1"/>
              <p:nvPr/>
            </p:nvSpPr>
            <p:spPr>
              <a:xfrm>
                <a:off x="838200" y="3957320"/>
                <a:ext cx="4844143" cy="830997"/>
              </a:xfrm>
              <a:prstGeom prst="rect">
                <a:avLst/>
              </a:prstGeom>
              <a:noFill/>
            </p:spPr>
            <p:txBody>
              <a:bodyPr wrap="square" rtlCol="0">
                <a:spAutoFit/>
              </a:bodyPr>
              <a:lstStyle/>
              <a:p>
                <a14:m>
                  <m:oMath xmlns:m="http://schemas.openxmlformats.org/officeDocument/2006/math">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𝑅𝑑</m:t>
                        </m:r>
                      </m:e>
                      <m:sub>
                        <m:r>
                          <a:rPr kumimoji="1" lang="en-US" altLang="ja-JP" sz="2400" b="0" i="1" smtClean="0">
                            <a:latin typeface="Cambria Math" panose="02040503050406030204" pitchFamily="18" charset="0"/>
                          </a:rPr>
                          <m:t>𝑠𝑘𝑖𝑛</m:t>
                        </m:r>
                      </m:sub>
                    </m:sSub>
                    <m:r>
                      <a:rPr kumimoji="1" lang="en-US" altLang="ja-JP" sz="2400" b="0" i="1" smtClean="0">
                        <a:latin typeface="Cambria Math" panose="02040503050406030204" pitchFamily="18" charset="0"/>
                      </a:rPr>
                      <m:t>   = </m:t>
                    </m:r>
                  </m:oMath>
                </a14:m>
                <a:r>
                  <a:rPr kumimoji="1" lang="ja-JP" altLang="en-US" sz="2400" dirty="0"/>
                  <a:t>素肌での</a:t>
                </a:r>
                <a:r>
                  <a:rPr lang="ja-JP" altLang="en-US" sz="2400" dirty="0"/>
                  <a:t>放射輝度</a:t>
                </a:r>
                <a:r>
                  <a:rPr kumimoji="1"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𝑅𝑑</m:t>
                        </m:r>
                      </m:e>
                      <m:sub>
                        <m:r>
                          <a:rPr lang="en-US" altLang="ja-JP" sz="2400" b="0" i="1" smtClean="0">
                            <a:latin typeface="Cambria Math" panose="02040503050406030204" pitchFamily="18" charset="0"/>
                          </a:rPr>
                          <m:t>𝑏𝑒𝑎𝑟𝑑</m:t>
                        </m:r>
                      </m:sub>
                    </m:sSub>
                    <m:r>
                      <a:rPr lang="en-US" altLang="ja-JP" sz="2400" b="0" i="1" smtClean="0">
                        <a:latin typeface="Cambria Math" panose="02040503050406030204" pitchFamily="18" charset="0"/>
                      </a:rPr>
                      <m:t>=</m:t>
                    </m:r>
                    <m:r>
                      <a:rPr lang="ja-JP" altLang="en-US" sz="2400" i="1">
                        <a:latin typeface="Cambria Math" panose="02040503050406030204" pitchFamily="18" charset="0"/>
                      </a:rPr>
                      <m:t>髭込みでの</m:t>
                    </m:r>
                  </m:oMath>
                </a14:m>
                <a:r>
                  <a:rPr kumimoji="1" lang="ja-JP" altLang="en-US" sz="2400" dirty="0"/>
                  <a:t>放射輝度</a:t>
                </a:r>
                <a:endParaRPr kumimoji="1" lang="en-US" altLang="ja-JP" sz="2400" dirty="0"/>
              </a:p>
            </p:txBody>
          </p:sp>
        </mc:Choice>
        <mc:Fallback xmlns="">
          <p:sp>
            <p:nvSpPr>
              <p:cNvPr id="9" name="テキスト ボックス 8">
                <a:extLst>
                  <a:ext uri="{FF2B5EF4-FFF2-40B4-BE49-F238E27FC236}">
                    <a16:creationId xmlns:a16="http://schemas.microsoft.com/office/drawing/2014/main" id="{47759989-BA29-E2CF-7C54-47276C95502A}"/>
                  </a:ext>
                </a:extLst>
              </p:cNvPr>
              <p:cNvSpPr txBox="1">
                <a:spLocks noRot="1" noChangeAspect="1" noMove="1" noResize="1" noEditPoints="1" noAdjustHandles="1" noChangeArrowheads="1" noChangeShapeType="1" noTextEdit="1"/>
              </p:cNvSpPr>
              <p:nvPr/>
            </p:nvSpPr>
            <p:spPr>
              <a:xfrm>
                <a:off x="838200" y="3957320"/>
                <a:ext cx="4844143" cy="830997"/>
              </a:xfrm>
              <a:prstGeom prst="rect">
                <a:avLst/>
              </a:prstGeom>
              <a:blipFill>
                <a:blip r:embed="rId4"/>
                <a:stretch>
                  <a:fillRect l="-378" t="-5882" b="-161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4E2EA6A8-9CC5-6253-7551-811156CBAFFC}"/>
                  </a:ext>
                </a:extLst>
              </p:cNvPr>
              <p:cNvSpPr txBox="1"/>
              <p:nvPr/>
            </p:nvSpPr>
            <p:spPr>
              <a:xfrm>
                <a:off x="6509659" y="3957319"/>
                <a:ext cx="4844143" cy="4749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ja-JP" altLang="en-US" sz="2400" i="1" smtClean="0">
                          <a:latin typeface="Cambria Math" panose="02040503050406030204" pitchFamily="18" charset="0"/>
                        </a:rPr>
                        <m:t>𝜌</m:t>
                      </m:r>
                      <m:r>
                        <a:rPr lang="en-US" altLang="ja-JP" sz="2400" i="1">
                          <a:latin typeface="Cambria Math" panose="02040503050406030204" pitchFamily="18" charset="0"/>
                        </a:rPr>
                        <m:t>(</m:t>
                      </m:r>
                      <m:r>
                        <a:rPr lang="en-US" altLang="ja-JP" sz="2400" i="1">
                          <a:latin typeface="Cambria Math" panose="02040503050406030204" pitchFamily="18" charset="0"/>
                        </a:rPr>
                        <m:t>𝑥</m:t>
                      </m:r>
                      <m:r>
                        <a:rPr lang="en-US" altLang="ja-JP" sz="2400" i="1">
                          <a:latin typeface="Cambria Math" panose="02040503050406030204" pitchFamily="18" charset="0"/>
                        </a:rPr>
                        <m:t>)=</m:t>
                      </m:r>
                      <m:r>
                        <a:rPr lang="ja-JP" altLang="en-US" sz="2400" i="1">
                          <a:latin typeface="Cambria Math" panose="02040503050406030204" pitchFamily="18" charset="0"/>
                        </a:rPr>
                        <m:t>髭密度</m:t>
                      </m:r>
                    </m:oMath>
                  </m:oMathPara>
                </a14:m>
                <a:endParaRPr kumimoji="1" lang="en-US" altLang="ja-JP" sz="2400" dirty="0"/>
              </a:p>
            </p:txBody>
          </p:sp>
        </mc:Choice>
        <mc:Fallback xmlns="">
          <p:sp>
            <p:nvSpPr>
              <p:cNvPr id="2" name="テキスト ボックス 1">
                <a:extLst>
                  <a:ext uri="{FF2B5EF4-FFF2-40B4-BE49-F238E27FC236}">
                    <a16:creationId xmlns:a16="http://schemas.microsoft.com/office/drawing/2014/main" id="{4E2EA6A8-9CC5-6253-7551-811156CBAFFC}"/>
                  </a:ext>
                </a:extLst>
              </p:cNvPr>
              <p:cNvSpPr txBox="1">
                <a:spLocks noRot="1" noChangeAspect="1" noMove="1" noResize="1" noEditPoints="1" noAdjustHandles="1" noChangeArrowheads="1" noChangeShapeType="1" noTextEdit="1"/>
              </p:cNvSpPr>
              <p:nvPr/>
            </p:nvSpPr>
            <p:spPr>
              <a:xfrm>
                <a:off x="6509659" y="3957319"/>
                <a:ext cx="4844143" cy="474938"/>
              </a:xfrm>
              <a:prstGeom prst="rect">
                <a:avLst/>
              </a:prstGeom>
              <a:blipFill>
                <a:blip r:embed="rId5"/>
                <a:stretch>
                  <a:fillRect b="-14103"/>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5320A6A4-99AE-E846-6675-E4CCA7241D11}"/>
              </a:ext>
            </a:extLst>
          </p:cNvPr>
          <p:cNvSpPr>
            <a:spLocks noGrp="1"/>
          </p:cNvSpPr>
          <p:nvPr>
            <p:ph type="sldNum" sz="quarter" idx="12"/>
          </p:nvPr>
        </p:nvSpPr>
        <p:spPr/>
        <p:txBody>
          <a:bodyPr/>
          <a:lstStyle/>
          <a:p>
            <a:fld id="{F9D186E6-336C-46FC-92C1-3353550E4494}" type="slidenum">
              <a:rPr kumimoji="1" lang="ja-JP" altLang="en-US" sz="4000" smtClean="0"/>
              <a:t>10</a:t>
            </a:fld>
            <a:endParaRPr kumimoji="1" lang="ja-JP" altLang="en-US" sz="4000" dirty="0"/>
          </a:p>
        </p:txBody>
      </p:sp>
    </p:spTree>
    <p:extLst>
      <p:ext uri="{BB962C8B-B14F-4D97-AF65-F5344CB8AC3E}">
        <p14:creationId xmlns:p14="http://schemas.microsoft.com/office/powerpoint/2010/main" val="1926304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6B4BA0-1C00-7F10-91E6-D5C930052748}"/>
              </a:ext>
            </a:extLst>
          </p:cNvPr>
          <p:cNvSpPr>
            <a:spLocks noGrp="1"/>
          </p:cNvSpPr>
          <p:nvPr>
            <p:ph type="title"/>
          </p:nvPr>
        </p:nvSpPr>
        <p:spPr/>
        <p:txBody>
          <a:bodyPr/>
          <a:lstStyle/>
          <a:p>
            <a:r>
              <a:rPr kumimoji="1" lang="ja-JP" altLang="en-US" dirty="0"/>
              <a:t>結果比較</a:t>
            </a:r>
          </a:p>
        </p:txBody>
      </p:sp>
      <p:sp>
        <p:nvSpPr>
          <p:cNvPr id="3" name="コンテンツ プレースホルダー 2">
            <a:extLst>
              <a:ext uri="{FF2B5EF4-FFF2-40B4-BE49-F238E27FC236}">
                <a16:creationId xmlns:a16="http://schemas.microsoft.com/office/drawing/2014/main" id="{39F51016-98C0-7C45-EB95-6CAEA14A752D}"/>
              </a:ext>
            </a:extLst>
          </p:cNvPr>
          <p:cNvSpPr>
            <a:spLocks noGrp="1"/>
          </p:cNvSpPr>
          <p:nvPr>
            <p:ph idx="1"/>
          </p:nvPr>
        </p:nvSpPr>
        <p:spPr/>
        <p:txBody>
          <a:bodyPr/>
          <a:lstStyle/>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r>
              <a:rPr lang="ja-JP" altLang="en-US" dirty="0"/>
              <a:t>髭の濃い領域で暗さの増加が確認できる</a:t>
            </a:r>
            <a:endParaRPr lang="en-US" altLang="ja-JP" dirty="0"/>
          </a:p>
        </p:txBody>
      </p:sp>
      <p:sp>
        <p:nvSpPr>
          <p:cNvPr id="8" name="テキスト ボックス 7">
            <a:extLst>
              <a:ext uri="{FF2B5EF4-FFF2-40B4-BE49-F238E27FC236}">
                <a16:creationId xmlns:a16="http://schemas.microsoft.com/office/drawing/2014/main" id="{CCE3865F-8CEA-568A-C150-D9176C02A8A7}"/>
              </a:ext>
            </a:extLst>
          </p:cNvPr>
          <p:cNvSpPr txBox="1"/>
          <p:nvPr/>
        </p:nvSpPr>
        <p:spPr>
          <a:xfrm>
            <a:off x="2247901" y="1860240"/>
            <a:ext cx="2612571" cy="369332"/>
          </a:xfrm>
          <a:prstGeom prst="rect">
            <a:avLst/>
          </a:prstGeom>
          <a:noFill/>
        </p:spPr>
        <p:txBody>
          <a:bodyPr wrap="square" rtlCol="0">
            <a:spAutoFit/>
          </a:bodyPr>
          <a:lstStyle/>
          <a:p>
            <a:r>
              <a:rPr kumimoji="1" lang="ja-JP" altLang="en-US" dirty="0"/>
              <a:t>髭密度マップ適用無し</a:t>
            </a:r>
          </a:p>
        </p:txBody>
      </p:sp>
      <p:sp>
        <p:nvSpPr>
          <p:cNvPr id="9" name="正方形/長方形 8">
            <a:extLst>
              <a:ext uri="{FF2B5EF4-FFF2-40B4-BE49-F238E27FC236}">
                <a16:creationId xmlns:a16="http://schemas.microsoft.com/office/drawing/2014/main" id="{F1DFF7B5-F619-C4ED-6C54-A689196B83C9}"/>
              </a:ext>
            </a:extLst>
          </p:cNvPr>
          <p:cNvSpPr/>
          <p:nvPr/>
        </p:nvSpPr>
        <p:spPr>
          <a:xfrm>
            <a:off x="1748246" y="2270285"/>
            <a:ext cx="3002280" cy="2944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D45C7D7C-BD2F-D812-7F82-C3B7B61641A5}"/>
              </a:ext>
            </a:extLst>
          </p:cNvPr>
          <p:cNvSpPr/>
          <p:nvPr/>
        </p:nvSpPr>
        <p:spPr>
          <a:xfrm>
            <a:off x="7389223" y="2361527"/>
            <a:ext cx="3002280" cy="2944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58C5D65D-49FE-A23E-BA4C-98B09E9E05DB}"/>
              </a:ext>
            </a:extLst>
          </p:cNvPr>
          <p:cNvSpPr txBox="1"/>
          <p:nvPr/>
        </p:nvSpPr>
        <p:spPr>
          <a:xfrm>
            <a:off x="7733212" y="1860240"/>
            <a:ext cx="2612571" cy="369332"/>
          </a:xfrm>
          <a:prstGeom prst="rect">
            <a:avLst/>
          </a:prstGeom>
          <a:noFill/>
        </p:spPr>
        <p:txBody>
          <a:bodyPr wrap="square" rtlCol="0">
            <a:spAutoFit/>
          </a:bodyPr>
          <a:lstStyle/>
          <a:p>
            <a:r>
              <a:rPr kumimoji="1" lang="ja-JP" altLang="en-US" dirty="0"/>
              <a:t>髭密度マップ適用あり</a:t>
            </a:r>
          </a:p>
        </p:txBody>
      </p:sp>
      <p:pic>
        <p:nvPicPr>
          <p:cNvPr id="16" name="図 15" descr="男性の白黒写真&#10;&#10;AI 生成コンテンツは誤りを含む可能性があります。">
            <a:extLst>
              <a:ext uri="{FF2B5EF4-FFF2-40B4-BE49-F238E27FC236}">
                <a16:creationId xmlns:a16="http://schemas.microsoft.com/office/drawing/2014/main" id="{975D876E-5C58-9022-D182-F8C748D875E1}"/>
              </a:ext>
            </a:extLst>
          </p:cNvPr>
          <p:cNvPicPr>
            <a:picLocks noChangeAspect="1"/>
          </p:cNvPicPr>
          <p:nvPr/>
        </p:nvPicPr>
        <p:blipFill>
          <a:blip r:embed="rId3"/>
          <a:srcRect t="8476" r="50000" b="29048"/>
          <a:stretch>
            <a:fillRect/>
          </a:stretch>
        </p:blipFill>
        <p:spPr>
          <a:xfrm>
            <a:off x="7203077" y="2209670"/>
            <a:ext cx="3429000" cy="3213463"/>
          </a:xfrm>
          <a:prstGeom prst="rect">
            <a:avLst/>
          </a:prstGeom>
        </p:spPr>
      </p:pic>
      <p:pic>
        <p:nvPicPr>
          <p:cNvPr id="18" name="図 17" descr="白い背景に刷っている男性の白黒写真&#10;&#10;AI 生成コンテンツは誤りを含む可能性があります。">
            <a:extLst>
              <a:ext uri="{FF2B5EF4-FFF2-40B4-BE49-F238E27FC236}">
                <a16:creationId xmlns:a16="http://schemas.microsoft.com/office/drawing/2014/main" id="{439771CA-1190-A81D-6351-B9E46730B76F}"/>
              </a:ext>
            </a:extLst>
          </p:cNvPr>
          <p:cNvPicPr>
            <a:picLocks noChangeAspect="1"/>
          </p:cNvPicPr>
          <p:nvPr/>
        </p:nvPicPr>
        <p:blipFill>
          <a:blip r:embed="rId4"/>
          <a:srcRect t="9238" r="51461" b="30572"/>
          <a:stretch>
            <a:fillRect/>
          </a:stretch>
        </p:blipFill>
        <p:spPr>
          <a:xfrm>
            <a:off x="1721031" y="2209670"/>
            <a:ext cx="3429000" cy="3095899"/>
          </a:xfrm>
          <a:prstGeom prst="rect">
            <a:avLst/>
          </a:prstGeom>
        </p:spPr>
      </p:pic>
      <p:sp>
        <p:nvSpPr>
          <p:cNvPr id="19" name="楕円 18">
            <a:extLst>
              <a:ext uri="{FF2B5EF4-FFF2-40B4-BE49-F238E27FC236}">
                <a16:creationId xmlns:a16="http://schemas.microsoft.com/office/drawing/2014/main" id="{C0442AC9-46DC-595C-7626-FEDFC3A57B35}"/>
              </a:ext>
            </a:extLst>
          </p:cNvPr>
          <p:cNvSpPr/>
          <p:nvPr/>
        </p:nvSpPr>
        <p:spPr>
          <a:xfrm>
            <a:off x="2774766" y="3391018"/>
            <a:ext cx="1471750" cy="13255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600C8909-2648-400A-7757-C94ADBA1CCFF}"/>
              </a:ext>
            </a:extLst>
          </p:cNvPr>
          <p:cNvSpPr/>
          <p:nvPr/>
        </p:nvSpPr>
        <p:spPr>
          <a:xfrm>
            <a:off x="8334102" y="3490912"/>
            <a:ext cx="1471750" cy="13255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スライド番号プレースホルダー 21">
            <a:extLst>
              <a:ext uri="{FF2B5EF4-FFF2-40B4-BE49-F238E27FC236}">
                <a16:creationId xmlns:a16="http://schemas.microsoft.com/office/drawing/2014/main" id="{DC0DA6DC-A407-58E9-3AB2-0072DA4B51BE}"/>
              </a:ext>
            </a:extLst>
          </p:cNvPr>
          <p:cNvSpPr>
            <a:spLocks noGrp="1"/>
          </p:cNvSpPr>
          <p:nvPr>
            <p:ph type="sldNum" sz="quarter" idx="12"/>
          </p:nvPr>
        </p:nvSpPr>
        <p:spPr/>
        <p:txBody>
          <a:bodyPr/>
          <a:lstStyle/>
          <a:p>
            <a:fld id="{F9D186E6-336C-46FC-92C1-3353550E4494}" type="slidenum">
              <a:rPr kumimoji="1" lang="ja-JP" altLang="en-US" sz="4000" smtClean="0"/>
              <a:t>11</a:t>
            </a:fld>
            <a:endParaRPr kumimoji="1" lang="ja-JP" altLang="en-US" sz="4000" dirty="0"/>
          </a:p>
        </p:txBody>
      </p:sp>
    </p:spTree>
    <p:extLst>
      <p:ext uri="{BB962C8B-B14F-4D97-AF65-F5344CB8AC3E}">
        <p14:creationId xmlns:p14="http://schemas.microsoft.com/office/powerpoint/2010/main" val="3164571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3B0D8-7AC1-0F5B-DCD3-748E6FED36D3}"/>
              </a:ext>
            </a:extLst>
          </p:cNvPr>
          <p:cNvSpPr>
            <a:spLocks noGrp="1"/>
          </p:cNvSpPr>
          <p:nvPr>
            <p:ph type="title"/>
          </p:nvPr>
        </p:nvSpPr>
        <p:spPr/>
        <p:txBody>
          <a:bodyPr/>
          <a:lstStyle/>
          <a:p>
            <a:r>
              <a:rPr kumimoji="1" lang="ja-JP" altLang="en-US" dirty="0"/>
              <a:t>検証方針</a:t>
            </a:r>
          </a:p>
        </p:txBody>
      </p:sp>
      <p:sp>
        <p:nvSpPr>
          <p:cNvPr id="3" name="コンテンツ プレースホルダー 2">
            <a:extLst>
              <a:ext uri="{FF2B5EF4-FFF2-40B4-BE49-F238E27FC236}">
                <a16:creationId xmlns:a16="http://schemas.microsoft.com/office/drawing/2014/main" id="{E158FE7C-40F8-B37F-3B3B-186A442B3853}"/>
              </a:ext>
            </a:extLst>
          </p:cNvPr>
          <p:cNvSpPr>
            <a:spLocks noGrp="1"/>
          </p:cNvSpPr>
          <p:nvPr>
            <p:ph idx="1"/>
          </p:nvPr>
        </p:nvSpPr>
        <p:spPr/>
        <p:txBody>
          <a:bodyPr/>
          <a:lstStyle/>
          <a:p>
            <a:r>
              <a:rPr kumimoji="1" lang="en-US" altLang="ja-JP" dirty="0"/>
              <a:t>Mitsuba</a:t>
            </a:r>
            <a:r>
              <a:rPr kumimoji="1" lang="ja-JP" altLang="en-US" dirty="0"/>
              <a:t>を用いて髭ジオメトリを含むシーンと</a:t>
            </a:r>
            <a:endParaRPr kumimoji="1" lang="en-US" altLang="ja-JP" dirty="0"/>
          </a:p>
          <a:p>
            <a:pPr marL="0" indent="0">
              <a:buNone/>
            </a:pPr>
            <a:r>
              <a:rPr lang="ja-JP" altLang="en-US" dirty="0"/>
              <a:t>含まないシーン</a:t>
            </a:r>
            <a:r>
              <a:rPr kumimoji="1" lang="ja-JP" altLang="en-US" dirty="0"/>
              <a:t>をそれぞれ構築し、</a:t>
            </a:r>
            <a:endParaRPr kumimoji="1" lang="en-US" altLang="ja-JP" dirty="0"/>
          </a:p>
          <a:p>
            <a:pPr marL="0" indent="0">
              <a:buNone/>
            </a:pPr>
            <a:r>
              <a:rPr kumimoji="1" lang="ja-JP" altLang="en-US" dirty="0"/>
              <a:t>放射エネルギー分布を測定する</a:t>
            </a:r>
            <a:endParaRPr kumimoji="1" lang="en-US" altLang="ja-JP" dirty="0"/>
          </a:p>
          <a:p>
            <a:pPr marL="0" indent="0">
              <a:buNone/>
            </a:pPr>
            <a:endParaRPr lang="en-US" altLang="ja-JP" dirty="0"/>
          </a:p>
          <a:p>
            <a:r>
              <a:rPr kumimoji="1" lang="ja-JP" altLang="en-US" dirty="0"/>
              <a:t>それぞれのシーンのエネルギー分布を比較し、</a:t>
            </a:r>
            <a:endParaRPr kumimoji="1" lang="en-US" altLang="ja-JP" dirty="0"/>
          </a:p>
          <a:p>
            <a:pPr marL="0" indent="0">
              <a:buNone/>
            </a:pPr>
            <a:r>
              <a:rPr lang="ja-JP" altLang="en-US" dirty="0"/>
              <a:t>髭が表面化散乱にどのような影響を与えるのかを</a:t>
            </a:r>
            <a:endParaRPr lang="en-US" altLang="ja-JP" dirty="0"/>
          </a:p>
          <a:p>
            <a:pPr marL="0" indent="0">
              <a:buNone/>
            </a:pPr>
            <a:r>
              <a:rPr kumimoji="1" lang="ja-JP" altLang="en-US" dirty="0"/>
              <a:t>考察する。</a:t>
            </a:r>
            <a:endParaRPr kumimoji="1" lang="en-US" altLang="ja-JP" dirty="0"/>
          </a:p>
          <a:p>
            <a:pPr marL="0" indent="0">
              <a:buNone/>
            </a:pPr>
            <a:endParaRPr kumimoji="1" lang="ja-JP" altLang="en-US" dirty="0"/>
          </a:p>
        </p:txBody>
      </p:sp>
      <p:sp>
        <p:nvSpPr>
          <p:cNvPr id="6" name="スライド番号プレースホルダー 5">
            <a:extLst>
              <a:ext uri="{FF2B5EF4-FFF2-40B4-BE49-F238E27FC236}">
                <a16:creationId xmlns:a16="http://schemas.microsoft.com/office/drawing/2014/main" id="{2FF9C910-5496-EB66-9517-94F7BF7502B8}"/>
              </a:ext>
            </a:extLst>
          </p:cNvPr>
          <p:cNvSpPr>
            <a:spLocks noGrp="1"/>
          </p:cNvSpPr>
          <p:nvPr>
            <p:ph type="sldNum" sz="quarter" idx="12"/>
          </p:nvPr>
        </p:nvSpPr>
        <p:spPr/>
        <p:txBody>
          <a:bodyPr/>
          <a:lstStyle/>
          <a:p>
            <a:fld id="{F9D186E6-336C-46FC-92C1-3353550E4494}" type="slidenum">
              <a:rPr kumimoji="1" lang="ja-JP" altLang="en-US" sz="4000" smtClean="0"/>
              <a:t>12</a:t>
            </a:fld>
            <a:endParaRPr kumimoji="1" lang="ja-JP" altLang="en-US" sz="4000" dirty="0"/>
          </a:p>
        </p:txBody>
      </p:sp>
    </p:spTree>
    <p:extLst>
      <p:ext uri="{BB962C8B-B14F-4D97-AF65-F5344CB8AC3E}">
        <p14:creationId xmlns:p14="http://schemas.microsoft.com/office/powerpoint/2010/main" val="2967381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14121-660E-74A6-FF75-F241020E7B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FA6143-54A7-B525-674B-C8C16DC56176}"/>
              </a:ext>
            </a:extLst>
          </p:cNvPr>
          <p:cNvSpPr>
            <a:spLocks noGrp="1"/>
          </p:cNvSpPr>
          <p:nvPr>
            <p:ph type="title"/>
          </p:nvPr>
        </p:nvSpPr>
        <p:spPr/>
        <p:txBody>
          <a:bodyPr/>
          <a:lstStyle/>
          <a:p>
            <a:r>
              <a:rPr kumimoji="1" lang="ja-JP" altLang="en-US" dirty="0"/>
              <a:t>評価方法　（</a:t>
            </a:r>
            <a:r>
              <a:rPr lang="en-US" altLang="ja-JP" dirty="0" err="1"/>
              <a:t>R_d</a:t>
            </a:r>
            <a:r>
              <a:rPr lang="en-US" altLang="ja-JP" dirty="0"/>
              <a:t>(r) </a:t>
            </a:r>
            <a:r>
              <a:rPr lang="ja-JP" altLang="en-US" dirty="0"/>
              <a:t>計測）</a:t>
            </a:r>
            <a:endParaRPr kumimoji="1" lang="ja-JP" altLang="en-US" dirty="0"/>
          </a:p>
        </p:txBody>
      </p:sp>
      <p:sp>
        <p:nvSpPr>
          <p:cNvPr id="3" name="コンテンツ プレースホルダー 2">
            <a:extLst>
              <a:ext uri="{FF2B5EF4-FFF2-40B4-BE49-F238E27FC236}">
                <a16:creationId xmlns:a16="http://schemas.microsoft.com/office/drawing/2014/main" id="{448169F5-6FDD-F109-CF94-34855F85FB8A}"/>
              </a:ext>
            </a:extLst>
          </p:cNvPr>
          <p:cNvSpPr>
            <a:spLocks noGrp="1"/>
          </p:cNvSpPr>
          <p:nvPr>
            <p:ph idx="1"/>
          </p:nvPr>
        </p:nvSpPr>
        <p:spPr/>
        <p:txBody>
          <a:bodyPr/>
          <a:lstStyle/>
          <a:p>
            <a:r>
              <a:rPr lang="ja-JP" altLang="en-US" dirty="0"/>
              <a:t>リング上の観測点で平均を取って </a:t>
            </a:r>
            <a:r>
              <a:rPr lang="en-US" altLang="ja-JP" dirty="0" err="1"/>
              <a:t>R_d</a:t>
            </a:r>
            <a:r>
              <a:rPr lang="en-US" altLang="ja-JP" dirty="0"/>
              <a:t>(r) </a:t>
            </a:r>
            <a:r>
              <a:rPr lang="ja-JP" altLang="en-US" dirty="0"/>
              <a:t>を算出</a:t>
            </a:r>
          </a:p>
          <a:p>
            <a:r>
              <a:rPr lang="ja-JP" altLang="en-US" dirty="0"/>
              <a:t>正規化して減衰特性を比較</a:t>
            </a:r>
          </a:p>
          <a:p>
            <a:pPr marL="0" indent="0">
              <a:buNone/>
            </a:pPr>
            <a:endParaRPr kumimoji="1" lang="en-US" altLang="ja-JP" dirty="0"/>
          </a:p>
        </p:txBody>
      </p:sp>
      <p:pic>
        <p:nvPicPr>
          <p:cNvPr id="6" name="図 5" descr="グラフ&#10;&#10;AI 生成コンテンツは誤りを含む可能性があります。">
            <a:extLst>
              <a:ext uri="{FF2B5EF4-FFF2-40B4-BE49-F238E27FC236}">
                <a16:creationId xmlns:a16="http://schemas.microsoft.com/office/drawing/2014/main" id="{54203BB1-255B-FC96-5442-5B08E906BBF1}"/>
              </a:ext>
            </a:extLst>
          </p:cNvPr>
          <p:cNvPicPr>
            <a:picLocks noChangeAspect="1"/>
          </p:cNvPicPr>
          <p:nvPr/>
        </p:nvPicPr>
        <p:blipFill>
          <a:blip r:embed="rId3"/>
          <a:stretch>
            <a:fillRect/>
          </a:stretch>
        </p:blipFill>
        <p:spPr>
          <a:xfrm>
            <a:off x="6358432" y="3651822"/>
            <a:ext cx="4385768" cy="3206178"/>
          </a:xfrm>
          <a:prstGeom prst="rect">
            <a:avLst/>
          </a:prstGeom>
        </p:spPr>
      </p:pic>
      <p:pic>
        <p:nvPicPr>
          <p:cNvPr id="8" name="図 7" descr="太陽の光&#10;&#10;AI 生成コンテンツは誤りを含む可能性があります。">
            <a:extLst>
              <a:ext uri="{FF2B5EF4-FFF2-40B4-BE49-F238E27FC236}">
                <a16:creationId xmlns:a16="http://schemas.microsoft.com/office/drawing/2014/main" id="{9709A5FF-7B88-CE3E-E753-643DA6DFED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800" y="3651822"/>
            <a:ext cx="3166568" cy="3166568"/>
          </a:xfrm>
          <a:prstGeom prst="rect">
            <a:avLst/>
          </a:prstGeom>
        </p:spPr>
      </p:pic>
      <p:sp>
        <p:nvSpPr>
          <p:cNvPr id="5" name="スライド番号プレースホルダー 4">
            <a:extLst>
              <a:ext uri="{FF2B5EF4-FFF2-40B4-BE49-F238E27FC236}">
                <a16:creationId xmlns:a16="http://schemas.microsoft.com/office/drawing/2014/main" id="{84C16292-ED8C-92CE-F303-1A9268788D72}"/>
              </a:ext>
            </a:extLst>
          </p:cNvPr>
          <p:cNvSpPr>
            <a:spLocks noGrp="1"/>
          </p:cNvSpPr>
          <p:nvPr>
            <p:ph type="sldNum" sz="quarter" idx="12"/>
          </p:nvPr>
        </p:nvSpPr>
        <p:spPr/>
        <p:txBody>
          <a:bodyPr/>
          <a:lstStyle/>
          <a:p>
            <a:fld id="{F9D186E6-336C-46FC-92C1-3353550E4494}" type="slidenum">
              <a:rPr kumimoji="1" lang="ja-JP" altLang="en-US" sz="4000" smtClean="0"/>
              <a:t>13</a:t>
            </a:fld>
            <a:endParaRPr kumimoji="1" lang="ja-JP" altLang="en-US" sz="4000" dirty="0"/>
          </a:p>
        </p:txBody>
      </p:sp>
    </p:spTree>
    <p:extLst>
      <p:ext uri="{BB962C8B-B14F-4D97-AF65-F5344CB8AC3E}">
        <p14:creationId xmlns:p14="http://schemas.microsoft.com/office/powerpoint/2010/main" val="1751077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4B590-550C-5514-88F9-638702A3EC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FEC45A-7771-7069-9074-264549A8D96F}"/>
              </a:ext>
            </a:extLst>
          </p:cNvPr>
          <p:cNvSpPr>
            <a:spLocks noGrp="1"/>
          </p:cNvSpPr>
          <p:nvPr>
            <p:ph type="title"/>
          </p:nvPr>
        </p:nvSpPr>
        <p:spPr>
          <a:xfrm>
            <a:off x="838200" y="365125"/>
            <a:ext cx="10515600" cy="1460500"/>
          </a:xfrm>
        </p:spPr>
        <p:txBody>
          <a:bodyPr/>
          <a:lstStyle/>
          <a:p>
            <a:r>
              <a:rPr lang="ja-JP" altLang="en-US" dirty="0"/>
              <a:t>検証結果と考察：</a:t>
            </a:r>
            <a:br>
              <a:rPr lang="en-US" altLang="ja-JP" dirty="0"/>
            </a:br>
            <a:r>
              <a:rPr lang="ja-JP" altLang="en-US" dirty="0"/>
              <a:t>（表面下散乱分布の比較</a:t>
            </a:r>
            <a:r>
              <a:rPr kumimoji="1" lang="ja-JP" altLang="en-US" dirty="0"/>
              <a:t>）</a:t>
            </a:r>
          </a:p>
        </p:txBody>
      </p:sp>
      <p:sp>
        <p:nvSpPr>
          <p:cNvPr id="3" name="コンテンツ プレースホルダー 2">
            <a:extLst>
              <a:ext uri="{FF2B5EF4-FFF2-40B4-BE49-F238E27FC236}">
                <a16:creationId xmlns:a16="http://schemas.microsoft.com/office/drawing/2014/main" id="{4D7AB59E-A8BF-CC3C-4F43-E50DD78C8C1F}"/>
              </a:ext>
            </a:extLst>
          </p:cNvPr>
          <p:cNvSpPr>
            <a:spLocks noGrp="1"/>
          </p:cNvSpPr>
          <p:nvPr>
            <p:ph idx="1"/>
          </p:nvPr>
        </p:nvSpPr>
        <p:spPr>
          <a:xfrm>
            <a:off x="6818810" y="1825625"/>
            <a:ext cx="5172893" cy="4351338"/>
          </a:xfrm>
        </p:spPr>
        <p:txBody>
          <a:bodyPr>
            <a:normAutofit/>
          </a:bodyPr>
          <a:lstStyle/>
          <a:p>
            <a:pPr marL="0" indent="0">
              <a:buNone/>
            </a:pPr>
            <a:r>
              <a:rPr lang="ja-JP" altLang="en-US" dirty="0"/>
              <a:t>結果</a:t>
            </a:r>
            <a:endParaRPr lang="en-US" altLang="ja-JP" dirty="0"/>
          </a:p>
          <a:p>
            <a:r>
              <a:rPr lang="ja-JP" altLang="en-US" dirty="0"/>
              <a:t>近傍は髭ありがやや低いが、全体形状は概ね同じ</a:t>
            </a:r>
            <a:endParaRPr lang="en-US" altLang="ja-JP" dirty="0"/>
          </a:p>
          <a:p>
            <a:endParaRPr kumimoji="1" lang="en-US" altLang="ja-JP" dirty="0"/>
          </a:p>
          <a:p>
            <a:pPr marL="0" indent="0">
              <a:buNone/>
            </a:pPr>
            <a:r>
              <a:rPr lang="ja-JP" altLang="en-US" dirty="0"/>
              <a:t>考察</a:t>
            </a:r>
            <a:endParaRPr lang="en-US" altLang="ja-JP" dirty="0"/>
          </a:p>
          <a:p>
            <a:r>
              <a:rPr lang="ja-JP" altLang="en-US" dirty="0"/>
              <a:t>近傍差は髭密度の高い領域の遮蔽・吸収がよく作用する</a:t>
            </a:r>
          </a:p>
          <a:p>
            <a:r>
              <a:rPr lang="ja-JP" altLang="en-US" dirty="0"/>
              <a:t>距離が大きいほど</a:t>
            </a:r>
            <a:endParaRPr lang="en-US" altLang="ja-JP" dirty="0"/>
          </a:p>
          <a:p>
            <a:pPr marL="0" indent="0">
              <a:buNone/>
            </a:pPr>
            <a:r>
              <a:rPr lang="ja-JP" altLang="en-US" dirty="0"/>
              <a:t>影響が平均化</a:t>
            </a:r>
          </a:p>
          <a:p>
            <a:pPr marL="0" indent="0">
              <a:buNone/>
            </a:pPr>
            <a:endParaRPr lang="en-US" altLang="ja-JP" dirty="0"/>
          </a:p>
          <a:p>
            <a:pPr marL="0" indent="0">
              <a:buNone/>
            </a:pPr>
            <a:endParaRPr kumimoji="1" lang="ja-JP" altLang="en-US" dirty="0"/>
          </a:p>
        </p:txBody>
      </p:sp>
      <p:pic>
        <p:nvPicPr>
          <p:cNvPr id="5" name="図 4" descr="グラフ, 折れ線グラフ&#10;&#10;AI 生成コンテンツは誤りを含む可能性があります。">
            <a:extLst>
              <a:ext uri="{FF2B5EF4-FFF2-40B4-BE49-F238E27FC236}">
                <a16:creationId xmlns:a16="http://schemas.microsoft.com/office/drawing/2014/main" id="{A396A407-86DE-B5F8-641F-E658308EE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509" y="1943191"/>
            <a:ext cx="5836340" cy="3647712"/>
          </a:xfrm>
          <a:prstGeom prst="rect">
            <a:avLst/>
          </a:prstGeom>
        </p:spPr>
      </p:pic>
      <p:sp>
        <p:nvSpPr>
          <p:cNvPr id="6" name="スライド番号プレースホルダー 5">
            <a:extLst>
              <a:ext uri="{FF2B5EF4-FFF2-40B4-BE49-F238E27FC236}">
                <a16:creationId xmlns:a16="http://schemas.microsoft.com/office/drawing/2014/main" id="{FBC6CD1B-D56B-A1BE-C13C-08DE136F3027}"/>
              </a:ext>
            </a:extLst>
          </p:cNvPr>
          <p:cNvSpPr>
            <a:spLocks noGrp="1"/>
          </p:cNvSpPr>
          <p:nvPr>
            <p:ph type="sldNum" sz="quarter" idx="12"/>
          </p:nvPr>
        </p:nvSpPr>
        <p:spPr/>
        <p:txBody>
          <a:bodyPr/>
          <a:lstStyle/>
          <a:p>
            <a:fld id="{F9D186E6-336C-46FC-92C1-3353550E4494}" type="slidenum">
              <a:rPr kumimoji="1" lang="ja-JP" altLang="en-US" sz="4000" smtClean="0"/>
              <a:t>14</a:t>
            </a:fld>
            <a:endParaRPr kumimoji="1" lang="ja-JP" altLang="en-US" sz="4000" dirty="0"/>
          </a:p>
        </p:txBody>
      </p:sp>
    </p:spTree>
    <p:extLst>
      <p:ext uri="{BB962C8B-B14F-4D97-AF65-F5344CB8AC3E}">
        <p14:creationId xmlns:p14="http://schemas.microsoft.com/office/powerpoint/2010/main" val="577268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4">
            <a:extLst>
              <a:ext uri="{FF2B5EF4-FFF2-40B4-BE49-F238E27FC236}">
                <a16:creationId xmlns:a16="http://schemas.microsoft.com/office/drawing/2014/main" id="{2F614E72-032B-5556-5830-AB2E40F49729}"/>
              </a:ext>
            </a:extLst>
          </p:cNvPr>
          <p:cNvSpPr>
            <a:spLocks noGrp="1"/>
          </p:cNvSpPr>
          <p:nvPr>
            <p:ph idx="1"/>
          </p:nvPr>
        </p:nvSpPr>
        <p:spPr>
          <a:xfrm>
            <a:off x="838200" y="1097279"/>
            <a:ext cx="10515600" cy="5079683"/>
          </a:xfrm>
        </p:spPr>
        <p:txBody>
          <a:bodyPr>
            <a:normAutofit lnSpcReduction="10000"/>
          </a:bodyPr>
          <a:lstStyle/>
          <a:p>
            <a:pPr marL="0" indent="0">
              <a:buNone/>
            </a:pPr>
            <a:r>
              <a:rPr lang="ja-JP" altLang="en-US" sz="4000" dirty="0"/>
              <a:t>まとめ</a:t>
            </a:r>
            <a:endParaRPr lang="en-US" altLang="ja-JP" sz="4000" dirty="0"/>
          </a:p>
          <a:p>
            <a:r>
              <a:rPr lang="ja-JP" altLang="en-US" dirty="0"/>
              <a:t>髭密度マップを用いて、皮膚の不均質性を </a:t>
            </a:r>
            <a:r>
              <a:rPr lang="en-US" altLang="ja-JP" dirty="0"/>
              <a:t>BSSRDF </a:t>
            </a:r>
            <a:r>
              <a:rPr lang="ja-JP" altLang="en-US" dirty="0"/>
              <a:t>の枠組みで表現する手法を提案した</a:t>
            </a:r>
            <a:endParaRPr lang="en-US" altLang="ja-JP" dirty="0"/>
          </a:p>
          <a:p>
            <a:r>
              <a:rPr lang="ja-JP" altLang="en-US" dirty="0"/>
              <a:t>幾何的な髭モデルを用いずに、</a:t>
            </a:r>
            <a:br>
              <a:rPr lang="ja-JP" altLang="en-US" dirty="0"/>
            </a:br>
            <a:r>
              <a:rPr lang="ja-JP" altLang="en-US" dirty="0"/>
              <a:t>髭の影響を考慮した皮膚表現が可能であることを示した</a:t>
            </a:r>
            <a:endParaRPr lang="en-US" altLang="ja-JP" dirty="0"/>
          </a:p>
          <a:p>
            <a:pPr marL="0" indent="0">
              <a:buNone/>
            </a:pPr>
            <a:endParaRPr lang="en-US" altLang="ja-JP" dirty="0"/>
          </a:p>
          <a:p>
            <a:pPr marL="0" indent="0">
              <a:buNone/>
            </a:pPr>
            <a:endParaRPr lang="en-US" altLang="ja-JP" dirty="0"/>
          </a:p>
          <a:p>
            <a:pPr marL="0" indent="0">
              <a:buNone/>
            </a:pPr>
            <a:r>
              <a:rPr lang="ja-JP" altLang="en-US" sz="4000" dirty="0"/>
              <a:t>今後の展望</a:t>
            </a:r>
            <a:endParaRPr lang="en-US" altLang="ja-JP" dirty="0"/>
          </a:p>
          <a:p>
            <a:r>
              <a:rPr lang="ja-JP" altLang="en-US" dirty="0"/>
              <a:t>高次元な要素への対応</a:t>
            </a:r>
            <a:endParaRPr lang="en-US" altLang="ja-JP" dirty="0"/>
          </a:p>
          <a:p>
            <a:r>
              <a:rPr lang="ja-JP" altLang="en-US" dirty="0"/>
              <a:t>他部位、他要素への拡張</a:t>
            </a:r>
            <a:endParaRPr lang="en-US" altLang="ja-JP" dirty="0"/>
          </a:p>
          <a:p>
            <a:pPr marL="0" indent="0">
              <a:buNone/>
            </a:pPr>
            <a:endParaRPr lang="ja-JP" altLang="en-US" dirty="0"/>
          </a:p>
        </p:txBody>
      </p:sp>
      <p:sp>
        <p:nvSpPr>
          <p:cNvPr id="7" name="スライド番号プレースホルダー 6">
            <a:extLst>
              <a:ext uri="{FF2B5EF4-FFF2-40B4-BE49-F238E27FC236}">
                <a16:creationId xmlns:a16="http://schemas.microsoft.com/office/drawing/2014/main" id="{A796EC5F-48FF-974D-E0B9-670C6DA1A8C9}"/>
              </a:ext>
            </a:extLst>
          </p:cNvPr>
          <p:cNvSpPr>
            <a:spLocks noGrp="1"/>
          </p:cNvSpPr>
          <p:nvPr>
            <p:ph type="sldNum" sz="quarter" idx="12"/>
          </p:nvPr>
        </p:nvSpPr>
        <p:spPr/>
        <p:txBody>
          <a:bodyPr/>
          <a:lstStyle/>
          <a:p>
            <a:fld id="{F9D186E6-336C-46FC-92C1-3353550E4494}" type="slidenum">
              <a:rPr kumimoji="1" lang="ja-JP" altLang="en-US" sz="4000" smtClean="0"/>
              <a:t>15</a:t>
            </a:fld>
            <a:endParaRPr kumimoji="1" lang="ja-JP" altLang="en-US" sz="4000" dirty="0"/>
          </a:p>
        </p:txBody>
      </p:sp>
    </p:spTree>
    <p:extLst>
      <p:ext uri="{BB962C8B-B14F-4D97-AF65-F5344CB8AC3E}">
        <p14:creationId xmlns:p14="http://schemas.microsoft.com/office/powerpoint/2010/main" val="157540359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131675</TotalTime>
  <Words>2324</Words>
  <Application>Microsoft Office PowerPoint</Application>
  <PresentationFormat>ワイド画面</PresentationFormat>
  <Paragraphs>229</Paragraphs>
  <Slides>15</Slides>
  <Notes>15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游ゴシック</vt:lpstr>
      <vt:lpstr>游ゴシック Light</vt:lpstr>
      <vt:lpstr>Arial</vt:lpstr>
      <vt:lpstr>Cambria Math</vt:lpstr>
      <vt:lpstr>Office テーマ</vt:lpstr>
      <vt:lpstr>髭密度マップを用いた 皮膚の不均質性の再現</vt:lpstr>
      <vt:lpstr>研究動機</vt:lpstr>
      <vt:lpstr>研究動機</vt:lpstr>
      <vt:lpstr>反射特性</vt:lpstr>
      <vt:lpstr>表面下散乱 （Sub Surface Scattering ,SSS）</vt:lpstr>
      <vt:lpstr>BSSRDF </vt:lpstr>
      <vt:lpstr>関連研究</vt:lpstr>
      <vt:lpstr>提案手法：全体の流れ</vt:lpstr>
      <vt:lpstr>BSSRDF混合</vt:lpstr>
      <vt:lpstr>定式化 </vt:lpstr>
      <vt:lpstr>結果比較</vt:lpstr>
      <vt:lpstr>検証方針</vt:lpstr>
      <vt:lpstr>評価方法　（R_d(r) 計測）</vt:lpstr>
      <vt:lpstr>検証結果と考察： （表面下散乱分布の比較）</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RAIKA YAMAMOTO</dc:creator>
  <cp:lastModifiedBy>RAIKA YAMAMOTO</cp:lastModifiedBy>
  <cp:revision>21</cp:revision>
  <dcterms:created xsi:type="dcterms:W3CDTF">2025-06-20T03:30:57Z</dcterms:created>
  <dcterms:modified xsi:type="dcterms:W3CDTF">2026-02-03T19:13:31Z</dcterms:modified>
</cp:coreProperties>
</file>